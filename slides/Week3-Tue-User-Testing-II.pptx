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notesMaster" Target="notesMasters/notesMaster1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Discovery I heuristic (VAP, Engelmann &amp; Nissenbaum). The upshot is a LIST OF VALUES - including 'collateral' values you didn't set out to touch.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 back to the activity. Language note: no 'verdict' - just 'does it deliver the value, and for whom?'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Courier New"/>
              </a:rPr>
              <a:t>WEEK 3 - TUESDAY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78892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F5F7FA"/>
                </a:solidFill>
                <a:latin typeface="Arial"/>
              </a:rPr>
              <a:t>Values at Play: The Whole Framework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16052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Discovery -&gt; Implementation -&gt; Verification -&gt; then verify your own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TODAY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From "can people use it?" to "what values did we build in - and did they land?"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100" b="0">
                <a:solidFill>
                  <a:srgbClr val="F5F7FA"/>
                </a:solidFill>
                <a:latin typeface="Arial"/>
              </a:rPr>
              <a:t>Monday asked whether people can use your Project 2. Today we go all the way around the Values at Play loop - the method behind everything you have been doing - and then you verify your own value.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800" b="0">
                <a:solidFill>
                  <a:srgbClr val="8A94A6"/>
                </a:solidFill>
                <a:latin typeface="Arial"/>
              </a:rPr>
              <a:t>Three parts, with breaks: Discovery (what values?) -&gt; Implementation (build them in) -&gt; Verification (did they land?). Then the canvas, real projects, and your activity.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FF41"/>
                </a:solidFill>
                <a:latin typeface="Courier New"/>
              </a:rPr>
              <a:t>PART 1 - FOUNDATIONS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743200"/>
            <a:ext cx="105156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F5F7FA"/>
                </a:solidFill>
                <a:latin typeface="Arial"/>
              </a:rPr>
              <a:t>Do artifacts have politics?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29768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0">
                <a:solidFill>
                  <a:srgbClr val="8A94A6"/>
                </a:solidFill>
                <a:latin typeface="Arial"/>
              </a:rPr>
              <a:t>Before you design values IN, see that they are already there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WINNER, 1980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27432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0" b="1">
                <a:solidFill>
                  <a:srgbClr val="00FF41"/>
                </a:solidFill>
                <a:latin typeface="Arial"/>
              </a:rPr>
              <a:t>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743200"/>
            <a:ext cx="100584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Do artifacts</a:t>
            </a:r>
          </a:p>
          <a:p>
            <a:pPr algn="l">
              <a:lnSpc>
                <a:spcPct val="112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have politics?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CASE - ROBERT MOSES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Overpasses that sorted who reached the beach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94560" y="2331720"/>
            <a:ext cx="7772400" cy="3566160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94560" y="3383280"/>
            <a:ext cx="7772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0FF41"/>
                </a:solidFill>
                <a:latin typeface="Courier New"/>
              </a:rPr>
              <a:t>[ Robert Moses / Long Island parkway overpass - add image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4114800"/>
            <a:ext cx="7772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8A94A6"/>
                </a:solidFill>
                <a:latin typeface="Arial"/>
              </a:rPr>
              <a:t>The low overpasses kept buses - and the people who rode them - off the parkway. A design choice, carrying a politics.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VALUES LIVE IN THE THING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A $2.90 rule, cast in steel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100" b="0">
                <a:solidFill>
                  <a:srgbClr val="F5F7FA"/>
                </a:solidFill>
                <a:latin typeface="Arial"/>
              </a:rPr>
              <a:t>A subway turnstile does not argue about fare policy - it enforces it. The value (pay to ride) is built into the hardware.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700" b="0">
                <a:solidFill>
                  <a:srgbClr val="8A94A6"/>
                </a:solidFill>
                <a:latin typeface="Arial"/>
              </a:rPr>
              <a:t>Winner: an artifact can settle a political question, or require a political arrangement just to work at all.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CASE - FACEBOOK ALT-TEXT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"Image may contain: 1 person, sky, crowd"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94560" y="2331720"/>
            <a:ext cx="7772400" cy="3566160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94560" y="3383280"/>
            <a:ext cx="7772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0FF41"/>
                </a:solidFill>
                <a:latin typeface="Courier New"/>
              </a:rPr>
              <a:t>[ Facebook automatic alt-text example - add image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4114800"/>
            <a:ext cx="7772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8A94A6"/>
                </a:solidFill>
                <a:latin typeface="Arial"/>
              </a:rPr>
              <a:t>What should an AI label - gender? race? Facebook set an 80% confidence bar, higher for sensitive tags. Every one of those is a value choice.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THE PRACTICAL TURN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vap_book.png"/>
          <p:cNvPicPr>
            <a:picLocks noChangeAspect="1"/>
          </p:cNvPicPr>
          <p:nvPr/>
        </p:nvPicPr>
        <p:blipFill>
          <a:blip r:embed="rId2"/>
          <a:srcRect t="5896" b="5896"/>
          <a:stretch>
            <a:fillRect/>
          </a:stretch>
        </p:blipFill>
        <p:spPr>
          <a:xfrm>
            <a:off x="7071055" y="0"/>
            <a:ext cx="5120640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188720"/>
            <a:ext cx="601949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The conscientious designer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6019495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900" b="0">
                <a:solidFill>
                  <a:srgbClr val="F5F7FA"/>
                </a:solidFill>
                <a:latin typeface="Arial"/>
              </a:rPr>
              <a:t>Once values are always in the thing, the question flips: not "are there values?" but "which ones - and did I choose them on purpose?"</a:t>
            </a:r>
          </a:p>
          <a:p>
            <a:pPr algn="l">
              <a:lnSpc>
                <a:spcPct val="116000"/>
              </a:lnSpc>
            </a:pPr>
            <a:r>
              <a:rPr sz="19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6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Values at Play is the method for doing that deliberately.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71055" y="6547104"/>
            <a:ext cx="5120640" cy="310896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08215" y="656539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A94A6"/>
                </a:solidFill>
                <a:latin typeface="Courier New"/>
              </a:rPr>
              <a:t>Flanagan &amp; Nissenbaum, Values at Play (MIT Press) - VAP course, Engelmann &amp; Nissenbaum, Cornell Tech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FF41"/>
                </a:solidFill>
                <a:latin typeface="Courier New"/>
              </a:rPr>
              <a:t>THE HEURISTIC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743200"/>
            <a:ext cx="105156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F5F7FA"/>
                </a:solidFill>
                <a:latin typeface="Arial"/>
              </a:rPr>
              <a:t>Discovery -&gt; Implementation -&gt; Verification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29768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0">
                <a:solidFill>
                  <a:srgbClr val="8A94A6"/>
                </a:solidFill>
                <a:latin typeface="Arial"/>
              </a:rPr>
              <a:t>One loop, three moves - and it is cyclical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BREAK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~10 minutes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F5F7FA"/>
                </a:solidFill>
                <a:latin typeface="Arial"/>
              </a:rPr>
              <a:t>Stretch, water. We pick up with Discovery: what values are even in play?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FF41"/>
                </a:solidFill>
                <a:latin typeface="Courier New"/>
              </a:rPr>
              <a:t>PART 2 - DISCOVERY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743200"/>
            <a:ext cx="105156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F5F7FA"/>
                </a:solidFill>
                <a:latin typeface="Arial"/>
              </a:rPr>
              <a:t>What values? And what do they actually mean?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DISCOVERY I - CONSIDER THE 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Where the values hide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FUNCTIONAL DESCRIPTION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What does it do?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The core function already implies values - a secure messenger implies privacy; a feed implies attention.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73498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KEY ACTORS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Who is involved?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73498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Designers, funders, users, bystanders. Whose interests are in the room - and whose are not?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58276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58276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2596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CONTEXT + CONSTRAINTS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2596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Where does it live?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2596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Societal norms, laws, and technical limits (screen size, bandwidth, model context) all carry values.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DISCOVERY II - OPERATIONALIZE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A value is not one thing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>An abstract value has to be defined before you can build it or test it: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Privacy</a:t>
            </a:r>
            <a:r>
              <a:rPr sz="1900" b="0">
                <a:solidFill>
                  <a:srgbClr val="F5F7FA"/>
                </a:solidFill>
                <a:latin typeface="Arial"/>
              </a:rPr>
              <a:t> = control?  secrecy?  contextual integrity?</a:t>
            </a:r>
          </a:p>
          <a:p>
            <a:pPr algn="l">
              <a:lnSpc>
                <a:spcPct val="112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Fairness</a:t>
            </a:r>
            <a:r>
              <a:rPr sz="1900" b="0">
                <a:solidFill>
                  <a:srgbClr val="F5F7FA"/>
                </a:solidFill>
                <a:latin typeface="Arial"/>
              </a:rPr>
              <a:t> = equal shares?  or proportional to merit / need?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700" b="0">
                <a:solidFill>
                  <a:srgbClr val="8A94A6"/>
                </a:solidFill>
                <a:latin typeface="Arial"/>
              </a:rPr>
              <a:t>Your operational definition decides your design AND your test. (That is yesterday's move - and today's.)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CASE - WHAT'S FAIR?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One value, incompatible definitions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THE SETUP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Split a limited loan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Person A repays 100%, Person B repays 20%. Identical otherwise. How do you split the money?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73498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THE OPTIONS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All to A? Or share?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73498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All to A maximizes repayment - and leaves B nothing. Proportional shares the pot but funds a worse bet.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58276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58276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2596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THE POINT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2596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No free lunch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2596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A single algorithm can't satisfy every definition of fairness. Someone chooses - make it conscious.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BREAK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~10 minutes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F5F7FA"/>
                </a:solidFill>
                <a:latin typeface="Arial"/>
              </a:rPr>
              <a:t>Back soon - next we turn values into features, and handle the clashes.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FF41"/>
                </a:solidFill>
                <a:latin typeface="Courier New"/>
              </a:rPr>
              <a:t>PART 3 - 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743200"/>
            <a:ext cx="105156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F5F7FA"/>
                </a:solidFill>
                <a:latin typeface="Arial"/>
              </a:rPr>
              <a:t>Translate values into features - and resolve the clashes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TRANSLATE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iant_joystick.png"/>
          <p:cNvPicPr>
            <a:picLocks noChangeAspect="1"/>
          </p:cNvPicPr>
          <p:nvPr/>
        </p:nvPicPr>
        <p:blipFill>
          <a:blip r:embed="rId2"/>
          <a:srcRect l="29000" r="29000"/>
          <a:stretch>
            <a:fillRect/>
          </a:stretch>
        </p:blipFill>
        <p:spPr>
          <a:xfrm>
            <a:off x="7071055" y="0"/>
            <a:ext cx="5120640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188720"/>
            <a:ext cx="601949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From a value to a spec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6019495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900" b="0">
                <a:solidFill>
                  <a:srgbClr val="F5F7FA"/>
                </a:solidFill>
                <a:latin typeface="Arial"/>
              </a:rPr>
              <a:t>Implementation turns an ethical or political value into concrete requirements, features, and architecture.</a:t>
            </a:r>
          </a:p>
          <a:p>
            <a:pPr algn="l">
              <a:lnSpc>
                <a:spcPct val="116000"/>
              </a:lnSpc>
            </a:pPr>
            <a:r>
              <a:rPr sz="19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6000"/>
              </a:lnSpc>
            </a:pPr>
            <a:r>
              <a:rPr sz="1700" b="0">
                <a:solidFill>
                  <a:srgbClr val="8A94A6"/>
                </a:solidFill>
                <a:latin typeface="Arial"/>
              </a:rPr>
              <a:t>Mary Flanagan's Giant Joystick makes "play" physical - one value, rebuilt into the hardware itself.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71055" y="6547104"/>
            <a:ext cx="5120640" cy="310896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08215" y="656539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A94A6"/>
                </a:solidFill>
                <a:latin typeface="Courier New"/>
              </a:rPr>
              <a:t>Mary Flanagan, 'Giant Joystick' - Values at Play (educational use)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DESIGN CHOICES CARRY VALUES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The same feed, two values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>Design a social-media feed for </a:t>
            </a:r>
            <a:r>
              <a:rPr sz="2000" b="1">
                <a:solidFill>
                  <a:srgbClr val="FF4D4D"/>
                </a:solidFill>
                <a:latin typeface="Arial"/>
              </a:rPr>
              <a:t>engagement</a:t>
            </a:r>
            <a:r>
              <a:rPr sz="2000" b="0">
                <a:solidFill>
                  <a:srgbClr val="F5F7FA"/>
                </a:solidFill>
                <a:latin typeface="Arial"/>
              </a:rPr>
              <a:t>, and you get autoplay, streaks, and notifications - "push people's buttons."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>Design it for </a:t>
            </a:r>
            <a:r>
              <a:rPr sz="2000" b="1">
                <a:solidFill>
                  <a:srgbClr val="00FF41"/>
                </a:solidFill>
                <a:latin typeface="Arial"/>
              </a:rPr>
              <a:t>autonomy</a:t>
            </a:r>
            <a:r>
              <a:rPr sz="2000" b="0">
                <a:solidFill>
                  <a:srgbClr val="F5F7FA"/>
                </a:solidFill>
                <a:latin typeface="Arial"/>
              </a:rPr>
              <a:t>, and you add friction, stopping points, and real user control.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700" b="0">
                <a:solidFill>
                  <a:srgbClr val="8A94A6"/>
                </a:solidFill>
                <a:latin typeface="Arial"/>
              </a:rPr>
              <a:t>Same product. The values show up in the defaults.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WHEN VALUES CLASH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Name the resolution - out loud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DISSOLVE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Redesign around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Find a design where BOTH values hold. (Vacuum: on-device maps, nothing to the cloud.)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73498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COMPROMISE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Each in part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73498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Promote each value in less than full measure. (Vacuum: cloud data, but anonymized + opt-out.)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58276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58276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2596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TRADE-OFF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2596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Sacrifice one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2596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Give one up for another - and say so out loud. (Vacuum: full collection for max automation.)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BREAK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~10 minutes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F5F7FA"/>
                </a:solidFill>
                <a:latin typeface="Arial"/>
              </a:rPr>
              <a:t>Last stretch. Then: did any of it actually work?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FF41"/>
                </a:solidFill>
                <a:latin typeface="Courier New"/>
              </a:rPr>
              <a:t>PART 4 -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743200"/>
            <a:ext cx="105156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F5F7FA"/>
                </a:solidFill>
                <a:latin typeface="Arial"/>
              </a:rPr>
              <a:t>Did the values actually land?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VERIFICATION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Assessing whether the values made it 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100" b="0">
                <a:solidFill>
                  <a:srgbClr val="F5F7FA"/>
                </a:solidFill>
                <a:latin typeface="Arial"/>
              </a:rPr>
              <a:t>"Verification involves assessing whether efforts to integrate values have succeeded." Cyclical - ask at every step.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700" b="0">
                <a:solidFill>
                  <a:srgbClr val="8A94A6"/>
                </a:solidFill>
                <a:latin typeface="Arial"/>
              </a:rPr>
              <a:t>Three ways to ask - and your operationalization decides which one fits.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THE THREE LENSES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Behavior - Understanding - Affect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BEHAVIOR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Do they ACT differently?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Observation, A/B, before/after, task completion.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73498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UNDERSTANDING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Do they GRASP it?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73498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Survey, interview, think-aloud, scenario.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58276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58276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2596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AFFECT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2596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Do they FEEL differently?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2596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Attitude survey, diary, interview, choice under pressure.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053328"/>
            <a:ext cx="10972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A6474"/>
                </a:solidFill>
                <a:latin typeface="Courier New"/>
              </a:rPr>
              <a:t>Verification lenses: Values at Play - VAP course, Engelmann &amp; Nissenbaum (Cornell Tech)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EXAMPLE - BEHAVIOR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mart_meter.jpg"/>
          <p:cNvPicPr>
            <a:picLocks noChangeAspect="1"/>
          </p:cNvPicPr>
          <p:nvPr/>
        </p:nvPicPr>
        <p:blipFill>
          <a:blip r:embed="rId2"/>
          <a:srcRect l="25111" r="25111"/>
          <a:stretch>
            <a:fillRect/>
          </a:stretch>
        </p:blipFill>
        <p:spPr>
          <a:xfrm>
            <a:off x="7071055" y="0"/>
            <a:ext cx="5120640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188720"/>
            <a:ext cx="601949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Does the design change what people DO?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6019495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800" b="0">
                <a:solidFill>
                  <a:srgbClr val="F5F7FA"/>
                </a:solidFill>
                <a:latin typeface="Arial"/>
              </a:rPr>
              <a:t>A smart meter only "works" for sustainability if people actually use less. Behavior is the sharpest test.</a:t>
            </a:r>
          </a:p>
          <a:p>
            <a:pPr algn="l">
              <a:lnSpc>
                <a:spcPct val="116000"/>
              </a:lnSpc>
            </a:pPr>
            <a:r>
              <a:rPr sz="19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6000"/>
              </a:lnSpc>
            </a:pPr>
            <a:r>
              <a:rPr sz="1600" b="0">
                <a:solidFill>
                  <a:srgbClr val="8A94A6"/>
                </a:solidFill>
                <a:latin typeface="Arial"/>
              </a:rPr>
              <a:t>Verify how: prototype - A/B - before/after - task completion.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71055" y="6547104"/>
            <a:ext cx="5120640" cy="310896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08215" y="656539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A94A6"/>
                </a:solidFill>
                <a:latin typeface="Courier New"/>
              </a:rPr>
              <a:t>Behavior verification (Values at Play) - smart-meter image, educational use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PICK THE INSTRUMENT THAT FITS YOUR VALUE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Examples - tie the tool to the value you are analyzing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Beauty / craft / originality -&gt; the Vibed Slop Detector (is it generic AI slop?), or UEQ attractiveness.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Autonomy / competence / wellbeing -&gt; METUX + Self-Determination scales.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Trust / warmth / safety -&gt; a validated scale from the HRI Scale Database.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Overall UX beyond usability -&gt; UEQ. The instrument has to match the value - don't default to UEQ.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FROM OUR RESEARCH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554480"/>
            <a:ext cx="12801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0" b="1">
                <a:solidFill>
                  <a:srgbClr val="00FF41"/>
                </a:solidFill>
                <a:latin typeface="Arial"/>
              </a:rPr>
              <a:t>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194560"/>
            <a:ext cx="978408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Persuasion-focused evaluation nearly DOUBLED how often professional designers rejected dark-pattern designs - and shifted their reasoning from business justifications toward user autonomy and well-being.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4297680"/>
            <a:ext cx="9601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8A94A6"/>
                </a:solidFill>
                <a:latin typeface="Arial"/>
              </a:rPr>
              <a:t>— Sandhaus, Rhomberg &amp; Nissenbaum, CHIWORK 2026 - a study of 141 UX professionals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88720" y="4937760"/>
            <a:ext cx="9784080" cy="914400"/>
          </a:xfrm>
          <a:prstGeom prst="roundRect">
            <a:avLst/>
          </a:prstGeom>
          <a:solidFill>
            <a:srgbClr val="151B26"/>
          </a:solidFill>
          <a:ln w="1270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63040" y="5074920"/>
            <a:ext cx="92354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F5F7FA"/>
                </a:solidFill>
                <a:latin typeface="Arial"/>
              </a:rPr>
              <a:t>Measuring a value doesn't just describe it - it changes what gets built. That is why verification is not optional.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FF41"/>
                </a:solidFill>
                <a:latin typeface="Courier New"/>
              </a:rPr>
              <a:t>PART 5 - IN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743200"/>
            <a:ext cx="105156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F5F7FA"/>
                </a:solidFill>
                <a:latin typeface="Arial"/>
              </a:rPr>
              <a:t>The VAP canvas + real projects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THE FIGJAM CANVAS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One board, the whole loop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94560" y="2331720"/>
            <a:ext cx="7772400" cy="3566160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94560" y="3383280"/>
            <a:ext cx="7772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0FF41"/>
                </a:solidFill>
                <a:latin typeface="Courier New"/>
              </a:rPr>
              <a:t>[ walk the 'Vibing Values' canvas live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4114800"/>
            <a:ext cx="7772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8A94A6"/>
                </a:solidFill>
                <a:latin typeface="Arial"/>
              </a:rPr>
              <a:t>figma.com/board/.../Vibing-Values - each tab is one move (Discovery / Implementation / Verification). We walk them as connected case studies.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PITECH PROJECTS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Fellows who ran the whole framework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94560" y="2331720"/>
            <a:ext cx="7772400" cy="3566160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94560" y="3383280"/>
            <a:ext cx="7772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0FF41"/>
                </a:solidFill>
                <a:latin typeface="Courier New"/>
              </a:rPr>
              <a:t>[ show the PiTech projects + website - add screenshots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4114800"/>
            <a:ext cx="7772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8A94A6"/>
                </a:solidFill>
                <a:latin typeface="Arial"/>
              </a:rPr>
              <a:t>Real value-driven projects, and what worked - and what was hard - when teams used VAP end to end.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NOW YOU (TEAM)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9728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Verify the value your Project 2 claims.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611880"/>
            <a:ext cx="109728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8A94A6"/>
                </a:solidFill>
                <a:latin typeface="Arial"/>
              </a:rPr>
              <a:t>State how you operationalize your value - that definition decides the method.</a:t>
            </a:r>
          </a:p>
          <a:p>
            <a:pPr algn="l">
              <a:lnSpc>
                <a:spcPct val="135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8A94A6"/>
                </a:solidFill>
                <a:latin typeface="Arial"/>
              </a:rPr>
              <a:t>Choose the lens + instrument that definition demands, and run a quick check.</a:t>
            </a:r>
          </a:p>
          <a:p>
            <a:pPr algn="l">
              <a:lnSpc>
                <a:spcPct val="135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8A94A6"/>
                </a:solidFill>
                <a:latin typeface="Arial"/>
              </a:rPr>
              <a:t>Does it deliver the value - for whom, and who's left out? Then: what would you change?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532120"/>
            <a:ext cx="10911535" cy="658368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532120"/>
            <a:ext cx="10362895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Arial"/>
              </a:rPr>
              <a:t>▶  </a:t>
            </a:r>
            <a:r>
              <a:rPr sz="1600" b="1">
                <a:solidFill>
                  <a:srgbClr val="F5F7FA"/>
                </a:solidFill>
                <a:latin typeface="Arial"/>
              </a:rPr>
              <a:t>A value-centered user RESEARCH deck + a reflection on FigJam - each person owns a slide + a lane - due today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02412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5F7FA"/>
                </a:solidFill>
                <a:latin typeface="Arial"/>
              </a:rPr>
              <a:t>Read + cite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74519"/>
            <a:ext cx="10911535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5F7FA"/>
                </a:solidFill>
                <a:latin typeface="Arial"/>
              </a:rPr>
              <a:t>Flanagan &amp; Nissenbaum - Values at Play in Digital Games (MIT Press, 2014)  —  </a:t>
            </a:r>
            <a:r>
              <a:rPr sz="1100" b="0">
                <a:solidFill>
                  <a:srgbClr val="00FF41"/>
                </a:solidFill>
                <a:latin typeface="Courier New"/>
              </a:rPr>
              <a:t>mitpress.mit.edu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76855"/>
            <a:ext cx="10911535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5F7FA"/>
                </a:solidFill>
                <a:latin typeface="Arial"/>
              </a:rPr>
              <a:t>Winner - Do Artifacts Have Politics? (Daedalus, 1980)  —  </a:t>
            </a:r>
            <a:r>
              <a:rPr sz="1100" b="0">
                <a:solidFill>
                  <a:srgbClr val="00FF41"/>
                </a:solidFill>
                <a:latin typeface="Courier New"/>
              </a:rPr>
              <a:t>the Robert Moses + turnstile cases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679191"/>
            <a:ext cx="10911535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5F7FA"/>
                </a:solidFill>
                <a:latin typeface="Arial"/>
              </a:rPr>
              <a:t>van de Poel - Translating Values into Design Requirements (2013)  —  </a:t>
            </a:r>
            <a:r>
              <a:rPr sz="1100" b="0">
                <a:solidFill>
                  <a:srgbClr val="00FF41"/>
                </a:solidFill>
                <a:latin typeface="Courier New"/>
              </a:rPr>
              <a:t>implementation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81527"/>
            <a:ext cx="10911535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5F7FA"/>
                </a:solidFill>
                <a:latin typeface="Arial"/>
              </a:rPr>
              <a:t>VAP course - S. Engelmann &amp; H. Nissenbaum  —  </a:t>
            </a:r>
            <a:r>
              <a:rPr sz="1100" b="0">
                <a:solidFill>
                  <a:srgbClr val="00FF41"/>
                </a:solidFill>
                <a:latin typeface="Courier New"/>
              </a:rPr>
              <a:t>Cornell Tech - INFO 5010 (PiTech Ethics)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83863"/>
            <a:ext cx="10911535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5F7FA"/>
                </a:solidFill>
                <a:latin typeface="Arial"/>
              </a:rPr>
              <a:t>Sandhaus, Rhomberg &amp; Nissenbaum 2026 - User Testing Promotes Ethical Sensibility (CHIWORK)  —  </a:t>
            </a:r>
            <a:r>
              <a:rPr sz="1100" b="0">
                <a:solidFill>
                  <a:srgbClr val="00FF41"/>
                </a:solidFill>
                <a:latin typeface="Courier New"/>
              </a:rPr>
              <a:t>osf.io/nw2tj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886199"/>
            <a:ext cx="10911535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5F7FA"/>
                </a:solidFill>
                <a:latin typeface="Arial"/>
              </a:rPr>
              <a:t>UEQ - ueq-online.org  |  HRI Scale DB  |  METUX / SDT scales  —  </a:t>
            </a:r>
            <a:r>
              <a:rPr sz="1100" b="0">
                <a:solidFill>
                  <a:srgbClr val="00FF41"/>
                </a:solidFill>
                <a:latin typeface="Courier New"/>
              </a:rPr>
              <a:t>verification instruments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288535"/>
            <a:ext cx="10911535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5F7FA"/>
                </a:solidFill>
                <a:latin typeface="Arial"/>
              </a:rPr>
              <a:t>Vibed Slop Detector + impeccable.style slop rules  —  </a:t>
            </a:r>
            <a:r>
              <a:rPr sz="1100" b="0">
                <a:solidFill>
                  <a:srgbClr val="00FF41"/>
                </a:solidFill>
                <a:latin typeface="Courier New"/>
              </a:rPr>
              <a:t>github.com/HaukeCornell/Vibed-Slop-Detector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