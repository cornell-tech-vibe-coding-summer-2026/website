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'Sustainability' teams - check the second word (Trust vs Transparency). Full join table + links on the Final Project page: vibe-coding-ethics.tech.cornell.edu/projects/final.html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Protected quiet reading time - keep it silent and individual. Set the exact chapter before class (VAP book is on the Drive). This grounds the operationalize + verify work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I heuristic (VAP, Engelmann &amp; Nissenbaum). The upshot is a LIST OF VALUES - including 'collateral' values you didn't set out to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back to the activity. Language note: no 'verdict' - just 'does it deliver the value, and for whom?'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Values at Play: The Whole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Discovery -&gt; Implementation -&gt; Verification -&gt; then verify your own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"can people use it?" to "what values did we build in - and did they land?"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Monday asked whether people can use your Project 2. Today we go all the way around the Values at Play loop - the method behind everything you have been doing - and then you verify your own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Three parts, with breaks: Discovery (what values?) -&gt; Implementation (build them in) -&gt; Verification (did they land?). Then the canvas, real projects, and your activity.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FINAL PROJECT STARTS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Commit to your value - then join your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Your team name IS your value. We suggest carrying your Project 2 value through the final - but you can switch, or add a secondary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One person accepts on GitHub Classroom and creates the team with that exact name; everyone else JOINS it - no duplicates.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JOIN YOUR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Six teams - named for the value you carry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01  </a:t>
            </a:r>
            <a:r>
              <a:rPr sz="1600" b="1">
                <a:solidFill>
                  <a:srgbClr val="F5F7FA"/>
                </a:solidFill>
                <a:latin typeface="Arial"/>
              </a:rPr>
              <a:t>Security  </a:t>
            </a:r>
            <a:r>
              <a:rPr sz="1400" b="0">
                <a:solidFill>
                  <a:srgbClr val="8A94A6"/>
                </a:solidFill>
                <a:latin typeface="Arial"/>
              </a:rPr>
              <a:t>Isa . Om . Jason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02  </a:t>
            </a:r>
            <a:r>
              <a:rPr sz="1600" b="1">
                <a:solidFill>
                  <a:srgbClr val="F5F7FA"/>
                </a:solidFill>
                <a:latin typeface="Arial"/>
              </a:rPr>
              <a:t>Safety &amp; Autonomy  </a:t>
            </a:r>
            <a:r>
              <a:rPr sz="1400" b="0">
                <a:solidFill>
                  <a:srgbClr val="8A94A6"/>
                </a:solidFill>
                <a:latin typeface="Arial"/>
              </a:rPr>
              <a:t>John . Ajin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03  </a:t>
            </a:r>
            <a:r>
              <a:rPr sz="1600" b="1">
                <a:solidFill>
                  <a:srgbClr val="F5F7FA"/>
                </a:solidFill>
                <a:latin typeface="Arial"/>
              </a:rPr>
              <a:t>Sustainability &amp; Trust  </a:t>
            </a:r>
            <a:r>
              <a:rPr sz="1400" b="0">
                <a:solidFill>
                  <a:srgbClr val="8A94A6"/>
                </a:solidFill>
                <a:latin typeface="Arial"/>
              </a:rPr>
              <a:t>Emily . Kylie . 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04  </a:t>
            </a:r>
            <a:r>
              <a:rPr sz="1600" b="1">
                <a:solidFill>
                  <a:srgbClr val="F5F7FA"/>
                </a:solidFill>
                <a:latin typeface="Arial"/>
              </a:rPr>
              <a:t>Care &amp; Wellbeing  </a:t>
            </a:r>
            <a:r>
              <a:rPr sz="1400" b="0">
                <a:solidFill>
                  <a:srgbClr val="8A94A6"/>
                </a:solidFill>
                <a:latin typeface="Arial"/>
              </a:rPr>
              <a:t>Elaine . Winnie . Vienna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05  </a:t>
            </a:r>
            <a:r>
              <a:rPr sz="1600" b="1">
                <a:solidFill>
                  <a:srgbClr val="F5F7FA"/>
                </a:solidFill>
                <a:latin typeface="Arial"/>
              </a:rPr>
              <a:t>Productivity  </a:t>
            </a:r>
            <a:r>
              <a:rPr sz="1400" b="0">
                <a:solidFill>
                  <a:srgbClr val="8A94A6"/>
                </a:solidFill>
                <a:latin typeface="Arial"/>
              </a:rPr>
              <a:t>Liam . Justin . Sebastien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06  </a:t>
            </a:r>
            <a:r>
              <a:rPr sz="1600" b="1">
                <a:solidFill>
                  <a:srgbClr val="F5F7FA"/>
                </a:solidFill>
                <a:latin typeface="Arial"/>
              </a:rPr>
              <a:t>Sustainability &amp; Transparency  </a:t>
            </a:r>
            <a:r>
              <a:rPr sz="1400" b="0">
                <a:solidFill>
                  <a:srgbClr val="8A94A6"/>
                </a:solidFill>
                <a:latin typeface="Arial"/>
              </a:rPr>
              <a:t>Evan . Derin . Magnes . Oliver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1 -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Do artifacts 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Before you design values IN, see that they are already there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WINNER, 1980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 artifacts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ROBERT MOSES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Overpasses that sorted who reached the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Robert Moses / Long Island parkway overpass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The low overpasses kept buses - and the people who rode them - off the parkway. A design choice, carrying a politics.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VALUES LIVE IN THE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$2.90 rule, cast in steel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A subway turnstile does not argue about fare policy - it enforces it. The value (pay to ride) is built into the hardware.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Winner: an artifact can settle a political question, or require a political arrangement just to work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FACEBOOK ALT-TEXT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"Image may contain: 1 person, sky, crowd"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Facebook automatic alt-text example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What should an AI label - gender? race? Facebook set an 80% confidence bar, higher for sensitive tags. Every one of those is a value choice.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PRACTICAL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ap_book.png"/>
          <p:cNvPicPr>
            <a:picLocks noChangeAspect="1"/>
          </p:cNvPicPr>
          <p:nvPr/>
        </p:nvPicPr>
        <p:blipFill>
          <a:blip r:embed="rId2"/>
          <a:srcRect t="5896" b="5896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conscientious designer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Once values are always in the thing, the question flips: not "are there values?" but "which ones - and did I choose them on purpose?"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Values at Play is the method for doing that deliberately.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Flanagan &amp; Nissenbaum, Values at Play (MIT Press) - VAP course, Engelmann &amp; Nissenbaum, Cornell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QUIET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20 minutes - read it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Phones away. No talking. This is protected, individual reading time.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WHILE YOU 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Read it - then we build the framework on top of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5F7FA"/>
                </a:solidFill>
                <a:latin typeface="Arial"/>
              </a:rPr>
              <a:t>Read: </a:t>
            </a:r>
            <a:r>
              <a:rPr sz="2200" b="1">
                <a:solidFill>
                  <a:srgbClr val="00FF41"/>
                </a:solidFill>
                <a:latin typeface="Arial"/>
              </a:rPr>
              <a:t>[ Values at Play - the chapter your instructor assigns ]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Mark TWO things in the margin as you go: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1.  where the author turns an abstract value into something concrete (operationalizes it)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2.  one line that fits YOUR Project 2 value - or that you disagree with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5A6474"/>
                </a:solidFill>
                <a:latin typeface="Arial"/>
              </a:rPr>
              <a:t>Then 3 minutes: share one margin note with the person next to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THE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Discovery -&gt; Implementation -&gt;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One loop, three moves - and it is cyclical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Stretch, water. We pick up with Discovery: what values are even in play?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2 -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What values? And what do they actually mean?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 - CONSIDER THE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Where the values hide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FUNCTIONAL 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does it do?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core function already implies values - a secure messenger implies privacy; a feed implies attention.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KEY ACTORS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 is involved?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Designers, funders, users, bystanders. Whose interests are in the room - and whose are not?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CONTEXT + 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Where does it live?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Societal norms, laws, and technical limits (screen size, bandwidth, model context) all carry values.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II - OPERATIONALIZE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value is not one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An abstract value has to be defined before you can build it or test it: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Privacy</a:t>
            </a:r>
            <a:r>
              <a:rPr sz="1900" b="0">
                <a:solidFill>
                  <a:srgbClr val="F5F7FA"/>
                </a:solidFill>
                <a:latin typeface="Arial"/>
              </a:rPr>
              <a:t> = control?  secrecy?  contextual integrity?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Fairness</a:t>
            </a:r>
            <a:r>
              <a:rPr sz="1900" b="0">
                <a:solidFill>
                  <a:srgbClr val="F5F7FA"/>
                </a:solidFill>
                <a:latin typeface="Arial"/>
              </a:rPr>
              <a:t> = equal shares?  or proportional to merit / need?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Your operational definition decides your design AND your test. (That is yesterday's move - and today's.)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WHAT'S FAIR?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One value, incompatible definitions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Split a limited loan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Person A repays 100%, Person B repays 20%. Identical otherwise. How do you split the money?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OPTIONS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All to A? Or share?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All to A maximizes repayment - and leaves B nothing. Proportional shares the pot but funds a worse bet.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No free lunch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single algorithm can't satisfy every definition of fairness. Someone chooses - make it conscious.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Back soon - next we turn values into features, and handle the clashes.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3 -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Translate values into features - and resolve the clashes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TRANSLATE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ant_joystick.png"/>
          <p:cNvPicPr>
            <a:picLocks noChangeAspect="1"/>
          </p:cNvPicPr>
          <p:nvPr/>
        </p:nvPicPr>
        <p:blipFill>
          <a:blip r:embed="rId2"/>
          <a:srcRect l="29000" r="29000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From a value to a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Implementation turns an ethical or political value into concrete requirements, features, and architecture.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Mary Flanagan's Giant Joystick makes "play" physical - one value, rebuilt into the hardware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Mary Flanagan, 'Giant Joystick' - Values at Play (educational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DESIGN CHOICES CARRY VALUES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same feed, two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a social-media feed for </a:t>
            </a:r>
            <a:r>
              <a:rPr sz="2000" b="1">
                <a:solidFill>
                  <a:srgbClr val="FF4D4D"/>
                </a:solidFill>
                <a:latin typeface="Arial"/>
              </a:rPr>
              <a:t>engagement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get autoplay, streaks, and notifications - "push people's buttons."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it for </a:t>
            </a:r>
            <a:r>
              <a:rPr sz="2000" b="1">
                <a:solidFill>
                  <a:srgbClr val="00FF41"/>
                </a:solidFill>
                <a:latin typeface="Arial"/>
              </a:rPr>
              <a:t>autonomy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add friction, stopping points, and real user control.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Same product. The values show up in the defaults.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WHEN VALUES CLASH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Name the resolution - out 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Redesign around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a design where BOTH values hold. (Vacuum: on-device maps, nothing to the cloud.)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Each in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 in less than full measure. (Vacuum: cloud data, but anonymized + opt-out.)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Sacrifice 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Give one up for another - and say so out loud. (Vacuum: full collection for max automation.)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Last stretch. Then: did any of it actually work?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4 -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Did the values actually land?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Assessing whether the values made it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"Verification involves assessing whether efforts to integrate values have succeeded." Cyclical - ask at every step.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Three ways to ask - and your operationalization decides which one fits.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THREE LENSES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Behavior - Understanding - Affect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ACT differently?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Observation, A/B, before/after, task completion.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GRASP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Survey, interview, think-aloud, scenario.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FEEL differently?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Attitude survey, diary, interview, choice under pressure.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Verification lenses: Values at Play - VAP course, Engelmann &amp; Nissenbaum (Cornell Tech)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- BEHAVIOR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mart_meter.jpg"/>
          <p:cNvPicPr>
            <a:picLocks noChangeAspect="1"/>
          </p:cNvPicPr>
          <p:nvPr/>
        </p:nvPicPr>
        <p:blipFill>
          <a:blip r:embed="rId2"/>
          <a:srcRect l="25111" r="2511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Does the design change what people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A smart meter only "works" for sustainability if people actually use less. Behavior is the sharpest test.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Verify how: prototype - A/B - before/after - task completion.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Behavior verification (Values at Play) - smart-meter image, educational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PICK THE INSTRUMENT THAT FITS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Examples - tie the tool to the value you are analyzing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Beauty / craft / originality -&gt; the Vibed Slop Detector (is it generic AI slop?), or UEQ attractiveness.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Autonomy / competence / wellbeing -&gt; METUX + Self-Determination scales.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Trust / warmth / safety -&gt; a validated scale from the HRI Scale Database.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Overall UX beyond usability -&gt; UEQ. The instrument has to match the value - don't default to UEQ.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FROM OUR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280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00FF41"/>
                </a:solidFill>
                <a:latin typeface="Arial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9784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Persuasion-focused evaluation nearly DOUBLED how often professional designers rejected dark-pattern designs - and shifted their reasoning from business justifications toward user autonomy and well-being.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97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— Sandhaus, Rhomberg &amp; Nissenbaum, CHIWORK 2026 - a study of 141 UX professionals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151B26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074920"/>
            <a:ext cx="9235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Measuring a value doesn't just describe it - it changes what gets built. That is why verification is not optional.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5 -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The VAP canvas + real projects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FIGJAM CANVAS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One board, the whole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walk the 'Vibing Values' canvas live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figma.com/board/.../Vibing-Values - each tab is one move (Discovery / Implementation / Verification). We walk them as connected case studies.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PITECH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Fellows who ran the whole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show the PiTech projects + website - add screenshots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Real value-driven projects, and what worked - and what was hard - when teams used VAP end to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NOW YOU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Verify the value your Project 2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State how you operationalize your value - that definition decides the method.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No time to run tests: RESEARCH how each lens could be verified (behavior especially) + what design interventions have worked.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Does it deliver the value - for whom, and who's left out? Then: what would you change?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A value-centered user RESEARCH deck + a reflection on FigJam - each person owns a slide + a lane - due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5F7FA"/>
                </a:solidFill>
                <a:latin typeface="Arial"/>
              </a:rPr>
              <a:t>Read + cite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Flanagan &amp; Nissenbaum - Values at Play in Digital Games (MIT Press, 2014)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mitpress.mit.edu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7685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Winner - Do Artifacts Have Politics? (Daedalus, 1980)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the Robert Moses + turnstile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919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van de Poel - Translating Values into Design Requirements (2013)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8152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VAP course - S. Engelmann &amp; H. Nissenbaum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Cornell Tech - INFO 5010 (PiTech Ethics)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3863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Sandhaus, Rhomberg &amp; Nissenbaum 2026 - User Testing Promotes Ethical Sensibility (CHIWORK)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osf.io/nw2tj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19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UEQ - ueq-online.org  |  HRI Scale DB  |  METUX / SDT scales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verification instruments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8853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Vibed Slop Detector + impeccable.style slop rules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github.com/HaukeCornell/Vibed-Slop-Detector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