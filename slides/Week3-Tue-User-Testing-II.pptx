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'Sustainability' teams - check the second word (Trust vs Transparency). Accept + join: classroom.github.com/a/VTWqWkXg. Final Project page (per-team showcase): cornell-tech-vibe-coding-summer-2026.github.io/cornell-tech-vibe-coding-summer-2026-final-project-template/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Discovery I heuristic (VAP, Engelmann &amp; Nissenbaum). The upshot is a LIST OF VALUES - including 'collateral' values you didn't set out to touch.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 back to the activity. Language note: no 'verdict' - just 'does it deliver the value, and for whom?'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Protected, individual reading of the paper each person found via AI academic search (Claude / ChatGPT / Elicit / Semantic Scholar / Google Scholar Labs). This is the discovery reading the timer is built around - keep it silent.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2860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0FF41"/>
                </a:solidFill>
                <a:latin typeface="Courier New"/>
              </a:rPr>
              <a:t>WEEK 3 - TUESDAY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2788920"/>
            <a:ext cx="105156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600" b="1">
                <a:solidFill>
                  <a:srgbClr val="F5F7FA"/>
                </a:solidFill>
                <a:latin typeface="Arial"/>
              </a:rPr>
              <a:t>Values at Play: The Whole Framework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416052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8A94A6"/>
                </a:solidFill>
                <a:latin typeface="Arial"/>
              </a:rPr>
              <a:t>Discovery -&gt; Implementation -&gt; Verification -&gt; then verify your own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TODAY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5F7FA"/>
                </a:solidFill>
                <a:latin typeface="Arial"/>
              </a:rPr>
              <a:t>From "can people use it?" to "what values did we build in - and did they land?"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100" b="0">
                <a:solidFill>
                  <a:srgbClr val="F5F7FA"/>
                </a:solidFill>
                <a:latin typeface="Arial"/>
              </a:rPr>
              <a:t>Monday asked whether people can use your Project 2. Today we go all the way around the Values at Play loop - the method behind everything you have been doing - and then you verify your own value.</a:t>
            </a:r>
          </a:p>
          <a:p>
            <a:pPr algn="l">
              <a:lnSpc>
                <a:spcPct val="112000"/>
              </a:lnSpc>
            </a:pPr>
            <a:r>
              <a:rPr sz="2000" b="0">
                <a:solidFill>
                  <a:srgbClr val="F5F7FA"/>
                </a:solidFill>
                <a:latin typeface="Arial"/>
              </a:rPr>
              <a:t/>
            </a:r>
          </a:p>
          <a:p>
            <a:pPr algn="l">
              <a:lnSpc>
                <a:spcPct val="112000"/>
              </a:lnSpc>
            </a:pPr>
            <a:r>
              <a:rPr sz="1800" b="0">
                <a:solidFill>
                  <a:srgbClr val="8A94A6"/>
                </a:solidFill>
                <a:latin typeface="Arial"/>
              </a:rPr>
              <a:t>Three parts, with breaks: Discovery (what values?) -&gt; Implementation (build them in) -&gt; Verification (did they land?). Then the canvas, real projects, and your activity.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FINAL PROJECT STARTS TODAY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5F7FA"/>
                </a:solidFill>
                <a:latin typeface="Arial"/>
              </a:rPr>
              <a:t>Commit to your value - then join your team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100" b="0">
                <a:solidFill>
                  <a:srgbClr val="F5F7FA"/>
                </a:solidFill>
                <a:latin typeface="Arial"/>
              </a:rPr>
              <a:t>Your team name IS your value. We suggest carrying your Project 2 value through the final - but you can switch, or add a secondary value.</a:t>
            </a:r>
          </a:p>
          <a:p>
            <a:pPr algn="l">
              <a:lnSpc>
                <a:spcPct val="112000"/>
              </a:lnSpc>
            </a:pPr>
            <a:r>
              <a:rPr sz="2000" b="0">
                <a:solidFill>
                  <a:srgbClr val="F5F7FA"/>
                </a:solidFill>
                <a:latin typeface="Arial"/>
              </a:rPr>
              <a:t/>
            </a:r>
          </a:p>
          <a:p>
            <a:pPr algn="l">
              <a:lnSpc>
                <a:spcPct val="112000"/>
              </a:lnSpc>
            </a:pPr>
            <a:r>
              <a:rPr sz="1900" b="0">
                <a:solidFill>
                  <a:srgbClr val="8A94A6"/>
                </a:solidFill>
                <a:latin typeface="Arial"/>
              </a:rPr>
              <a:t>One person accepts on GitHub Classroom and creates the team with that exact name; everyone else JOINS it - no duplicates.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JOIN YOUR TEAM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5F7FA"/>
                </a:solidFill>
                <a:latin typeface="Arial"/>
              </a:rPr>
              <a:t>Six teams - named for the value you carry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468880"/>
            <a:ext cx="53949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00FF41"/>
                </a:solidFill>
                <a:latin typeface="Courier New"/>
              </a:rPr>
              <a:t>01  </a:t>
            </a:r>
            <a:r>
              <a:rPr sz="1600" b="1">
                <a:solidFill>
                  <a:srgbClr val="F5F7FA"/>
                </a:solidFill>
                <a:latin typeface="Arial"/>
              </a:rPr>
              <a:t>Security  </a:t>
            </a:r>
            <a:r>
              <a:rPr sz="1400" b="0">
                <a:solidFill>
                  <a:srgbClr val="8A94A6"/>
                </a:solidFill>
                <a:latin typeface="Arial"/>
              </a:rPr>
              <a:t>Isa . Om . Jason</a:t>
            </a:r>
          </a:p>
          <a:p>
            <a:pPr algn="l">
              <a:lnSpc>
                <a:spcPct val="135000"/>
              </a:lnSpc>
            </a:pPr>
            <a:r>
              <a:rPr sz="1500" b="1">
                <a:solidFill>
                  <a:srgbClr val="00FF41"/>
                </a:solidFill>
                <a:latin typeface="Courier New"/>
              </a:rPr>
              <a:t>02  </a:t>
            </a:r>
            <a:r>
              <a:rPr sz="1600" b="1">
                <a:solidFill>
                  <a:srgbClr val="F5F7FA"/>
                </a:solidFill>
                <a:latin typeface="Arial"/>
              </a:rPr>
              <a:t>Safety &amp; Autonomy  </a:t>
            </a:r>
            <a:r>
              <a:rPr sz="1400" b="0">
                <a:solidFill>
                  <a:srgbClr val="8A94A6"/>
                </a:solidFill>
                <a:latin typeface="Arial"/>
              </a:rPr>
              <a:t>John . Ajin</a:t>
            </a:r>
          </a:p>
          <a:p>
            <a:pPr algn="l">
              <a:lnSpc>
                <a:spcPct val="135000"/>
              </a:lnSpc>
            </a:pPr>
            <a:r>
              <a:rPr sz="1500" b="1">
                <a:solidFill>
                  <a:srgbClr val="00FF41"/>
                </a:solidFill>
                <a:latin typeface="Courier New"/>
              </a:rPr>
              <a:t>03  </a:t>
            </a:r>
            <a:r>
              <a:rPr sz="1600" b="1">
                <a:solidFill>
                  <a:srgbClr val="F5F7FA"/>
                </a:solidFill>
                <a:latin typeface="Arial"/>
              </a:rPr>
              <a:t>Sustainability &amp; Trust  </a:t>
            </a:r>
            <a:r>
              <a:rPr sz="1400" b="0">
                <a:solidFill>
                  <a:srgbClr val="8A94A6"/>
                </a:solidFill>
                <a:latin typeface="Arial"/>
              </a:rPr>
              <a:t>Emily . Kylie . Aria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2468880"/>
            <a:ext cx="53949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00FF41"/>
                </a:solidFill>
                <a:latin typeface="Courier New"/>
              </a:rPr>
              <a:t>04  </a:t>
            </a:r>
            <a:r>
              <a:rPr sz="1600" b="1">
                <a:solidFill>
                  <a:srgbClr val="F5F7FA"/>
                </a:solidFill>
                <a:latin typeface="Arial"/>
              </a:rPr>
              <a:t>Care &amp; Wellbeing  </a:t>
            </a:r>
            <a:r>
              <a:rPr sz="1400" b="0">
                <a:solidFill>
                  <a:srgbClr val="8A94A6"/>
                </a:solidFill>
                <a:latin typeface="Arial"/>
              </a:rPr>
              <a:t>Elaine . Winnie . Vienna</a:t>
            </a:r>
          </a:p>
          <a:p>
            <a:pPr algn="l">
              <a:lnSpc>
                <a:spcPct val="135000"/>
              </a:lnSpc>
            </a:pPr>
            <a:r>
              <a:rPr sz="1500" b="1">
                <a:solidFill>
                  <a:srgbClr val="00FF41"/>
                </a:solidFill>
                <a:latin typeface="Courier New"/>
              </a:rPr>
              <a:t>05  </a:t>
            </a:r>
            <a:r>
              <a:rPr sz="1600" b="1">
                <a:solidFill>
                  <a:srgbClr val="F5F7FA"/>
                </a:solidFill>
                <a:latin typeface="Arial"/>
              </a:rPr>
              <a:t>Productivity  </a:t>
            </a:r>
            <a:r>
              <a:rPr sz="1400" b="0">
                <a:solidFill>
                  <a:srgbClr val="8A94A6"/>
                </a:solidFill>
                <a:latin typeface="Arial"/>
              </a:rPr>
              <a:t>Liam . Justin . Sebastien</a:t>
            </a:r>
          </a:p>
          <a:p>
            <a:pPr algn="l">
              <a:lnSpc>
                <a:spcPct val="135000"/>
              </a:lnSpc>
            </a:pPr>
            <a:r>
              <a:rPr sz="1500" b="1">
                <a:solidFill>
                  <a:srgbClr val="00FF41"/>
                </a:solidFill>
                <a:latin typeface="Courier New"/>
              </a:rPr>
              <a:t>06  </a:t>
            </a:r>
            <a:r>
              <a:rPr sz="1600" b="1">
                <a:solidFill>
                  <a:srgbClr val="F5F7FA"/>
                </a:solidFill>
                <a:latin typeface="Arial"/>
              </a:rPr>
              <a:t>Sustainability &amp; Transparency  </a:t>
            </a:r>
            <a:r>
              <a:rPr sz="1400" b="0">
                <a:solidFill>
                  <a:srgbClr val="8A94A6"/>
                </a:solidFill>
                <a:latin typeface="Arial"/>
              </a:rPr>
              <a:t>Evan . Derin . Magnes . Oliver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19456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00FF41"/>
                </a:solidFill>
                <a:latin typeface="Courier New"/>
              </a:rPr>
              <a:t>PART 1 - FOUNDATIONS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2743200"/>
            <a:ext cx="1051560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800" b="1">
                <a:solidFill>
                  <a:srgbClr val="F5F7FA"/>
                </a:solidFill>
                <a:latin typeface="Arial"/>
              </a:rPr>
              <a:t>Do artifacts have politics?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4297680"/>
            <a:ext cx="100584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0">
                <a:solidFill>
                  <a:srgbClr val="8A94A6"/>
                </a:solidFill>
                <a:latin typeface="Arial"/>
              </a:rPr>
              <a:t>Before you design values IN, see that they are already there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WINNER, 1980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548640"/>
            <a:ext cx="27432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0" b="1">
                <a:solidFill>
                  <a:srgbClr val="00FF41"/>
                </a:solidFill>
                <a:latin typeface="Arial"/>
              </a:rPr>
              <a:t>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2743200"/>
            <a:ext cx="10058400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000" b="1">
                <a:solidFill>
                  <a:srgbClr val="F5F7FA"/>
                </a:solidFill>
                <a:latin typeface="Arial"/>
              </a:rPr>
              <a:t>Do artifacts</a:t>
            </a:r>
          </a:p>
          <a:p>
            <a:pPr algn="l">
              <a:lnSpc>
                <a:spcPct val="112000"/>
              </a:lnSpc>
            </a:pPr>
            <a:r>
              <a:rPr sz="3000" b="1">
                <a:solidFill>
                  <a:srgbClr val="F5F7FA"/>
                </a:solidFill>
                <a:latin typeface="Arial"/>
              </a:rPr>
              <a:t>have politics?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CASE - ROBERT MOSES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5F7FA"/>
                </a:solidFill>
                <a:latin typeface="Arial"/>
              </a:rPr>
              <a:t>Overpasses that sorted who reached the beach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194560" y="2331720"/>
            <a:ext cx="7772400" cy="3566160"/>
          </a:xfrm>
          <a:prstGeom prst="roundRect">
            <a:avLst/>
          </a:prstGeom>
          <a:solidFill>
            <a:srgbClr val="151B26"/>
          </a:solidFill>
          <a:ln w="19050">
            <a:solidFill>
              <a:srgbClr val="00FF4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194560" y="3383280"/>
            <a:ext cx="7772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00FF41"/>
                </a:solidFill>
                <a:latin typeface="Courier New"/>
              </a:rPr>
              <a:t>[ Robert Moses / Long Island parkway overpass - add image 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94560" y="4114800"/>
            <a:ext cx="7772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8A94A6"/>
                </a:solidFill>
                <a:latin typeface="Arial"/>
              </a:rPr>
              <a:t>The low overpasses kept buses - and the people who rode them - off the parkway. A design choice, carrying a politics.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VALUES LIVE IN THE THING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5F7FA"/>
                </a:solidFill>
                <a:latin typeface="Arial"/>
              </a:rPr>
              <a:t>A $2.90 rule, cast in steel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100" b="0">
                <a:solidFill>
                  <a:srgbClr val="F5F7FA"/>
                </a:solidFill>
                <a:latin typeface="Arial"/>
              </a:rPr>
              <a:t>A subway turnstile does not argue about fare policy - it enforces it. The value (pay to ride) is built into the hardware.</a:t>
            </a:r>
          </a:p>
          <a:p>
            <a:pPr algn="l">
              <a:lnSpc>
                <a:spcPct val="112000"/>
              </a:lnSpc>
            </a:pPr>
            <a:r>
              <a:rPr sz="2000" b="0">
                <a:solidFill>
                  <a:srgbClr val="F5F7FA"/>
                </a:solidFill>
                <a:latin typeface="Arial"/>
              </a:rPr>
              <a:t/>
            </a:r>
          </a:p>
          <a:p>
            <a:pPr algn="l">
              <a:lnSpc>
                <a:spcPct val="112000"/>
              </a:lnSpc>
            </a:pPr>
            <a:r>
              <a:rPr sz="1700" b="0">
                <a:solidFill>
                  <a:srgbClr val="8A94A6"/>
                </a:solidFill>
                <a:latin typeface="Arial"/>
              </a:rPr>
              <a:t>Winner: an artifact can settle a political question, or require a political arrangement just to work at all.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CASE - FACEBOOK ALT-TEXT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5F7FA"/>
                </a:solidFill>
                <a:latin typeface="Arial"/>
              </a:rPr>
              <a:t>"Image may contain: 1 person, sky, crowd"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194560" y="2331720"/>
            <a:ext cx="7772400" cy="3566160"/>
          </a:xfrm>
          <a:prstGeom prst="roundRect">
            <a:avLst/>
          </a:prstGeom>
          <a:solidFill>
            <a:srgbClr val="151B26"/>
          </a:solidFill>
          <a:ln w="19050">
            <a:solidFill>
              <a:srgbClr val="00FF4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194560" y="3383280"/>
            <a:ext cx="7772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00FF41"/>
                </a:solidFill>
                <a:latin typeface="Courier New"/>
              </a:rPr>
              <a:t>[ Facebook automatic alt-text example - add image 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94560" y="4114800"/>
            <a:ext cx="7772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8A94A6"/>
                </a:solidFill>
                <a:latin typeface="Arial"/>
              </a:rPr>
              <a:t>What should an AI label - gender? race? Facebook set an 80% confidence bar, higher for sensitive tags. Every one of those is a value choice.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THE PRACTICAL TURN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vap_book.png"/>
          <p:cNvPicPr>
            <a:picLocks noChangeAspect="1"/>
          </p:cNvPicPr>
          <p:nvPr/>
        </p:nvPicPr>
        <p:blipFill>
          <a:blip r:embed="rId2"/>
          <a:srcRect t="5896" b="5896"/>
          <a:stretch>
            <a:fillRect/>
          </a:stretch>
        </p:blipFill>
        <p:spPr>
          <a:xfrm>
            <a:off x="7071055" y="0"/>
            <a:ext cx="5120640" cy="6858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188720"/>
            <a:ext cx="6019495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5F7FA"/>
                </a:solidFill>
                <a:latin typeface="Arial"/>
              </a:rPr>
              <a:t>The conscientious designer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560320"/>
            <a:ext cx="6019495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900" b="0">
                <a:solidFill>
                  <a:srgbClr val="F5F7FA"/>
                </a:solidFill>
                <a:latin typeface="Arial"/>
              </a:rPr>
              <a:t>Once values are always in the thing, the question flips: not "are there values?" but "which ones - and did I choose them on purpose?"</a:t>
            </a:r>
          </a:p>
          <a:p>
            <a:pPr algn="l">
              <a:lnSpc>
                <a:spcPct val="116000"/>
              </a:lnSpc>
            </a:pPr>
            <a:r>
              <a:rPr sz="1900" b="0">
                <a:solidFill>
                  <a:srgbClr val="F5F7FA"/>
                </a:solidFill>
                <a:latin typeface="Arial"/>
              </a:rPr>
              <a:t/>
            </a:r>
          </a:p>
          <a:p>
            <a:pPr algn="l">
              <a:lnSpc>
                <a:spcPct val="116000"/>
              </a:lnSpc>
            </a:pPr>
            <a:r>
              <a:rPr sz="1800" b="1">
                <a:solidFill>
                  <a:srgbClr val="00FF41"/>
                </a:solidFill>
                <a:latin typeface="Arial"/>
              </a:rPr>
              <a:t>Values at Play is the method for doing that deliberately.</a:t>
            </a:r>
          </a:p>
        </p:txBody>
      </p:sp>
      <p:sp>
        <p:nvSpPr>
          <p:cNvPr id="7" name="Rectangle 6"/>
          <p:cNvSpPr/>
          <p:nvPr/>
        </p:nvSpPr>
        <p:spPr>
          <a:xfrm>
            <a:off x="7071055" y="6547104"/>
            <a:ext cx="5120640" cy="310896"/>
          </a:xfrm>
          <a:prstGeom prst="rect">
            <a:avLst/>
          </a:prstGeom>
          <a:solidFill>
            <a:srgbClr val="0B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208215" y="6565392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8A94A6"/>
                </a:solidFill>
                <a:latin typeface="Courier New"/>
              </a:rPr>
              <a:t>Flanagan &amp; Nissenbaum, Values at Play (MIT Press) - VAP course, Engelmann &amp; Nissenbaum, Cornell Tech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19456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00FF41"/>
                </a:solidFill>
                <a:latin typeface="Courier New"/>
              </a:rPr>
              <a:t>THE HEURISTIC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2743200"/>
            <a:ext cx="1051560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800" b="1">
                <a:solidFill>
                  <a:srgbClr val="F5F7FA"/>
                </a:solidFill>
                <a:latin typeface="Arial"/>
              </a:rPr>
              <a:t>Discovery -&gt; Implementation -&gt; Verification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4297680"/>
            <a:ext cx="100584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0">
                <a:solidFill>
                  <a:srgbClr val="8A94A6"/>
                </a:solidFill>
                <a:latin typeface="Arial"/>
              </a:rPr>
              <a:t>One loop, three moves - and it is cyclical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BREAK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5F7FA"/>
                </a:solidFill>
                <a:latin typeface="Arial"/>
              </a:rPr>
              <a:t>~10 minutes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0">
                <a:solidFill>
                  <a:srgbClr val="F5F7FA"/>
                </a:solidFill>
                <a:latin typeface="Arial"/>
              </a:rPr>
              <a:t>Stretch, water. We pick up with Discovery: what values are even in play?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19456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00FF41"/>
                </a:solidFill>
                <a:latin typeface="Courier New"/>
              </a:rPr>
              <a:t>PART 2 - DISCOVERY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2743200"/>
            <a:ext cx="1051560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800" b="1">
                <a:solidFill>
                  <a:srgbClr val="F5F7FA"/>
                </a:solidFill>
                <a:latin typeface="Arial"/>
              </a:rPr>
              <a:t>What values? And what do they actually mean?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DISCOVERY I - CONSIDER THE SOURCES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5F7FA"/>
                </a:solidFill>
                <a:latin typeface="Arial"/>
              </a:rPr>
              <a:t>Where the values hide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468880"/>
            <a:ext cx="3393338" cy="3383280"/>
          </a:xfrm>
          <a:prstGeom prst="roundRect">
            <a:avLst/>
          </a:prstGeom>
          <a:solidFill>
            <a:srgbClr val="15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2468880"/>
            <a:ext cx="3393338" cy="82296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788920"/>
            <a:ext cx="284469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FF41"/>
                </a:solidFill>
                <a:latin typeface="Courier New"/>
              </a:rPr>
              <a:t>FUNCTIONAL DESCRIPTION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246120"/>
            <a:ext cx="2844698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5F7FA"/>
                </a:solidFill>
                <a:latin typeface="Arial"/>
              </a:rPr>
              <a:t>What does it do?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114800"/>
            <a:ext cx="2844698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8A94A6"/>
                </a:solidFill>
                <a:latin typeface="Arial"/>
              </a:rPr>
              <a:t>The core function already implies values - a secure messenger implies privacy; a feed implies attention.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99178" y="2468880"/>
            <a:ext cx="3393338" cy="3383280"/>
          </a:xfrm>
          <a:prstGeom prst="roundRect">
            <a:avLst/>
          </a:prstGeom>
          <a:solidFill>
            <a:srgbClr val="15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99178" y="2468880"/>
            <a:ext cx="3393338" cy="82296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73498" y="2788920"/>
            <a:ext cx="284469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FF41"/>
                </a:solidFill>
                <a:latin typeface="Courier New"/>
              </a:rPr>
              <a:t>KEY ACTORS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73498" y="3246120"/>
            <a:ext cx="2844698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5F7FA"/>
                </a:solidFill>
                <a:latin typeface="Arial"/>
              </a:rPr>
              <a:t>Who is involved?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73498" y="4114800"/>
            <a:ext cx="2844698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8A94A6"/>
                </a:solidFill>
                <a:latin typeface="Arial"/>
              </a:rPr>
              <a:t>Designers, funders, users, bystanders. Whose interests are in the room - and whose are not?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58276" y="2468880"/>
            <a:ext cx="3393338" cy="3383280"/>
          </a:xfrm>
          <a:prstGeom prst="roundRect">
            <a:avLst/>
          </a:prstGeom>
          <a:solidFill>
            <a:srgbClr val="15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58276" y="2468880"/>
            <a:ext cx="3393338" cy="82296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32596" y="2788920"/>
            <a:ext cx="284469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FF41"/>
                </a:solidFill>
                <a:latin typeface="Courier New"/>
              </a:rPr>
              <a:t>CONTEXT + CONSTRAINTS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32596" y="3246120"/>
            <a:ext cx="2844698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5F7FA"/>
                </a:solidFill>
                <a:latin typeface="Arial"/>
              </a:rPr>
              <a:t>Where does it live?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32596" y="4114800"/>
            <a:ext cx="2844698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8A94A6"/>
                </a:solidFill>
                <a:latin typeface="Arial"/>
              </a:rPr>
              <a:t>Societal norms, laws, and technical limits (screen size, bandwidth, model context) all carry values.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DISCOVERY II - OPERATIONALIZE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5F7FA"/>
                </a:solidFill>
                <a:latin typeface="Arial"/>
              </a:rPr>
              <a:t>A value is not one thing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0">
                <a:solidFill>
                  <a:srgbClr val="F5F7FA"/>
                </a:solidFill>
                <a:latin typeface="Arial"/>
              </a:rPr>
              <a:t>An abstract value has to be defined before you can build it or test it:</a:t>
            </a:r>
          </a:p>
          <a:p>
            <a:pPr algn="l">
              <a:lnSpc>
                <a:spcPct val="112000"/>
              </a:lnSpc>
            </a:pPr>
            <a:r>
              <a:rPr sz="2000" b="0">
                <a:solidFill>
                  <a:srgbClr val="F5F7FA"/>
                </a:solidFill>
                <a:latin typeface="Arial"/>
              </a:rPr>
              <a:t/>
            </a:r>
          </a:p>
          <a:p>
            <a:pPr algn="l">
              <a:lnSpc>
                <a:spcPct val="112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Privacy</a:t>
            </a:r>
            <a:r>
              <a:rPr sz="1900" b="0">
                <a:solidFill>
                  <a:srgbClr val="F5F7FA"/>
                </a:solidFill>
                <a:latin typeface="Arial"/>
              </a:rPr>
              <a:t> = control?  secrecy?  contextual integrity?</a:t>
            </a:r>
          </a:p>
          <a:p>
            <a:pPr algn="l">
              <a:lnSpc>
                <a:spcPct val="112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Fairness</a:t>
            </a:r>
            <a:r>
              <a:rPr sz="1900" b="0">
                <a:solidFill>
                  <a:srgbClr val="F5F7FA"/>
                </a:solidFill>
                <a:latin typeface="Arial"/>
              </a:rPr>
              <a:t> = equal shares?  or proportional to merit / need?</a:t>
            </a:r>
          </a:p>
          <a:p>
            <a:pPr algn="l">
              <a:lnSpc>
                <a:spcPct val="112000"/>
              </a:lnSpc>
            </a:pPr>
            <a:r>
              <a:rPr sz="2000" b="0">
                <a:solidFill>
                  <a:srgbClr val="F5F7FA"/>
                </a:solidFill>
                <a:latin typeface="Arial"/>
              </a:rPr>
              <a:t/>
            </a:r>
          </a:p>
          <a:p>
            <a:pPr algn="l">
              <a:lnSpc>
                <a:spcPct val="112000"/>
              </a:lnSpc>
            </a:pPr>
            <a:r>
              <a:rPr sz="1700" b="0">
                <a:solidFill>
                  <a:srgbClr val="8A94A6"/>
                </a:solidFill>
                <a:latin typeface="Arial"/>
              </a:rPr>
              <a:t>Your operational definition decides your design AND your test. (That is yesterday's move - and today's.)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CASE - WHAT'S FAIR?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5F7FA"/>
                </a:solidFill>
                <a:latin typeface="Arial"/>
              </a:rPr>
              <a:t>One value, incompatible definitions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468880"/>
            <a:ext cx="3393338" cy="3383280"/>
          </a:xfrm>
          <a:prstGeom prst="roundRect">
            <a:avLst/>
          </a:prstGeom>
          <a:solidFill>
            <a:srgbClr val="15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2468880"/>
            <a:ext cx="3393338" cy="82296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788920"/>
            <a:ext cx="284469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FF41"/>
                </a:solidFill>
                <a:latin typeface="Courier New"/>
              </a:rPr>
              <a:t>THE SETUP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246120"/>
            <a:ext cx="2844698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5F7FA"/>
                </a:solidFill>
                <a:latin typeface="Arial"/>
              </a:rPr>
              <a:t>Split a limited loan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114800"/>
            <a:ext cx="2844698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8A94A6"/>
                </a:solidFill>
                <a:latin typeface="Arial"/>
              </a:rPr>
              <a:t>Person A repays 100%, Person B repays 20%. Identical otherwise. How do you split the money?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99178" y="2468880"/>
            <a:ext cx="3393338" cy="3383280"/>
          </a:xfrm>
          <a:prstGeom prst="roundRect">
            <a:avLst/>
          </a:prstGeom>
          <a:solidFill>
            <a:srgbClr val="15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99178" y="2468880"/>
            <a:ext cx="3393338" cy="82296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73498" y="2788920"/>
            <a:ext cx="284469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FF41"/>
                </a:solidFill>
                <a:latin typeface="Courier New"/>
              </a:rPr>
              <a:t>THE OPTIONS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73498" y="3246120"/>
            <a:ext cx="2844698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5F7FA"/>
                </a:solidFill>
                <a:latin typeface="Arial"/>
              </a:rPr>
              <a:t>All to A? Or share?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73498" y="4114800"/>
            <a:ext cx="2844698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8A94A6"/>
                </a:solidFill>
                <a:latin typeface="Arial"/>
              </a:rPr>
              <a:t>All to A maximizes repayment - and leaves B nothing. Proportional shares the pot but funds a worse bet.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58276" y="2468880"/>
            <a:ext cx="3393338" cy="3383280"/>
          </a:xfrm>
          <a:prstGeom prst="roundRect">
            <a:avLst/>
          </a:prstGeom>
          <a:solidFill>
            <a:srgbClr val="15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58276" y="2468880"/>
            <a:ext cx="3393338" cy="82296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32596" y="2788920"/>
            <a:ext cx="284469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FF41"/>
                </a:solidFill>
                <a:latin typeface="Courier New"/>
              </a:rPr>
              <a:t>THE POINT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32596" y="3246120"/>
            <a:ext cx="2844698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5F7FA"/>
                </a:solidFill>
                <a:latin typeface="Arial"/>
              </a:rPr>
              <a:t>No free lunch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32596" y="4114800"/>
            <a:ext cx="2844698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8A94A6"/>
                </a:solidFill>
                <a:latin typeface="Arial"/>
              </a:rPr>
              <a:t>A single algorithm can't satisfy every definition of fairness. Someone chooses - make it conscious.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BREAK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5F7FA"/>
                </a:solidFill>
                <a:latin typeface="Arial"/>
              </a:rPr>
              <a:t>~10 minutes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0">
                <a:solidFill>
                  <a:srgbClr val="F5F7FA"/>
                </a:solidFill>
                <a:latin typeface="Arial"/>
              </a:rPr>
              <a:t>Back soon - next we turn values into features, and handle the clashes.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19456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00FF41"/>
                </a:solidFill>
                <a:latin typeface="Courier New"/>
              </a:rPr>
              <a:t>PART 3 - IMPLEMENTATION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2743200"/>
            <a:ext cx="1051560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800" b="1">
                <a:solidFill>
                  <a:srgbClr val="F5F7FA"/>
                </a:solidFill>
                <a:latin typeface="Arial"/>
              </a:rPr>
              <a:t>Translate values into features - and resolve the clashes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TRANSLATE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giant_joystick.png"/>
          <p:cNvPicPr>
            <a:picLocks noChangeAspect="1"/>
          </p:cNvPicPr>
          <p:nvPr/>
        </p:nvPicPr>
        <p:blipFill>
          <a:blip r:embed="rId2"/>
          <a:srcRect l="29000" r="29000"/>
          <a:stretch>
            <a:fillRect/>
          </a:stretch>
        </p:blipFill>
        <p:spPr>
          <a:xfrm>
            <a:off x="7071055" y="0"/>
            <a:ext cx="5120640" cy="6858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188720"/>
            <a:ext cx="6019495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5F7FA"/>
                </a:solidFill>
                <a:latin typeface="Arial"/>
              </a:rPr>
              <a:t>From a value to a spec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560320"/>
            <a:ext cx="6019495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900" b="0">
                <a:solidFill>
                  <a:srgbClr val="F5F7FA"/>
                </a:solidFill>
                <a:latin typeface="Arial"/>
              </a:rPr>
              <a:t>Implementation turns an ethical or political value into concrete requirements, features, and architecture.</a:t>
            </a:r>
          </a:p>
          <a:p>
            <a:pPr algn="l">
              <a:lnSpc>
                <a:spcPct val="116000"/>
              </a:lnSpc>
            </a:pPr>
            <a:r>
              <a:rPr sz="1900" b="0">
                <a:solidFill>
                  <a:srgbClr val="F5F7FA"/>
                </a:solidFill>
                <a:latin typeface="Arial"/>
              </a:rPr>
              <a:t/>
            </a:r>
          </a:p>
          <a:p>
            <a:pPr algn="l">
              <a:lnSpc>
                <a:spcPct val="116000"/>
              </a:lnSpc>
            </a:pPr>
            <a:r>
              <a:rPr sz="1700" b="0">
                <a:solidFill>
                  <a:srgbClr val="8A94A6"/>
                </a:solidFill>
                <a:latin typeface="Arial"/>
              </a:rPr>
              <a:t>Mary Flanagan's Giant Joystick makes "play" physical - one value, rebuilt into the hardware itself.</a:t>
            </a:r>
          </a:p>
        </p:txBody>
      </p:sp>
      <p:sp>
        <p:nvSpPr>
          <p:cNvPr id="7" name="Rectangle 6"/>
          <p:cNvSpPr/>
          <p:nvPr/>
        </p:nvSpPr>
        <p:spPr>
          <a:xfrm>
            <a:off x="7071055" y="6547104"/>
            <a:ext cx="5120640" cy="310896"/>
          </a:xfrm>
          <a:prstGeom prst="rect">
            <a:avLst/>
          </a:prstGeom>
          <a:solidFill>
            <a:srgbClr val="0B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208215" y="6565392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8A94A6"/>
                </a:solidFill>
                <a:latin typeface="Courier New"/>
              </a:rPr>
              <a:t>Mary Flanagan, 'Giant Joystick' - Values at Play (educational use)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DESIGN CHOICES CARRY VALUES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5F7FA"/>
                </a:solidFill>
                <a:latin typeface="Arial"/>
              </a:rPr>
              <a:t>The same feed, two values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0">
                <a:solidFill>
                  <a:srgbClr val="F5F7FA"/>
                </a:solidFill>
                <a:latin typeface="Arial"/>
              </a:rPr>
              <a:t>Design a social-media feed for </a:t>
            </a:r>
            <a:r>
              <a:rPr sz="2000" b="1">
                <a:solidFill>
                  <a:srgbClr val="FF4D4D"/>
                </a:solidFill>
                <a:latin typeface="Arial"/>
              </a:rPr>
              <a:t>engagement</a:t>
            </a:r>
            <a:r>
              <a:rPr sz="2000" b="0">
                <a:solidFill>
                  <a:srgbClr val="F5F7FA"/>
                </a:solidFill>
                <a:latin typeface="Arial"/>
              </a:rPr>
              <a:t>, and you get autoplay, streaks, and notifications - "push people's buttons."</a:t>
            </a:r>
          </a:p>
          <a:p>
            <a:pPr algn="l">
              <a:lnSpc>
                <a:spcPct val="112000"/>
              </a:lnSpc>
            </a:pPr>
            <a:r>
              <a:rPr sz="2000" b="0">
                <a:solidFill>
                  <a:srgbClr val="F5F7FA"/>
                </a:solidFill>
                <a:latin typeface="Arial"/>
              </a:rPr>
              <a:t>Design it for </a:t>
            </a:r>
            <a:r>
              <a:rPr sz="2000" b="1">
                <a:solidFill>
                  <a:srgbClr val="00FF41"/>
                </a:solidFill>
                <a:latin typeface="Arial"/>
              </a:rPr>
              <a:t>autonomy</a:t>
            </a:r>
            <a:r>
              <a:rPr sz="2000" b="0">
                <a:solidFill>
                  <a:srgbClr val="F5F7FA"/>
                </a:solidFill>
                <a:latin typeface="Arial"/>
              </a:rPr>
              <a:t>, and you add friction, stopping points, and real user control.</a:t>
            </a:r>
          </a:p>
          <a:p>
            <a:pPr algn="l">
              <a:lnSpc>
                <a:spcPct val="112000"/>
              </a:lnSpc>
            </a:pPr>
            <a:r>
              <a:rPr sz="2000" b="0">
                <a:solidFill>
                  <a:srgbClr val="F5F7FA"/>
                </a:solidFill>
                <a:latin typeface="Arial"/>
              </a:rPr>
              <a:t/>
            </a:r>
          </a:p>
          <a:p>
            <a:pPr algn="l">
              <a:lnSpc>
                <a:spcPct val="112000"/>
              </a:lnSpc>
            </a:pPr>
            <a:r>
              <a:rPr sz="1700" b="0">
                <a:solidFill>
                  <a:srgbClr val="8A94A6"/>
                </a:solidFill>
                <a:latin typeface="Arial"/>
              </a:rPr>
              <a:t>Same product. The values show up in the defaults.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WHEN VALUES CLASH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5F7FA"/>
                </a:solidFill>
                <a:latin typeface="Arial"/>
              </a:rPr>
              <a:t>Name the resolution - out loud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468880"/>
            <a:ext cx="3393338" cy="3383280"/>
          </a:xfrm>
          <a:prstGeom prst="roundRect">
            <a:avLst/>
          </a:prstGeom>
          <a:solidFill>
            <a:srgbClr val="15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2468880"/>
            <a:ext cx="3393338" cy="82296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788920"/>
            <a:ext cx="284469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FF41"/>
                </a:solidFill>
                <a:latin typeface="Courier New"/>
              </a:rPr>
              <a:t>DISSOLVE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246120"/>
            <a:ext cx="2844698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5F7FA"/>
                </a:solidFill>
                <a:latin typeface="Arial"/>
              </a:rPr>
              <a:t>Redesign around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114800"/>
            <a:ext cx="2844698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8A94A6"/>
                </a:solidFill>
                <a:latin typeface="Arial"/>
              </a:rPr>
              <a:t>Find a design where BOTH values hold. (Vacuum: on-device maps, nothing to the cloud.)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99178" y="2468880"/>
            <a:ext cx="3393338" cy="3383280"/>
          </a:xfrm>
          <a:prstGeom prst="roundRect">
            <a:avLst/>
          </a:prstGeom>
          <a:solidFill>
            <a:srgbClr val="15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99178" y="2468880"/>
            <a:ext cx="3393338" cy="82296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73498" y="2788920"/>
            <a:ext cx="284469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FF41"/>
                </a:solidFill>
                <a:latin typeface="Courier New"/>
              </a:rPr>
              <a:t>COMPROMISE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73498" y="3246120"/>
            <a:ext cx="2844698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5F7FA"/>
                </a:solidFill>
                <a:latin typeface="Arial"/>
              </a:rPr>
              <a:t>Each in part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73498" y="4114800"/>
            <a:ext cx="2844698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8A94A6"/>
                </a:solidFill>
                <a:latin typeface="Arial"/>
              </a:rPr>
              <a:t>Promote each value in less than full measure. (Vacuum: cloud data, but anonymized + opt-out.)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58276" y="2468880"/>
            <a:ext cx="3393338" cy="3383280"/>
          </a:xfrm>
          <a:prstGeom prst="roundRect">
            <a:avLst/>
          </a:prstGeom>
          <a:solidFill>
            <a:srgbClr val="15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58276" y="2468880"/>
            <a:ext cx="3393338" cy="82296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32596" y="2788920"/>
            <a:ext cx="284469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FF41"/>
                </a:solidFill>
                <a:latin typeface="Courier New"/>
              </a:rPr>
              <a:t>TRADE-OFF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32596" y="3246120"/>
            <a:ext cx="2844698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5F7FA"/>
                </a:solidFill>
                <a:latin typeface="Arial"/>
              </a:rPr>
              <a:t>Sacrifice one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32596" y="4114800"/>
            <a:ext cx="2844698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8A94A6"/>
                </a:solidFill>
                <a:latin typeface="Arial"/>
              </a:rPr>
              <a:t>Give one up for another - and say so out loud. (Vacuum: full collection for max automation.)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BREAK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5F7FA"/>
                </a:solidFill>
                <a:latin typeface="Arial"/>
              </a:rPr>
              <a:t>~10 minutes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0">
                <a:solidFill>
                  <a:srgbClr val="F5F7FA"/>
                </a:solidFill>
                <a:latin typeface="Arial"/>
              </a:rPr>
              <a:t>Last stretch. Then: did any of it actually work?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19456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00FF41"/>
                </a:solidFill>
                <a:latin typeface="Courier New"/>
              </a:rPr>
              <a:t>PART 4 - VERIFICATION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2743200"/>
            <a:ext cx="1051560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800" b="1">
                <a:solidFill>
                  <a:srgbClr val="F5F7FA"/>
                </a:solidFill>
                <a:latin typeface="Arial"/>
              </a:rPr>
              <a:t>Did the values actually land?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VERIFICATION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5F7FA"/>
                </a:solidFill>
                <a:latin typeface="Arial"/>
              </a:rPr>
              <a:t>Assessing whether the values made it 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100" b="0">
                <a:solidFill>
                  <a:srgbClr val="F5F7FA"/>
                </a:solidFill>
                <a:latin typeface="Arial"/>
              </a:rPr>
              <a:t>"Verification involves assessing whether efforts to integrate values have succeeded." Cyclical - ask at every step.</a:t>
            </a:r>
          </a:p>
          <a:p>
            <a:pPr algn="l">
              <a:lnSpc>
                <a:spcPct val="112000"/>
              </a:lnSpc>
            </a:pPr>
            <a:r>
              <a:rPr sz="2000" b="0">
                <a:solidFill>
                  <a:srgbClr val="F5F7FA"/>
                </a:solidFill>
                <a:latin typeface="Arial"/>
              </a:rPr>
              <a:t/>
            </a:r>
          </a:p>
          <a:p>
            <a:pPr algn="l">
              <a:lnSpc>
                <a:spcPct val="112000"/>
              </a:lnSpc>
            </a:pPr>
            <a:r>
              <a:rPr sz="1700" b="0">
                <a:solidFill>
                  <a:srgbClr val="8A94A6"/>
                </a:solidFill>
                <a:latin typeface="Arial"/>
              </a:rPr>
              <a:t>Three ways to ask - and your operationalization decides which one fits.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THE THREE LENSES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5F7FA"/>
                </a:solidFill>
                <a:latin typeface="Arial"/>
              </a:rPr>
              <a:t>Behavior - Understanding - Affect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468880"/>
            <a:ext cx="3393338" cy="3383280"/>
          </a:xfrm>
          <a:prstGeom prst="roundRect">
            <a:avLst/>
          </a:prstGeom>
          <a:solidFill>
            <a:srgbClr val="15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2468880"/>
            <a:ext cx="3393338" cy="82296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788920"/>
            <a:ext cx="284469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FF41"/>
                </a:solidFill>
                <a:latin typeface="Courier New"/>
              </a:rPr>
              <a:t>BEHAVIOR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246120"/>
            <a:ext cx="2844698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5F7FA"/>
                </a:solidFill>
                <a:latin typeface="Arial"/>
              </a:rPr>
              <a:t>Do they ACT differently?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114800"/>
            <a:ext cx="2844698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8A94A6"/>
                </a:solidFill>
                <a:latin typeface="Arial"/>
              </a:rPr>
              <a:t>Observation, A/B, before/after, task completion.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99178" y="2468880"/>
            <a:ext cx="3393338" cy="3383280"/>
          </a:xfrm>
          <a:prstGeom prst="roundRect">
            <a:avLst/>
          </a:prstGeom>
          <a:solidFill>
            <a:srgbClr val="15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99178" y="2468880"/>
            <a:ext cx="3393338" cy="82296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73498" y="2788920"/>
            <a:ext cx="284469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FF41"/>
                </a:solidFill>
                <a:latin typeface="Courier New"/>
              </a:rPr>
              <a:t>UNDERSTANDING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73498" y="3246120"/>
            <a:ext cx="2844698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5F7FA"/>
                </a:solidFill>
                <a:latin typeface="Arial"/>
              </a:rPr>
              <a:t>Do they GRASP it?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73498" y="4114800"/>
            <a:ext cx="2844698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8A94A6"/>
                </a:solidFill>
                <a:latin typeface="Arial"/>
              </a:rPr>
              <a:t>Survey, interview, think-aloud, scenario.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58276" y="2468880"/>
            <a:ext cx="3393338" cy="3383280"/>
          </a:xfrm>
          <a:prstGeom prst="roundRect">
            <a:avLst/>
          </a:prstGeom>
          <a:solidFill>
            <a:srgbClr val="15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58276" y="2468880"/>
            <a:ext cx="3393338" cy="82296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32596" y="2788920"/>
            <a:ext cx="284469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FF41"/>
                </a:solidFill>
                <a:latin typeface="Courier New"/>
              </a:rPr>
              <a:t>AFFECT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32596" y="3246120"/>
            <a:ext cx="2844698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5F7FA"/>
                </a:solidFill>
                <a:latin typeface="Arial"/>
              </a:rPr>
              <a:t>Do they FEEL differently?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32596" y="4114800"/>
            <a:ext cx="2844698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8A94A6"/>
                </a:solidFill>
                <a:latin typeface="Arial"/>
              </a:rPr>
              <a:t>Attitude survey, diary, interview, choice under pressure.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6053328"/>
            <a:ext cx="109728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A6474"/>
                </a:solidFill>
                <a:latin typeface="Courier New"/>
              </a:rPr>
              <a:t>Verification lenses: Values at Play - VAP course, Engelmann &amp; Nissenbaum (Cornell Tech)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EXAMPLE - BEHAVIOR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mart_meter.jpg"/>
          <p:cNvPicPr>
            <a:picLocks noChangeAspect="1"/>
          </p:cNvPicPr>
          <p:nvPr/>
        </p:nvPicPr>
        <p:blipFill>
          <a:blip r:embed="rId2"/>
          <a:srcRect l="25111" r="25111"/>
          <a:stretch>
            <a:fillRect/>
          </a:stretch>
        </p:blipFill>
        <p:spPr>
          <a:xfrm>
            <a:off x="7071055" y="0"/>
            <a:ext cx="5120640" cy="6858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188720"/>
            <a:ext cx="6019495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5F7FA"/>
                </a:solidFill>
                <a:latin typeface="Arial"/>
              </a:rPr>
              <a:t>Does the design change what people DO?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560320"/>
            <a:ext cx="6019495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800" b="0">
                <a:solidFill>
                  <a:srgbClr val="F5F7FA"/>
                </a:solidFill>
                <a:latin typeface="Arial"/>
              </a:rPr>
              <a:t>A smart meter only "works" for sustainability if people actually use less. Behavior is the sharpest test.</a:t>
            </a:r>
          </a:p>
          <a:p>
            <a:pPr algn="l">
              <a:lnSpc>
                <a:spcPct val="116000"/>
              </a:lnSpc>
            </a:pPr>
            <a:r>
              <a:rPr sz="1900" b="0">
                <a:solidFill>
                  <a:srgbClr val="F5F7FA"/>
                </a:solidFill>
                <a:latin typeface="Arial"/>
              </a:rPr>
              <a:t/>
            </a:r>
          </a:p>
          <a:p>
            <a:pPr algn="l">
              <a:lnSpc>
                <a:spcPct val="116000"/>
              </a:lnSpc>
            </a:pPr>
            <a:r>
              <a:rPr sz="1600" b="0">
                <a:solidFill>
                  <a:srgbClr val="8A94A6"/>
                </a:solidFill>
                <a:latin typeface="Arial"/>
              </a:rPr>
              <a:t>Verify how: prototype - A/B - before/after - task completion.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7071055" y="6547104"/>
            <a:ext cx="5120640" cy="310896"/>
          </a:xfrm>
          <a:prstGeom prst="rect">
            <a:avLst/>
          </a:prstGeom>
          <a:solidFill>
            <a:srgbClr val="0B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208215" y="6565392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8A94A6"/>
                </a:solidFill>
                <a:latin typeface="Courier New"/>
              </a:rPr>
              <a:t>Behavior verification (Values at Play) - smart-meter image, educational use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PICK THE INSTRUMENT THAT FITS YOUR VALUE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5F7FA"/>
                </a:solidFill>
                <a:latin typeface="Arial"/>
              </a:rPr>
              <a:t>Examples - tie the tool to the value you are analyzing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•  </a:t>
            </a:r>
            <a:r>
              <a:rPr sz="2000" b="0">
                <a:solidFill>
                  <a:srgbClr val="F5F7FA"/>
                </a:solidFill>
                <a:latin typeface="Arial"/>
              </a:rPr>
              <a:t>Beauty / craft / originality -&gt; the Vibed Slop Detector (is it generic AI slop?), or UEQ attractiveness.</a:t>
            </a:r>
          </a:p>
          <a:p>
            <a:pPr algn="l">
              <a:lnSpc>
                <a:spcPct val="112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•  </a:t>
            </a:r>
            <a:r>
              <a:rPr sz="2000" b="0">
                <a:solidFill>
                  <a:srgbClr val="F5F7FA"/>
                </a:solidFill>
                <a:latin typeface="Arial"/>
              </a:rPr>
              <a:t>Autonomy / competence / wellbeing -&gt; METUX + Self-Determination scales.</a:t>
            </a:r>
          </a:p>
          <a:p>
            <a:pPr algn="l">
              <a:lnSpc>
                <a:spcPct val="112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•  </a:t>
            </a:r>
            <a:r>
              <a:rPr sz="2000" b="0">
                <a:solidFill>
                  <a:srgbClr val="F5F7FA"/>
                </a:solidFill>
                <a:latin typeface="Arial"/>
              </a:rPr>
              <a:t>Trust / warmth / safety -&gt; a validated scale from the HRI Scale Database.</a:t>
            </a:r>
          </a:p>
          <a:p>
            <a:pPr algn="l">
              <a:lnSpc>
                <a:spcPct val="112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•  </a:t>
            </a:r>
            <a:r>
              <a:rPr sz="2000" b="0">
                <a:solidFill>
                  <a:srgbClr val="F5F7FA"/>
                </a:solidFill>
                <a:latin typeface="Arial"/>
              </a:rPr>
              <a:t>Overall UX beyond usability -&gt; UEQ. The instrument has to match the value - don't default to UEQ.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FROM OUR RESEARCH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554480"/>
            <a:ext cx="128016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0" b="1">
                <a:solidFill>
                  <a:srgbClr val="00FF41"/>
                </a:solidFill>
                <a:latin typeface="Arial"/>
              </a:rPr>
              <a:t>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2194560"/>
            <a:ext cx="978408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000" b="1">
                <a:solidFill>
                  <a:srgbClr val="F5F7FA"/>
                </a:solidFill>
                <a:latin typeface="Arial"/>
              </a:rPr>
              <a:t>Persuasion-focused evaluation nearly DOUBLED how often professional designers rejected dark-pattern designs - and shifted their reasoning from business justifications toward user autonomy and well-being.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4297680"/>
            <a:ext cx="9601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8A94A6"/>
                </a:solidFill>
                <a:latin typeface="Arial"/>
              </a:rPr>
              <a:t>— Sandhaus, Rhomberg &amp; Nissenbaum, CHIWORK 2026 - a study of 141 UX professionals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88720" y="4937760"/>
            <a:ext cx="9784080" cy="914400"/>
          </a:xfrm>
          <a:prstGeom prst="roundRect">
            <a:avLst/>
          </a:prstGeom>
          <a:solidFill>
            <a:srgbClr val="151B26"/>
          </a:solidFill>
          <a:ln w="12700">
            <a:solidFill>
              <a:srgbClr val="00FF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463040" y="5074920"/>
            <a:ext cx="92354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F5F7FA"/>
                </a:solidFill>
                <a:latin typeface="Arial"/>
              </a:rPr>
              <a:t>Measuring a value doesn't just describe it - it changes what gets built. That is why verification is not optional.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19456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00FF41"/>
                </a:solidFill>
                <a:latin typeface="Courier New"/>
              </a:rPr>
              <a:t>PART 5 - IN PRACTICE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2743200"/>
            <a:ext cx="1051560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800" b="1">
                <a:solidFill>
                  <a:srgbClr val="F5F7FA"/>
                </a:solidFill>
                <a:latin typeface="Arial"/>
              </a:rPr>
              <a:t>The VAP canvas + real projects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THE FIGJAM CANVAS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5F7FA"/>
                </a:solidFill>
                <a:latin typeface="Arial"/>
              </a:rPr>
              <a:t>One board, the whole loop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194560" y="2331720"/>
            <a:ext cx="7772400" cy="3566160"/>
          </a:xfrm>
          <a:prstGeom prst="roundRect">
            <a:avLst/>
          </a:prstGeom>
          <a:solidFill>
            <a:srgbClr val="151B26"/>
          </a:solidFill>
          <a:ln w="19050">
            <a:solidFill>
              <a:srgbClr val="00FF4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194560" y="3383280"/>
            <a:ext cx="7772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00FF41"/>
                </a:solidFill>
                <a:latin typeface="Courier New"/>
              </a:rPr>
              <a:t>[ walk the 'Vibing Values' canvas live 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94560" y="4114800"/>
            <a:ext cx="7772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8A94A6"/>
                </a:solidFill>
                <a:latin typeface="Arial"/>
              </a:rPr>
              <a:t>figma.com/board/.../Vibing-Values - each tab is one move (Discovery / Implementation / Verification). We walk them as connected case studies.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PITECH PROJECTS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5F7FA"/>
                </a:solidFill>
                <a:latin typeface="Arial"/>
              </a:rPr>
              <a:t>Fellows who ran the whole framework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194560" y="2331720"/>
            <a:ext cx="7772400" cy="3566160"/>
          </a:xfrm>
          <a:prstGeom prst="roundRect">
            <a:avLst/>
          </a:prstGeom>
          <a:solidFill>
            <a:srgbClr val="151B26"/>
          </a:solidFill>
          <a:ln w="19050">
            <a:solidFill>
              <a:srgbClr val="00FF4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194560" y="3383280"/>
            <a:ext cx="7772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00FF41"/>
                </a:solidFill>
                <a:latin typeface="Courier New"/>
              </a:rPr>
              <a:t>[ show the PiTech projects + website - add screenshots 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94560" y="4114800"/>
            <a:ext cx="7772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8A94A6"/>
                </a:solidFill>
                <a:latin typeface="Arial"/>
              </a:rPr>
              <a:t>Real value-driven projects, and what worked - and what was hard - when teams used VAP end to end.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NOW YOU (TEAM)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325880"/>
            <a:ext cx="109728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800" b="1">
                <a:solidFill>
                  <a:srgbClr val="F5F7FA"/>
                </a:solidFill>
                <a:latin typeface="Arial"/>
              </a:rPr>
              <a:t>Verify the value your Project 2 claims.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3611880"/>
            <a:ext cx="1097280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8A94A6"/>
                </a:solidFill>
                <a:latin typeface="Arial"/>
              </a:rPr>
              <a:t>State how you operationalize your value - that definition decides the method.</a:t>
            </a:r>
          </a:p>
          <a:p>
            <a:pPr algn="l">
              <a:lnSpc>
                <a:spcPct val="135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8A94A6"/>
                </a:solidFill>
                <a:latin typeface="Arial"/>
              </a:rPr>
              <a:t>No time to run tests: RESEARCH how each lens could be verified (behavior especially) + what design interventions have worked.</a:t>
            </a:r>
          </a:p>
          <a:p>
            <a:pPr algn="l">
              <a:lnSpc>
                <a:spcPct val="135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8A94A6"/>
                </a:solidFill>
                <a:latin typeface="Arial"/>
              </a:rPr>
              <a:t>Does it deliver the value - for whom, and who's left out? Then: what would you change?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532120"/>
            <a:ext cx="10911535" cy="658368"/>
          </a:xfrm>
          <a:prstGeom prst="roundRect">
            <a:avLst/>
          </a:prstGeom>
          <a:solidFill>
            <a:srgbClr val="151B26"/>
          </a:solidFill>
          <a:ln w="19050">
            <a:solidFill>
              <a:srgbClr val="00FF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5532120"/>
            <a:ext cx="10362895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0FF41"/>
                </a:solidFill>
                <a:latin typeface="Arial"/>
              </a:rPr>
              <a:t>▶  </a:t>
            </a:r>
            <a:r>
              <a:rPr sz="1600" b="1">
                <a:solidFill>
                  <a:srgbClr val="F5F7FA"/>
                </a:solidFill>
                <a:latin typeface="Arial"/>
              </a:rPr>
              <a:t>A value-centered user RESEARCH deck + a reflection on FigJam - each person owns a slide + a lane - due today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FIND YOUR PAPER - EACH PERSON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5F7FA"/>
                </a:solidFill>
                <a:latin typeface="Arial"/>
              </a:rPr>
              <a:t>Section 04 is individual: real evidence, found with AI search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0">
                <a:solidFill>
                  <a:srgbClr val="F5F7FA"/>
                </a:solidFill>
                <a:latin typeface="Arial"/>
              </a:rPr>
              <a:t>For your named slide, find ONE real paper on a design intervention that tried to move your value:</a:t>
            </a:r>
          </a:p>
          <a:p>
            <a:pPr algn="l">
              <a:lnSpc>
                <a:spcPct val="112000"/>
              </a:lnSpc>
            </a:pPr>
            <a:r>
              <a:rPr sz="2000" b="0">
                <a:solidFill>
                  <a:srgbClr val="F5F7FA"/>
                </a:solidFill>
                <a:latin typeface="Arial"/>
              </a:rPr>
              <a:t/>
            </a:r>
          </a:p>
          <a:p>
            <a:pPr algn="l">
              <a:lnSpc>
                <a:spcPct val="112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Claude / ChatGPT (ask for real, citable papers - then open + check them), Elicit, Semantic Scholar, Google Scholar - and its new Scholar Labs.</a:t>
            </a:r>
          </a:p>
          <a:p>
            <a:pPr algn="l">
              <a:lnSpc>
                <a:spcPct val="112000"/>
              </a:lnSpc>
            </a:pPr>
            <a:r>
              <a:rPr sz="2000" b="0">
                <a:solidFill>
                  <a:srgbClr val="F5F7FA"/>
                </a:solidFill>
                <a:latin typeface="Arial"/>
              </a:rPr>
              <a:t/>
            </a:r>
          </a:p>
          <a:p>
            <a:pPr algn="l">
              <a:lnSpc>
                <a:spcPct val="112000"/>
              </a:lnSpc>
            </a:pPr>
            <a:r>
              <a:rPr sz="1700" b="0">
                <a:solidFill>
                  <a:srgbClr val="8A94A6"/>
                </a:solidFill>
                <a:latin typeface="Arial"/>
              </a:rPr>
              <a:t>Never invent a citation. Open the actual paper and confirm it says what you think.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19456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00FF41"/>
                </a:solidFill>
                <a:latin typeface="Courier New"/>
              </a:rPr>
              <a:t>QUIET READING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2743200"/>
            <a:ext cx="1051560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800" b="1">
                <a:solidFill>
                  <a:srgbClr val="F5F7FA"/>
                </a:solidFill>
                <a:latin typeface="Arial"/>
              </a:rPr>
              <a:t>15 minutes - read the paper YOU found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4297680"/>
            <a:ext cx="100584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0">
                <a:solidFill>
                  <a:srgbClr val="8A94A6"/>
                </a:solidFill>
                <a:latin typeface="Arial"/>
              </a:rPr>
              <a:t>Phones away. Individual. This is the discovery reading - it fills your section-04 slide (FigJam: 04 Outlook).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WHILE YOU READ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5F7FA"/>
                </a:solidFill>
                <a:latin typeface="Arial"/>
              </a:rPr>
              <a:t>Pull out what your slide needs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0">
                <a:solidFill>
                  <a:srgbClr val="F5F7FA"/>
                </a:solidFill>
                <a:latin typeface="Arial"/>
              </a:rPr>
              <a:t>From the paper you found, mark:</a:t>
            </a:r>
          </a:p>
          <a:p>
            <a:pPr algn="l">
              <a:lnSpc>
                <a:spcPct val="112000"/>
              </a:lnSpc>
            </a:pPr>
            <a:r>
              <a:rPr sz="1800" b="0">
                <a:solidFill>
                  <a:srgbClr val="8A94A6"/>
                </a:solidFill>
                <a:latin typeface="Arial"/>
              </a:rPr>
              <a:t>1.  the design intervention they tried - what exactly did they change?</a:t>
            </a:r>
          </a:p>
          <a:p>
            <a:pPr algn="l">
              <a:lnSpc>
                <a:spcPct val="112000"/>
              </a:lnSpc>
            </a:pPr>
            <a:r>
              <a:rPr sz="1800" b="0">
                <a:solidFill>
                  <a:srgbClr val="8A94A6"/>
                </a:solidFill>
                <a:latin typeface="Arial"/>
              </a:rPr>
              <a:t>2.  the result - did it move the value? worked / mixed / failed</a:t>
            </a:r>
          </a:p>
          <a:p>
            <a:pPr algn="l">
              <a:lnSpc>
                <a:spcPct val="112000"/>
              </a:lnSpc>
            </a:pPr>
            <a:r>
              <a:rPr sz="1800" b="0">
                <a:solidFill>
                  <a:srgbClr val="8A94A6"/>
                </a:solidFill>
                <a:latin typeface="Arial"/>
              </a:rPr>
              <a:t>3.  whether it supports OUR design direction</a:t>
            </a:r>
          </a:p>
          <a:p>
            <a:pPr algn="l">
              <a:lnSpc>
                <a:spcPct val="112000"/>
              </a:lnSpc>
            </a:pPr>
            <a:r>
              <a:rPr sz="2000" b="0">
                <a:solidFill>
                  <a:srgbClr val="F5F7FA"/>
                </a:solidFill>
                <a:latin typeface="Arial"/>
              </a:rPr>
              <a:t/>
            </a:r>
          </a:p>
          <a:p>
            <a:pPr algn="l">
              <a:lnSpc>
                <a:spcPct val="112000"/>
              </a:lnSpc>
            </a:pPr>
            <a:r>
              <a:rPr sz="1700" b="0">
                <a:solidFill>
                  <a:srgbClr val="5A6474"/>
                </a:solidFill>
                <a:latin typeface="Arial"/>
              </a:rPr>
              <a:t>Then put it on your named slide (section 04), with the citation.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SOURCES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024128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F5F7FA"/>
                </a:solidFill>
                <a:latin typeface="Arial"/>
              </a:rPr>
              <a:t>Read + cite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74519"/>
            <a:ext cx="10911535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5F7FA"/>
                </a:solidFill>
                <a:latin typeface="Arial"/>
              </a:rPr>
              <a:t>Flanagan &amp; Nissenbaum - Values at Play in Digital Games (MIT Press, 2014)  —  </a:t>
            </a:r>
            <a:r>
              <a:rPr sz="1100" b="0">
                <a:solidFill>
                  <a:srgbClr val="00FF41"/>
                </a:solidFill>
                <a:latin typeface="Courier New"/>
              </a:rPr>
              <a:t>mitpress.mit.edu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276855"/>
            <a:ext cx="10911535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5F7FA"/>
                </a:solidFill>
                <a:latin typeface="Arial"/>
              </a:rPr>
              <a:t>Winner - Do Artifacts Have Politics? (Daedalus, 1980)  —  </a:t>
            </a:r>
            <a:r>
              <a:rPr sz="1100" b="0">
                <a:solidFill>
                  <a:srgbClr val="00FF41"/>
                </a:solidFill>
                <a:latin typeface="Courier New"/>
              </a:rPr>
              <a:t>the Robert Moses + turnstile cases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679191"/>
            <a:ext cx="10911535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5F7FA"/>
                </a:solidFill>
                <a:latin typeface="Arial"/>
              </a:rPr>
              <a:t>van de Poel - Translating Values into Design Requirements (2013)  —  </a:t>
            </a:r>
            <a:r>
              <a:rPr sz="1100" b="0">
                <a:solidFill>
                  <a:srgbClr val="00FF41"/>
                </a:solidFill>
                <a:latin typeface="Courier New"/>
              </a:rPr>
              <a:t>implementation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81527"/>
            <a:ext cx="10911535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5F7FA"/>
                </a:solidFill>
                <a:latin typeface="Arial"/>
              </a:rPr>
              <a:t>VAP course - S. Engelmann &amp; H. Nissenbaum  —  </a:t>
            </a:r>
            <a:r>
              <a:rPr sz="1100" b="0">
                <a:solidFill>
                  <a:srgbClr val="00FF41"/>
                </a:solidFill>
                <a:latin typeface="Courier New"/>
              </a:rPr>
              <a:t>Cornell Tech - INFO 5010 (PiTech Ethics)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483863"/>
            <a:ext cx="10911535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5F7FA"/>
                </a:solidFill>
                <a:latin typeface="Arial"/>
              </a:rPr>
              <a:t>Sandhaus, Rhomberg &amp; Nissenbaum 2026 - User Testing Promotes Ethical Sensibility (CHIWORK)  —  </a:t>
            </a:r>
            <a:r>
              <a:rPr sz="1100" b="0">
                <a:solidFill>
                  <a:srgbClr val="00FF41"/>
                </a:solidFill>
                <a:latin typeface="Courier New"/>
              </a:rPr>
              <a:t>osf.io/nw2tj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886199"/>
            <a:ext cx="10911535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5F7FA"/>
                </a:solidFill>
                <a:latin typeface="Arial"/>
              </a:rPr>
              <a:t>UEQ - ueq-online.org  |  HRI Scale DB  |  METUX / SDT scales  —  </a:t>
            </a:r>
            <a:r>
              <a:rPr sz="1100" b="0">
                <a:solidFill>
                  <a:srgbClr val="00FF41"/>
                </a:solidFill>
                <a:latin typeface="Courier New"/>
              </a:rPr>
              <a:t>verification instruments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288535"/>
            <a:ext cx="10911535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5F7FA"/>
                </a:solidFill>
                <a:latin typeface="Arial"/>
              </a:rPr>
              <a:t>Vibed Slop Detector + impeccable.style slop rules  —  </a:t>
            </a:r>
            <a:r>
              <a:rPr sz="1100" b="0">
                <a:solidFill>
                  <a:srgbClr val="00FF41"/>
                </a:solidFill>
                <a:latin typeface="Courier New"/>
              </a:rPr>
              <a:t>github.com/HaukeCornell/Vibed-Slop-Detector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