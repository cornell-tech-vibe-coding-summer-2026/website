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I heuristic (VAP, Engelmann &amp; Nissenbaum). The upshot is a LIST OF VALUES - including 'collateral' values you didn't set out to touch.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back to the activity. Language note: no 'verdict' - just 'does it deliver the value, and for whom?'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3 -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Values at Play: The Whole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Discovery -&gt; Implementation -&gt; Verification -&gt; then verify your 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From "can people use it?" to "what values did we build in - and did they land?"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Monday asked whether people can use your Project 2. Today we go all the way around the Values at Play loop - the method behind everything you have been doing - and then you verify your own value.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Three parts, with breaks: Discovery (what values?) -&gt; Implementation (build them in) -&gt; Verification (did they land?). Then the canvas, real projects, and your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Courier New"/>
              </a:rPr>
              <a:t>PART 1 -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5F7FA"/>
                </a:solidFill>
                <a:latin typeface="Arial"/>
              </a:rPr>
              <a:t>Do artifacts have politics?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8A94A6"/>
                </a:solidFill>
                <a:latin typeface="Arial"/>
              </a:rPr>
              <a:t>Before you design values IN, see that they are already there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WINNER, 1980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Do artifacts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have politics?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CASE - ROBERT MOSES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Overpasses that sorted who reached the beach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[ Robert Moses / Long Island parkway overpass - add image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The low overpasses kept buses - and the people who rode them - off the parkway. A design choice, carrying a politics.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VALUES LIVE IN THE 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A $2.90 rule, cast in steel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A subway turnstile does not argue about fare policy - it enforces it. The value (pay to ride) is built into the hardware.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Winner: an artifact can settle a political question, or require a political arrangement just to work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CASE - FACEBOOK ALT-TEXT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"Image may contain: 1 person, sky, crowd"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[ Facebook automatic alt-text example - add image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What should an AI label - gender? race? Facebook set an 80% confidence bar, higher for sensitive tags. Every one of those is a value choice.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PRACTICAL TURN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ap_book.png"/>
          <p:cNvPicPr>
            <a:picLocks noChangeAspect="1"/>
          </p:cNvPicPr>
          <p:nvPr/>
        </p:nvPicPr>
        <p:blipFill>
          <a:blip r:embed="rId2"/>
          <a:srcRect t="5896" b="5896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188720"/>
            <a:ext cx="60194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The conscientious designer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019495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900" b="0">
                <a:solidFill>
                  <a:srgbClr val="F5F7FA"/>
                </a:solidFill>
                <a:latin typeface="Arial"/>
              </a:rPr>
              <a:t>Once values are always in the thing, the question flips: not "are there values?" but "which ones - and did I choose them on purpose?"</a:t>
            </a:r>
          </a:p>
          <a:p>
            <a:pPr algn="l">
              <a:lnSpc>
                <a:spcPct val="116000"/>
              </a:lnSpc>
            </a:pPr>
            <a:r>
              <a:rPr sz="19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Values at Play is the method for doing that deliberately.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1055" y="6547104"/>
            <a:ext cx="5120640" cy="310896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8215" y="656539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4A6"/>
                </a:solidFill>
                <a:latin typeface="Courier New"/>
              </a:rPr>
              <a:t>Flanagan &amp; Nissenbaum, Values at Play (MIT Press) - VAP course, Engelmann &amp; Nissenbaum, Cornell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Courier New"/>
              </a:rPr>
              <a:t>THE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5F7FA"/>
                </a:solidFill>
                <a:latin typeface="Arial"/>
              </a:rPr>
              <a:t>Discovery -&gt; Implementation -&gt;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8A94A6"/>
                </a:solidFill>
                <a:latin typeface="Arial"/>
              </a:rPr>
              <a:t>One loop, three moves - and it is cyclical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BREAK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~10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Stretch, water. We pick up with Discovery: what values are even in play?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Courier New"/>
              </a:rPr>
              <a:t>PART 2 -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5F7FA"/>
                </a:solidFill>
                <a:latin typeface="Arial"/>
              </a:rPr>
              <a:t>What values? And what do they actually mean?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DISCOVERY I - CONSIDER THE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Where the values hide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FUNCTIONAL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What does it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The core function already implies values - a secure messenger implies privacy; a feed implies attention.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KEY 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Who is involved?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Designers, funders, users, bystanders. Whose interests are in the room - and whose are not?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CONTEXT +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Where does it live?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Societal norms, laws, and technical limits (screen size, bandwidth, model context) all carry values.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DISCOVERY II - OPERATIONALIZE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A value is not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An abstract value has to be defined before you can build it or test it: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Privacy</a:t>
            </a:r>
            <a:r>
              <a:rPr sz="1900" b="0">
                <a:solidFill>
                  <a:srgbClr val="F5F7FA"/>
                </a:solidFill>
                <a:latin typeface="Arial"/>
              </a:rPr>
              <a:t> = control?  secrecy?  contextual integrity?</a:t>
            </a:r>
          </a:p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Fairness</a:t>
            </a:r>
            <a:r>
              <a:rPr sz="1900" b="0">
                <a:solidFill>
                  <a:srgbClr val="F5F7FA"/>
                </a:solidFill>
                <a:latin typeface="Arial"/>
              </a:rPr>
              <a:t> = equal shares?  or proportional to merit / need?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Your reading decides your design AND your test. (That is yesterday's move - and today's.)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CASE - WHAT'S FAIR?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One value, incompatible definitions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THE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Split a limited loan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Person A repays 100%, Person B repays 20%. Identical otherwise. How do you split the money?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THE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All to A? Or share?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All to A maximizes repayment - and leaves B nothing. Proportional shares the pot but funds a worse bet.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THE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No free lunch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 single algorithm can't satisfy every definition of fairness. Someone chooses - make it conscious.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BREAK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~10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Back soon - next we turn values into features, and handle the clashes.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Courier New"/>
              </a:rPr>
              <a:t>PART 3 -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5F7FA"/>
                </a:solidFill>
                <a:latin typeface="Arial"/>
              </a:rPr>
              <a:t>Translate values into features - and resolve the clashes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TRANSLATE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ant_joystick.png"/>
          <p:cNvPicPr>
            <a:picLocks noChangeAspect="1"/>
          </p:cNvPicPr>
          <p:nvPr/>
        </p:nvPicPr>
        <p:blipFill>
          <a:blip r:embed="rId2"/>
          <a:srcRect l="29000" r="29000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188720"/>
            <a:ext cx="60194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From a value to a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019495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900" b="0">
                <a:solidFill>
                  <a:srgbClr val="F5F7FA"/>
                </a:solidFill>
                <a:latin typeface="Arial"/>
              </a:rPr>
              <a:t>Implementation turns an ethical or political value into concrete requirements, features, and architecture.</a:t>
            </a:r>
          </a:p>
          <a:p>
            <a:pPr algn="l">
              <a:lnSpc>
                <a:spcPct val="116000"/>
              </a:lnSpc>
            </a:pPr>
            <a:r>
              <a:rPr sz="19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Mary Flanagan's Giant Joystick makes "play" physical - one value, rebuilt into the hardware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1055" y="6547104"/>
            <a:ext cx="5120640" cy="310896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8215" y="656539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4A6"/>
                </a:solidFill>
                <a:latin typeface="Courier New"/>
              </a:rPr>
              <a:t>Mary Flanagan, 'Giant Joystick' - Values at Play (educational use)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DESIGN CHOICES CARRY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same feed, two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Design a social-media feed for </a:t>
            </a:r>
            <a:r>
              <a:rPr sz="2000" b="1">
                <a:solidFill>
                  <a:srgbClr val="FF4D4D"/>
                </a:solidFill>
                <a:latin typeface="Arial"/>
              </a:rPr>
              <a:t>engagement</a:t>
            </a:r>
            <a:r>
              <a:rPr sz="2000" b="0">
                <a:solidFill>
                  <a:srgbClr val="F5F7FA"/>
                </a:solidFill>
                <a:latin typeface="Arial"/>
              </a:rPr>
              <a:t>, and you get autoplay, streaks, and notifications - "push people's buttons."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Design it for </a:t>
            </a:r>
            <a:r>
              <a:rPr sz="2000" b="1">
                <a:solidFill>
                  <a:srgbClr val="00FF41"/>
                </a:solidFill>
                <a:latin typeface="Arial"/>
              </a:rPr>
              <a:t>autonomy</a:t>
            </a:r>
            <a:r>
              <a:rPr sz="2000" b="0">
                <a:solidFill>
                  <a:srgbClr val="F5F7FA"/>
                </a:solidFill>
                <a:latin typeface="Arial"/>
              </a:rPr>
              <a:t>, and you add friction, stopping points, and real user control.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Same product. The values show up in the defaults.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WHEN VALUES CLASH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Name the resolution - out 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DISSOLVE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Redesign around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Find a design where BOTH values hold. (Vacuum: on-device maps, nothing to the cloud.)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COMPROMISE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Each in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Promote each value in less than full measure. (Vacuum: cloud data, but anonymized + opt-out.)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Sacrifice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Give one up for another - and say so out loud. (Vacuum: full collection for max automation.)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BREAK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~10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Last stretch. Then: did any of it actually 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Courier New"/>
              </a:rPr>
              <a:t>PART 4 -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5F7FA"/>
                </a:solidFill>
                <a:latin typeface="Arial"/>
              </a:rPr>
              <a:t>Did the values actually land?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Assessing whether the values made it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"Verification involves assessing whether efforts to integrate values have succeeded." Cyclical - ask at every step.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Three ways to ask - and your operationalization decides which one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THREE LENSES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Behavior - Understanding - Affect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Do they ACT differently?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Observation, A/B, before/after, task completion.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Do they GRASP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Survey, interview, think-aloud, scenario.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Do they FEEL differently?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Attitude survey, diary, interview, choice under pressure.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A6474"/>
                </a:solidFill>
                <a:latin typeface="Courier New"/>
              </a:rPr>
              <a:t>Verification lenses: Values at Play - VAP course, Engelmann &amp; Nissenbaum (Cornell Tech)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EXAMPLE -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_meter.jpg"/>
          <p:cNvPicPr>
            <a:picLocks noChangeAspect="1"/>
          </p:cNvPicPr>
          <p:nvPr/>
        </p:nvPicPr>
        <p:blipFill>
          <a:blip r:embed="rId2"/>
          <a:srcRect l="25111" r="25111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188720"/>
            <a:ext cx="60194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Does the design change what people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019495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800" b="0">
                <a:solidFill>
                  <a:srgbClr val="F5F7FA"/>
                </a:solidFill>
                <a:latin typeface="Arial"/>
              </a:rPr>
              <a:t>A smart meter only "works" for sustainability if people actually use less. Behavior is the sharpest test.</a:t>
            </a:r>
          </a:p>
          <a:p>
            <a:pPr algn="l">
              <a:lnSpc>
                <a:spcPct val="116000"/>
              </a:lnSpc>
            </a:pPr>
            <a:r>
              <a:rPr sz="19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600" b="0">
                <a:solidFill>
                  <a:srgbClr val="8A94A6"/>
                </a:solidFill>
                <a:latin typeface="Arial"/>
              </a:rPr>
              <a:t>Verify how: prototype - A/B - before/after - task completion.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1055" y="6547104"/>
            <a:ext cx="5120640" cy="310896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8215" y="656539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94A6"/>
                </a:solidFill>
                <a:latin typeface="Courier New"/>
              </a:rPr>
              <a:t>Behavior verification (Values at Play) - smart-meter image, educational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MEASURE BEYOND USABILITY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Instruments that make a value legible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UEQ - attractiveness, novelty, stimulation, beyond just "usable".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HRI Scale Database / METUX + SDT scales - trust, autonomy, competence, relatedness.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Vibed Slop Detector - generic AI "slop" as a proxy for missing craft and care.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Match the instrument to your reading of the value - run the right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FROM OUR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280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00FF41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9784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Persuasion-focused evaluation nearly DOUBLED how often professional designers rejected dark-pattern designs - and shifted their reasoning from business justifications toward user autonomy and well-being.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2976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94A6"/>
                </a:solidFill>
                <a:latin typeface="Arial"/>
              </a:rPr>
              <a:t>— Sandhaus, Rhomberg &amp; Nissenbaum, CHIWORK 2026 - a study of 141 UX professionals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937760"/>
            <a:ext cx="9784080" cy="914400"/>
          </a:xfrm>
          <a:prstGeom prst="roundRect">
            <a:avLst/>
          </a:prstGeom>
          <a:solidFill>
            <a:srgbClr val="151B26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074920"/>
            <a:ext cx="9235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5F7FA"/>
                </a:solidFill>
                <a:latin typeface="Arial"/>
              </a:rPr>
              <a:t>Measuring a value doesn't just describe it - it changes what gets built. That is why verification is not optional.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Courier New"/>
              </a:rPr>
              <a:t>PART 5 -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5F7FA"/>
                </a:solidFill>
                <a:latin typeface="Arial"/>
              </a:rPr>
              <a:t>The VAP canvas + real projects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FIGJAM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One board, the whole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[ walk the 'Vibing Values' canvas live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figma.com/board/.../Vibing-Values - each tab is one move (Discovery / Implementation / Verification). We walk them as connected case studies.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PITECH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Fellows who ran the whole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[ show the PiTech projects + website - add screenshots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Real value-driven projects, and what worked - and what was hard - when teams used VAP end to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NOW YOU (TEAM)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Verify the value your Project 2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1188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Pick the reading of your value you actually designed for - it decides the method.</a:t>
            </a:r>
          </a:p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Choose the lens + instrument that reading demands, and run a quick check.</a:t>
            </a:r>
          </a:p>
          <a:p>
            <a:pPr algn="l">
              <a:lnSpc>
                <a:spcPct val="135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8A94A6"/>
                </a:solidFill>
                <a:latin typeface="Arial"/>
              </a:rPr>
              <a:t>Does it deliver the value - for whom, and who's left out? Then: what would you change?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532120"/>
            <a:ext cx="10911535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6289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▶  </a:t>
            </a:r>
            <a:r>
              <a:rPr sz="1600" b="1">
                <a:solidFill>
                  <a:srgbClr val="F5F7FA"/>
                </a:solidFill>
                <a:latin typeface="Arial"/>
              </a:rPr>
              <a:t>Team research deck + verification canvas - each person owns a named slide + a lane - due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A"/>
                </a:solidFill>
                <a:latin typeface="Arial"/>
              </a:rPr>
              <a:t>Read + cite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Flanagan &amp; Nissenbaum - Values at Play in Digital Games (MIT Press, 2014)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mitpress.mit.edu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76855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Winner - Do Artifacts Have Politics? (Daedalus, 1980)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the Robert Moses + turnstile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9191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van de Poel - Translating Values into Design Requirements (2013)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81527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VAP course - S. Engelmann &amp; H. Nissenbaum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Cornell Tech - INFO 5010 (PiTech Ethics)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3863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Sandhaus, Rhomberg &amp; Nissenbaum 2026 - User Testing Promotes Ethical Sensibility (CHIWORK)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osf.io/nw2tj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199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UEQ - ueq-online.org  |  HRI Scale DB  |  METUX / SDT scales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verification instruments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88535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Vibed Slop Detector + impeccable.style slop rules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github.com/HaukeCornell/Vibed-Slop-Detector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