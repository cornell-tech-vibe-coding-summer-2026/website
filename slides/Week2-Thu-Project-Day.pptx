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hK0IjMpA0nx7GF4ORimmENMMmY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Opening slide. Today is not just build time; it is the synthesis of Week 2.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22960" y="214884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WEEK 2 · THURSDAY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Project Day — Build for a Human Value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841248" y="41148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Project 2 · Ethics — Doing the right thing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PROJECT 2</a:t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640080" y="1170432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Your challenge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658368" y="2240280"/>
            <a:ext cx="108813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FF41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2000">
                <a:solidFill>
                  <a:srgbClr val="F5F7FA"/>
                </a:solidFill>
              </a:rPr>
              <a:t>In your existing teams</a:t>
            </a: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. Everyone codes; rotate who drives the AI.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FF41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Pick one human value and one concrete user situation.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FF41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Ship a small app that purposefully supports, defends, or repairs that value.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FF41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Show how the design advances the value, not just that the topic sounds ethical.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FF41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Due Monday of Week 3, before class.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474"/>
                </a:solidFill>
                <a:latin typeface="Courier New"/>
                <a:ea typeface="Courier New"/>
                <a:cs typeface="Courier New"/>
                <a:sym typeface="Courier New"/>
              </a:rPr>
              <a:t>Good Code, Good Vibes · TECHIE 1121 · Cornell Tech · Summer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THIS WEEK → PROJECT</a:t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640080" y="1170432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Project 2 should synthesize the week</a:t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640080" y="2331720"/>
            <a:ext cx="3441192" cy="3566160"/>
          </a:xfrm>
          <a:prstGeom prst="roundRect">
            <a:avLst>
              <a:gd fmla="val 16667" name="adj"/>
            </a:avLst>
          </a:prstGeom>
          <a:solidFill>
            <a:srgbClr val="151B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40080" y="2331720"/>
            <a:ext cx="3441192" cy="8229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896112" y="2651760"/>
            <a:ext cx="2929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MONDAY</a:t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896112" y="3108960"/>
            <a:ext cx="29291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Values in tools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896112" y="3931920"/>
            <a:ext cx="292912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Name the value, the competing value, and what your app argues for.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4373880" y="2331720"/>
            <a:ext cx="3441192" cy="3566160"/>
          </a:xfrm>
          <a:prstGeom prst="roundRect">
            <a:avLst>
              <a:gd fmla="val 16667" name="adj"/>
            </a:avLst>
          </a:prstGeom>
          <a:solidFill>
            <a:srgbClr val="151B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373880" y="2331720"/>
            <a:ext cx="3441192" cy="8229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4629912" y="2651760"/>
            <a:ext cx="2929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TUESDAY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4629912" y="3108960"/>
            <a:ext cx="29291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Safety + red-teaming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4629912" y="3931920"/>
            <a:ext cx="292912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Ask what harms your app could enable, and test the AI’s defaults instead of trusting them.</a:t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8107680" y="2331720"/>
            <a:ext cx="3441192" cy="3566160"/>
          </a:xfrm>
          <a:prstGeom prst="roundRect">
            <a:avLst>
              <a:gd fmla="val 16667" name="adj"/>
            </a:avLst>
          </a:prstGeom>
          <a:solidFill>
            <a:srgbClr val="151B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8107680" y="2331720"/>
            <a:ext cx="3441192" cy="8229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8363712" y="2651760"/>
            <a:ext cx="2929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WEDNESDAY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8363712" y="3108960"/>
            <a:ext cx="29291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AI against AI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8363712" y="3931920"/>
            <a:ext cx="292912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Consider whether your app protects users from AI-related harms, and where defense becomes deception.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474"/>
                </a:solidFill>
                <a:latin typeface="Courier New"/>
                <a:ea typeface="Courier New"/>
                <a:cs typeface="Courier New"/>
                <a:sym typeface="Courier New"/>
              </a:rPr>
              <a:t>Good Code, Good Vibes · TECHIE 1121 · Cornell Tech · Summer 2026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THE TRAP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1097280" y="548640"/>
            <a:ext cx="2743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00FF4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1097280" y="2743200"/>
            <a:ext cx="100584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Are you building for a value —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or just adding ethical language to a normal app?</a:t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474"/>
                </a:solidFill>
                <a:latin typeface="Courier New"/>
                <a:ea typeface="Courier New"/>
                <a:cs typeface="Courier New"/>
                <a:sym typeface="Courier New"/>
              </a:rPr>
              <a:t>Good Code, Good Vibes · TECHIE 1121 · Cornell Tech · Summer 2026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VALUE ≠ TOPIC</a:t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640080" y="1170432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Make the value concrete</a:t>
            </a:r>
            <a:endParaRPr/>
          </a:p>
        </p:txBody>
      </p:sp>
      <p:sp>
        <p:nvSpPr>
          <p:cNvPr id="135" name="Google Shape;135;p5"/>
          <p:cNvSpPr txBox="1"/>
          <p:nvPr/>
        </p:nvSpPr>
        <p:spPr>
          <a:xfrm>
            <a:off x="658368" y="2240280"/>
            <a:ext cx="1088136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5C5C"/>
                </a:solidFill>
                <a:latin typeface="Arial"/>
                <a:ea typeface="Arial"/>
                <a:cs typeface="Arial"/>
                <a:sym typeface="Arial"/>
              </a:rPr>
              <a:t>Weak: </a:t>
            </a:r>
            <a:r>
              <a:rPr b="1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“A recycling app.”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FF41"/>
                </a:solidFill>
                <a:latin typeface="Arial"/>
                <a:ea typeface="Arial"/>
                <a:cs typeface="Arial"/>
                <a:sym typeface="Arial"/>
              </a:rPr>
              <a:t>Better: </a:t>
            </a: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“A tool that helps renters without cars find nearby drop-off options, so sustainability is not gated on privilege.”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5C5C"/>
                </a:solidFill>
                <a:latin typeface="Arial"/>
                <a:ea typeface="Arial"/>
                <a:cs typeface="Arial"/>
                <a:sym typeface="Arial"/>
              </a:rPr>
              <a:t>Weak: </a:t>
            </a:r>
            <a:r>
              <a:rPr b="1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“A privacy app.”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FF41"/>
                </a:solidFill>
                <a:latin typeface="Arial"/>
                <a:ea typeface="Arial"/>
                <a:cs typeface="Arial"/>
                <a:sym typeface="Arial"/>
              </a:rPr>
              <a:t>Better: </a:t>
            </a: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“A form builder that shows what data is collected, why it is needed, and how to skip optional fields.”</a:t>
            </a:r>
            <a:endParaRPr/>
          </a:p>
        </p:txBody>
      </p:sp>
      <p:sp>
        <p:nvSpPr>
          <p:cNvPr id="136" name="Google Shape;136;p5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474"/>
                </a:solidFill>
                <a:latin typeface="Courier New"/>
                <a:ea typeface="Courier New"/>
                <a:cs typeface="Courier New"/>
                <a:sym typeface="Courier New"/>
              </a:rPr>
              <a:t>Good Code, Good Vibes · TECHIE 1121 · Cornell Tech · Summer 2026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MAKE IT SHARP</a:t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 txBox="1"/>
          <p:nvPr/>
        </p:nvSpPr>
        <p:spPr>
          <a:xfrm>
            <a:off x="640080" y="1170432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Name four things before you build</a:t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640080" y="2331720"/>
            <a:ext cx="2507742" cy="3566160"/>
          </a:xfrm>
          <a:prstGeom prst="roundRect">
            <a:avLst>
              <a:gd fmla="val 16667" name="adj"/>
            </a:avLst>
          </a:prstGeom>
          <a:solidFill>
            <a:srgbClr val="151B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640080" y="2331720"/>
            <a:ext cx="2507742" cy="8229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896112" y="2651760"/>
            <a:ext cx="19956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endParaRPr/>
          </a:p>
        </p:txBody>
      </p:sp>
      <p:sp>
        <p:nvSpPr>
          <p:cNvPr id="147" name="Google Shape;147;p6"/>
          <p:cNvSpPr txBox="1"/>
          <p:nvPr/>
        </p:nvSpPr>
        <p:spPr>
          <a:xfrm>
            <a:off x="896112" y="3108960"/>
            <a:ext cx="199567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What you serve</a:t>
            </a:r>
            <a:endParaRPr/>
          </a:p>
        </p:txBody>
      </p:sp>
      <p:sp>
        <p:nvSpPr>
          <p:cNvPr id="148" name="Google Shape;148;p6"/>
          <p:cNvSpPr txBox="1"/>
          <p:nvPr/>
        </p:nvSpPr>
        <p:spPr>
          <a:xfrm>
            <a:off x="896112" y="3931920"/>
            <a:ext cx="199567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Privacy, accessibility, autonomy, dignity, fairness, care, honesty, sustainability — define it in plain language.</a:t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3440430" y="2331720"/>
            <a:ext cx="2507742" cy="3566160"/>
          </a:xfrm>
          <a:prstGeom prst="roundRect">
            <a:avLst>
              <a:gd fmla="val 16667" name="adj"/>
            </a:avLst>
          </a:prstGeom>
          <a:solidFill>
            <a:srgbClr val="151B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3440430" y="2331720"/>
            <a:ext cx="2507742" cy="8229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3696462" y="2651760"/>
            <a:ext cx="19956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3696462" y="3108960"/>
            <a:ext cx="199567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Who it is for</a:t>
            </a:r>
            <a:endParaRPr/>
          </a:p>
        </p:txBody>
      </p:sp>
      <p:sp>
        <p:nvSpPr>
          <p:cNvPr id="153" name="Google Shape;153;p6"/>
          <p:cNvSpPr txBox="1"/>
          <p:nvPr/>
        </p:nvSpPr>
        <p:spPr>
          <a:xfrm>
            <a:off x="3696462" y="3931920"/>
            <a:ext cx="199567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A real person and situation. Not “everyone.” Not “people.”</a:t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6240780" y="2331720"/>
            <a:ext cx="2507742" cy="3566160"/>
          </a:xfrm>
          <a:prstGeom prst="roundRect">
            <a:avLst>
              <a:gd fmla="val 16667" name="adj"/>
            </a:avLst>
          </a:prstGeom>
          <a:solidFill>
            <a:srgbClr val="151B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6240780" y="2331720"/>
            <a:ext cx="2507742" cy="8229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6496812" y="2651760"/>
            <a:ext cx="19956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TENSION</a:t>
            </a:r>
            <a:endParaRPr/>
          </a:p>
        </p:txBody>
      </p:sp>
      <p:sp>
        <p:nvSpPr>
          <p:cNvPr id="157" name="Google Shape;157;p6"/>
          <p:cNvSpPr txBox="1"/>
          <p:nvPr/>
        </p:nvSpPr>
        <p:spPr>
          <a:xfrm>
            <a:off x="6496799" y="3108950"/>
            <a:ext cx="2131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What competes with it</a:t>
            </a:r>
            <a:endParaRPr/>
          </a:p>
        </p:txBody>
      </p:sp>
      <p:sp>
        <p:nvSpPr>
          <p:cNvPr id="158" name="Google Shape;158;p6"/>
          <p:cNvSpPr txBox="1"/>
          <p:nvPr/>
        </p:nvSpPr>
        <p:spPr>
          <a:xfrm>
            <a:off x="6496812" y="3931920"/>
            <a:ext cx="199567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Convenience, profit, speed, engagement, accuracy, polish, novelty, or simplicity.</a:t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9041130" y="2331720"/>
            <a:ext cx="2507742" cy="3566160"/>
          </a:xfrm>
          <a:prstGeom prst="roundRect">
            <a:avLst>
              <a:gd fmla="val 16667" name="adj"/>
            </a:avLst>
          </a:prstGeom>
          <a:solidFill>
            <a:srgbClr val="151B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9041130" y="2331720"/>
            <a:ext cx="2507742" cy="8229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9297162" y="2651760"/>
            <a:ext cx="19956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TELL</a:t>
            </a:r>
            <a:endParaRPr/>
          </a:p>
        </p:txBody>
      </p:sp>
      <p:sp>
        <p:nvSpPr>
          <p:cNvPr id="162" name="Google Shape;162;p6"/>
          <p:cNvSpPr txBox="1"/>
          <p:nvPr/>
        </p:nvSpPr>
        <p:spPr>
          <a:xfrm>
            <a:off x="9297162" y="3108960"/>
            <a:ext cx="199567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How you would know</a:t>
            </a:r>
            <a:endParaRPr/>
          </a:p>
        </p:txBody>
      </p:sp>
      <p:sp>
        <p:nvSpPr>
          <p:cNvPr id="163" name="Google Shape;163;p6"/>
          <p:cNvSpPr txBox="1"/>
          <p:nvPr/>
        </p:nvSpPr>
        <p:spPr>
          <a:xfrm>
            <a:off x="9297162" y="3931920"/>
            <a:ext cx="199567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What would you observe if the value is actually being served?</a:t>
            </a:r>
            <a:endParaRPr/>
          </a:p>
        </p:txBody>
      </p:sp>
      <p:sp>
        <p:nvSpPr>
          <p:cNvPr id="164" name="Google Shape;164;p6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474"/>
                </a:solidFill>
                <a:latin typeface="Courier New"/>
                <a:ea typeface="Courier New"/>
                <a:cs typeface="Courier New"/>
                <a:sym typeface="Courier New"/>
              </a:rPr>
              <a:t>Good Code, Good Vibes · TECHIE 1121 · Cornell Tech · Summer 2026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PROJECT MODES</a:t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640080" y="1170432"/>
            <a:ext cx="10972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Three ways to build for a value</a:t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640080" y="2331720"/>
            <a:ext cx="3441192" cy="3566160"/>
          </a:xfrm>
          <a:prstGeom prst="roundRect">
            <a:avLst>
              <a:gd fmla="val 16667" name="adj"/>
            </a:avLst>
          </a:prstGeom>
          <a:solidFill>
            <a:srgbClr val="151B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40080" y="2331720"/>
            <a:ext cx="3441192" cy="8229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896112" y="2651760"/>
            <a:ext cx="2929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SUPPORT</a:t>
            </a:r>
            <a:endParaRPr/>
          </a:p>
        </p:txBody>
      </p:sp>
      <p:sp>
        <p:nvSpPr>
          <p:cNvPr id="175" name="Google Shape;175;p7"/>
          <p:cNvSpPr txBox="1"/>
          <p:nvPr/>
        </p:nvSpPr>
        <p:spPr>
          <a:xfrm>
            <a:off x="896112" y="3108960"/>
            <a:ext cx="29291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Help someone act on a value</a:t>
            </a:r>
            <a:endParaRPr/>
          </a:p>
        </p:txBody>
      </p:sp>
      <p:sp>
        <p:nvSpPr>
          <p:cNvPr id="176" name="Google Shape;176;p7"/>
          <p:cNvSpPr txBox="1"/>
          <p:nvPr/>
        </p:nvSpPr>
        <p:spPr>
          <a:xfrm>
            <a:off x="896112" y="3931920"/>
            <a:ext cx="292912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Example: a spending checker that slows impulse buys and supports frugality without shame.</a:t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4373880" y="2331720"/>
            <a:ext cx="3441192" cy="3566160"/>
          </a:xfrm>
          <a:prstGeom prst="roundRect">
            <a:avLst>
              <a:gd fmla="val 16667" name="adj"/>
            </a:avLst>
          </a:prstGeom>
          <a:solidFill>
            <a:srgbClr val="151B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373880" y="2331720"/>
            <a:ext cx="3441192" cy="8229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 txBox="1"/>
          <p:nvPr/>
        </p:nvSpPr>
        <p:spPr>
          <a:xfrm>
            <a:off x="4629912" y="2651760"/>
            <a:ext cx="2929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DEFEND</a:t>
            </a:r>
            <a:endParaRPr/>
          </a:p>
        </p:txBody>
      </p:sp>
      <p:sp>
        <p:nvSpPr>
          <p:cNvPr id="180" name="Google Shape;180;p7"/>
          <p:cNvSpPr txBox="1"/>
          <p:nvPr/>
        </p:nvSpPr>
        <p:spPr>
          <a:xfrm>
            <a:off x="4629912" y="3108960"/>
            <a:ext cx="29291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Protect against a harm</a:t>
            </a:r>
            <a:endParaRPr/>
          </a:p>
        </p:txBody>
      </p:sp>
      <p:sp>
        <p:nvSpPr>
          <p:cNvPr id="181" name="Google Shape;181;p7"/>
          <p:cNvSpPr txBox="1"/>
          <p:nvPr/>
        </p:nvSpPr>
        <p:spPr>
          <a:xfrm>
            <a:off x="4629912" y="3931920"/>
            <a:ext cx="292912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Example: a privacy-risk scanner that explains what a signup flow is asking for and why.</a:t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8107680" y="2331720"/>
            <a:ext cx="3441192" cy="3566160"/>
          </a:xfrm>
          <a:prstGeom prst="roundRect">
            <a:avLst>
              <a:gd fmla="val 16667" name="adj"/>
            </a:avLst>
          </a:prstGeom>
          <a:solidFill>
            <a:srgbClr val="151B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8107680" y="2331720"/>
            <a:ext cx="3441192" cy="8229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8363712" y="2651760"/>
            <a:ext cx="2929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REPAIR</a:t>
            </a:r>
            <a:endParaRPr/>
          </a:p>
        </p:txBody>
      </p:sp>
      <p:sp>
        <p:nvSpPr>
          <p:cNvPr id="185" name="Google Shape;185;p7"/>
          <p:cNvSpPr txBox="1"/>
          <p:nvPr/>
        </p:nvSpPr>
        <p:spPr>
          <a:xfrm>
            <a:off x="8363712" y="3108960"/>
            <a:ext cx="29291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Turn a dark pattern bright</a:t>
            </a:r>
            <a:endParaRPr/>
          </a:p>
        </p:txBody>
      </p:sp>
      <p:sp>
        <p:nvSpPr>
          <p:cNvPr id="186" name="Google Shape;186;p7"/>
          <p:cNvSpPr txBox="1"/>
          <p:nvPr/>
        </p:nvSpPr>
        <p:spPr>
          <a:xfrm>
            <a:off x="8363712" y="3931920"/>
            <a:ext cx="292912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Example: a cancellation flow that is clear, reversible, and respectful while still asking for feedback.</a:t>
            </a:r>
            <a:endParaRPr/>
          </a:p>
        </p:txBody>
      </p:sp>
      <p:sp>
        <p:nvSpPr>
          <p:cNvPr id="187" name="Google Shape;187;p7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474"/>
                </a:solidFill>
                <a:latin typeface="Courier New"/>
                <a:ea typeface="Courier New"/>
                <a:cs typeface="Courier New"/>
                <a:sym typeface="Courier New"/>
              </a:rPr>
              <a:t>Good Code, Good Vibes · TECHIE 1121 · Cornell Tech · Summer 2026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FROM TUESDAY</a:t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640080" y="1170432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Red-team your own idea</a:t>
            </a:r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658368" y="2240280"/>
            <a:ext cx="1088136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Before building, ask: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 What could this app manipulate, hide, over-persuade, or normalize?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 What would the AI add by default if we asked for “professional,” “optimized,” or “engaging”?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 What would happen if a business metric replaced the human value?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 What bright pattern should we use instead?</a:t>
            </a:r>
            <a:endParaRPr/>
          </a:p>
        </p:txBody>
      </p:sp>
      <p:sp>
        <p:nvSpPr>
          <p:cNvPr id="196" name="Google Shape;196;p8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474"/>
                </a:solidFill>
                <a:latin typeface="Courier New"/>
                <a:ea typeface="Courier New"/>
                <a:cs typeface="Courier New"/>
                <a:sym typeface="Courier New"/>
              </a:rPr>
              <a:t>Good Code, Good Vibes · TECHIE 1121 · Cornell Tech · Summer 2026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FROM WEDNESDAY</a:t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640080" y="1170432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Defense can become deception</a:t>
            </a:r>
            <a:endParaRPr/>
          </a:p>
        </p:txBody>
      </p:sp>
      <p:sp>
        <p:nvSpPr>
          <p:cNvPr id="204" name="Google Shape;204;p9"/>
          <p:cNvSpPr txBox="1"/>
          <p:nvPr/>
        </p:nvSpPr>
        <p:spPr>
          <a:xfrm>
            <a:off x="658368" y="2240280"/>
            <a:ext cx="1088136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If your project counters AI harm, name the line: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 Who is protected by the tool?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 Who might be confused, misled, excluded, or harmed?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 Does the tool increase agency — or does it quietly take agency away?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 Is the defensive tactic visible and consent-based?</a:t>
            </a:r>
            <a:endParaRPr/>
          </a:p>
        </p:txBody>
      </p:sp>
      <p:sp>
        <p:nvSpPr>
          <p:cNvPr id="205" name="Google Shape;205;p9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474"/>
                </a:solidFill>
                <a:latin typeface="Courier New"/>
                <a:ea typeface="Courier New"/>
                <a:cs typeface="Courier New"/>
                <a:sym typeface="Courier New"/>
              </a:rPr>
              <a:t>Good Code, Good Vibes · TECHIE 1121 · Cornell Tech · Summer 2026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EXAMPLES</a:t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 txBox="1"/>
          <p:nvPr/>
        </p:nvSpPr>
        <p:spPr>
          <a:xfrm>
            <a:off x="640080" y="1170432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Values made operational</a:t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640080" y="2121408"/>
            <a:ext cx="2103120" cy="658368"/>
          </a:xfrm>
          <a:prstGeom prst="rect">
            <a:avLst/>
          </a:prstGeom>
          <a:solidFill>
            <a:srgbClr val="151B26"/>
          </a:solidFill>
          <a:ln cap="flat" cmpd="sng" w="9525">
            <a:solidFill>
              <a:srgbClr val="00FF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 txBox="1"/>
          <p:nvPr/>
        </p:nvSpPr>
        <p:spPr>
          <a:xfrm>
            <a:off x="777240" y="22860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2743200" y="2121408"/>
            <a:ext cx="4023360" cy="658368"/>
          </a:xfrm>
          <a:prstGeom prst="rect">
            <a:avLst/>
          </a:prstGeom>
          <a:solidFill>
            <a:srgbClr val="151B26"/>
          </a:solidFill>
          <a:ln cap="flat" cmpd="sng" w="9525">
            <a:solidFill>
              <a:srgbClr val="00FF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2880360" y="22860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User situation</a:t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6766560" y="2121408"/>
            <a:ext cx="4800600" cy="658368"/>
          </a:xfrm>
          <a:prstGeom prst="rect">
            <a:avLst/>
          </a:prstGeom>
          <a:solidFill>
            <a:srgbClr val="151B26"/>
          </a:solidFill>
          <a:ln cap="flat" cmpd="sng" w="9525">
            <a:solidFill>
              <a:srgbClr val="00FF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 txBox="1"/>
          <p:nvPr/>
        </p:nvSpPr>
        <p:spPr>
          <a:xfrm>
            <a:off x="6903720" y="2286000"/>
            <a:ext cx="4526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Design evidence</a:t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640080" y="2779776"/>
            <a:ext cx="2103120" cy="658368"/>
          </a:xfrm>
          <a:prstGeom prst="rect">
            <a:avLst/>
          </a:prstGeom>
          <a:solidFill>
            <a:srgbClr val="151B26"/>
          </a:solidFill>
          <a:ln cap="flat" cmpd="sng" w="9525">
            <a:solidFill>
              <a:srgbClr val="5A64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 txBox="1"/>
          <p:nvPr/>
        </p:nvSpPr>
        <p:spPr>
          <a:xfrm>
            <a:off x="777240" y="2889504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Accessibility</a:t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2743200" y="2779776"/>
            <a:ext cx="4023360" cy="658368"/>
          </a:xfrm>
          <a:prstGeom prst="rect">
            <a:avLst/>
          </a:prstGeom>
          <a:solidFill>
            <a:srgbClr val="151B26"/>
          </a:solidFill>
          <a:ln cap="flat" cmpd="sng" w="9525">
            <a:solidFill>
              <a:srgbClr val="5A64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 txBox="1"/>
          <p:nvPr/>
        </p:nvSpPr>
        <p:spPr>
          <a:xfrm>
            <a:off x="2880360" y="2889504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Support a user with a specific constraint</a:t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6766560" y="2779776"/>
            <a:ext cx="4800600" cy="658368"/>
          </a:xfrm>
          <a:prstGeom prst="rect">
            <a:avLst/>
          </a:prstGeom>
          <a:solidFill>
            <a:srgbClr val="151B26"/>
          </a:solidFill>
          <a:ln cap="flat" cmpd="sng" w="9525">
            <a:solidFill>
              <a:srgbClr val="5A64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 txBox="1"/>
          <p:nvPr/>
        </p:nvSpPr>
        <p:spPr>
          <a:xfrm>
            <a:off x="6903720" y="2889504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The interface reduces steps, avoids hidden state, and works with keyboard/screen reader use.</a:t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640080" y="3438144"/>
            <a:ext cx="2103120" cy="658368"/>
          </a:xfrm>
          <a:prstGeom prst="rect">
            <a:avLst/>
          </a:prstGeom>
          <a:solidFill>
            <a:srgbClr val="0B0E14"/>
          </a:solidFill>
          <a:ln cap="flat" cmpd="sng" w="9525">
            <a:solidFill>
              <a:srgbClr val="5A64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 txBox="1"/>
          <p:nvPr/>
        </p:nvSpPr>
        <p:spPr>
          <a:xfrm>
            <a:off x="777240" y="354787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Autonomy</a:t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2743200" y="3438144"/>
            <a:ext cx="4023360" cy="658368"/>
          </a:xfrm>
          <a:prstGeom prst="rect">
            <a:avLst/>
          </a:prstGeom>
          <a:solidFill>
            <a:srgbClr val="0B0E14"/>
          </a:solidFill>
          <a:ln cap="flat" cmpd="sng" w="9525">
            <a:solidFill>
              <a:srgbClr val="5A64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 txBox="1"/>
          <p:nvPr/>
        </p:nvSpPr>
        <p:spPr>
          <a:xfrm>
            <a:off x="2880360" y="3547872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Help a user choose freely</a:t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6766560" y="3438144"/>
            <a:ext cx="4800600" cy="658368"/>
          </a:xfrm>
          <a:prstGeom prst="rect">
            <a:avLst/>
          </a:prstGeom>
          <a:solidFill>
            <a:srgbClr val="0B0E14"/>
          </a:solidFill>
          <a:ln cap="flat" cmpd="sng" w="9525">
            <a:solidFill>
              <a:srgbClr val="5A64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 txBox="1"/>
          <p:nvPr/>
        </p:nvSpPr>
        <p:spPr>
          <a:xfrm>
            <a:off x="6903720" y="3547872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The app slows coercive decisions, shows tradeoffs, and makes exit easy.</a:t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640080" y="4096512"/>
            <a:ext cx="2103120" cy="658368"/>
          </a:xfrm>
          <a:prstGeom prst="rect">
            <a:avLst/>
          </a:prstGeom>
          <a:solidFill>
            <a:srgbClr val="151B26"/>
          </a:solidFill>
          <a:ln cap="flat" cmpd="sng" w="9525">
            <a:solidFill>
              <a:srgbClr val="5A64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 txBox="1"/>
          <p:nvPr/>
        </p:nvSpPr>
        <p:spPr>
          <a:xfrm>
            <a:off x="777240" y="420624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Privacy</a:t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2743200" y="4096512"/>
            <a:ext cx="4023360" cy="658368"/>
          </a:xfrm>
          <a:prstGeom prst="rect">
            <a:avLst/>
          </a:prstGeom>
          <a:solidFill>
            <a:srgbClr val="151B26"/>
          </a:solidFill>
          <a:ln cap="flat" cmpd="sng" w="9525">
            <a:solidFill>
              <a:srgbClr val="5A64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 txBox="1"/>
          <p:nvPr/>
        </p:nvSpPr>
        <p:spPr>
          <a:xfrm>
            <a:off x="2880360" y="420624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Limit unwanted exposure</a:t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6766560" y="4096512"/>
            <a:ext cx="4800600" cy="658368"/>
          </a:xfrm>
          <a:prstGeom prst="rect">
            <a:avLst/>
          </a:prstGeom>
          <a:solidFill>
            <a:srgbClr val="151B26"/>
          </a:solidFill>
          <a:ln cap="flat" cmpd="sng" w="9525">
            <a:solidFill>
              <a:srgbClr val="5A64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 txBox="1"/>
          <p:nvPr/>
        </p:nvSpPr>
        <p:spPr>
          <a:xfrm>
            <a:off x="6903720" y="4206240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The app minimizes data collection and explains every optional field.</a:t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640080" y="4754880"/>
            <a:ext cx="2103120" cy="658368"/>
          </a:xfrm>
          <a:prstGeom prst="rect">
            <a:avLst/>
          </a:prstGeom>
          <a:solidFill>
            <a:srgbClr val="0B0E14"/>
          </a:solidFill>
          <a:ln cap="flat" cmpd="sng" w="9525">
            <a:solidFill>
              <a:srgbClr val="5A64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 txBox="1"/>
          <p:nvPr/>
        </p:nvSpPr>
        <p:spPr>
          <a:xfrm>
            <a:off x="777240" y="4864608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Fairness</a:t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2743200" y="4754880"/>
            <a:ext cx="4023360" cy="658368"/>
          </a:xfrm>
          <a:prstGeom prst="rect">
            <a:avLst/>
          </a:prstGeom>
          <a:solidFill>
            <a:srgbClr val="0B0E14"/>
          </a:solidFill>
          <a:ln cap="flat" cmpd="sng" w="9525">
            <a:solidFill>
              <a:srgbClr val="5A64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 txBox="1"/>
          <p:nvPr/>
        </p:nvSpPr>
        <p:spPr>
          <a:xfrm>
            <a:off x="2880360" y="4864608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Reduce unequal access</a:t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6766560" y="4754880"/>
            <a:ext cx="4800600" cy="658368"/>
          </a:xfrm>
          <a:prstGeom prst="rect">
            <a:avLst/>
          </a:prstGeom>
          <a:solidFill>
            <a:srgbClr val="0B0E14"/>
          </a:solidFill>
          <a:ln cap="flat" cmpd="sng" w="9525">
            <a:solidFill>
              <a:srgbClr val="5A64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 txBox="1"/>
          <p:nvPr/>
        </p:nvSpPr>
        <p:spPr>
          <a:xfrm>
            <a:off x="6903720" y="4864608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The app adapts recommendations to real constraints like cost, time, language, mobility.</a:t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640080" y="5413248"/>
            <a:ext cx="2103120" cy="658368"/>
          </a:xfrm>
          <a:prstGeom prst="rect">
            <a:avLst/>
          </a:prstGeom>
          <a:solidFill>
            <a:srgbClr val="151B26"/>
          </a:solidFill>
          <a:ln cap="flat" cmpd="sng" w="9525">
            <a:solidFill>
              <a:srgbClr val="5A64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 txBox="1"/>
          <p:nvPr/>
        </p:nvSpPr>
        <p:spPr>
          <a:xfrm>
            <a:off x="777240" y="5522976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Dignity</a:t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2743200" y="5413248"/>
            <a:ext cx="4023360" cy="658368"/>
          </a:xfrm>
          <a:prstGeom prst="rect">
            <a:avLst/>
          </a:prstGeom>
          <a:solidFill>
            <a:srgbClr val="151B26"/>
          </a:solidFill>
          <a:ln cap="flat" cmpd="sng" w="9525">
            <a:solidFill>
              <a:srgbClr val="5A64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 txBox="1"/>
          <p:nvPr/>
        </p:nvSpPr>
        <p:spPr>
          <a:xfrm>
            <a:off x="2880360" y="5522976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Avoid shame or stigma</a:t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6766560" y="5413248"/>
            <a:ext cx="4800600" cy="658368"/>
          </a:xfrm>
          <a:prstGeom prst="rect">
            <a:avLst/>
          </a:prstGeom>
          <a:solidFill>
            <a:srgbClr val="151B26"/>
          </a:solidFill>
          <a:ln cap="flat" cmpd="sng" w="9525">
            <a:solidFill>
              <a:srgbClr val="5A64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 txBox="1"/>
          <p:nvPr/>
        </p:nvSpPr>
        <p:spPr>
          <a:xfrm>
            <a:off x="6903720" y="5522976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The app uses respectful framing, lets users skip sensitive inputs, and avoids guilt-based nudges.</a:t>
            </a:r>
            <a:endParaRPr/>
          </a:p>
        </p:txBody>
      </p:sp>
      <p:sp>
        <p:nvSpPr>
          <p:cNvPr id="249" name="Google Shape;249;p10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474"/>
                </a:solidFill>
                <a:latin typeface="Courier New"/>
                <a:ea typeface="Courier New"/>
                <a:cs typeface="Courier New"/>
                <a:sym typeface="Courier New"/>
              </a:rPr>
              <a:t>Good Code, Good Vibes · TECHIE 1121 · Cornell Tech · Summer 2026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METHOD</a:t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 txBox="1"/>
          <p:nvPr/>
        </p:nvSpPr>
        <p:spPr>
          <a:xfrm>
            <a:off x="640080" y="1170432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Today’s build loop</a:t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640080" y="2331720"/>
            <a:ext cx="3441192" cy="3566160"/>
          </a:xfrm>
          <a:prstGeom prst="roundRect">
            <a:avLst>
              <a:gd fmla="val 16667" name="adj"/>
            </a:avLst>
          </a:prstGeom>
          <a:solidFill>
            <a:srgbClr val="151B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640080" y="2331720"/>
            <a:ext cx="3441192" cy="8229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 txBox="1"/>
          <p:nvPr/>
        </p:nvSpPr>
        <p:spPr>
          <a:xfrm>
            <a:off x="896112" y="2651760"/>
            <a:ext cx="2929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01 · PLAN</a:t>
            </a:r>
            <a:endParaRPr/>
          </a:p>
        </p:txBody>
      </p:sp>
      <p:sp>
        <p:nvSpPr>
          <p:cNvPr id="260" name="Google Shape;260;p11"/>
          <p:cNvSpPr txBox="1"/>
          <p:nvPr/>
        </p:nvSpPr>
        <p:spPr>
          <a:xfrm>
            <a:off x="896112" y="3108960"/>
            <a:ext cx="29291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Write the value claim</a:t>
            </a:r>
            <a:endParaRPr/>
          </a:p>
        </p:txBody>
      </p:sp>
      <p:sp>
        <p:nvSpPr>
          <p:cNvPr id="261" name="Google Shape;261;p11"/>
          <p:cNvSpPr txBox="1"/>
          <p:nvPr/>
        </p:nvSpPr>
        <p:spPr>
          <a:xfrm>
            <a:off x="896112" y="3931920"/>
            <a:ext cx="292912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Value, user, tension, tell. Make the first AI prompt value-centered before you run it.</a:t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4373880" y="2331720"/>
            <a:ext cx="3441192" cy="3566160"/>
          </a:xfrm>
          <a:prstGeom prst="roundRect">
            <a:avLst>
              <a:gd fmla="val 16667" name="adj"/>
            </a:avLst>
          </a:prstGeom>
          <a:solidFill>
            <a:srgbClr val="151B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4373880" y="2331720"/>
            <a:ext cx="3441192" cy="8229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 txBox="1"/>
          <p:nvPr/>
        </p:nvSpPr>
        <p:spPr>
          <a:xfrm>
            <a:off x="4629912" y="2651760"/>
            <a:ext cx="2929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02 · BUILD</a:t>
            </a:r>
            <a:endParaRPr/>
          </a:p>
        </p:txBody>
      </p:sp>
      <p:sp>
        <p:nvSpPr>
          <p:cNvPr id="265" name="Google Shape;265;p11"/>
          <p:cNvSpPr txBox="1"/>
          <p:nvPr/>
        </p:nvSpPr>
        <p:spPr>
          <a:xfrm>
            <a:off x="4629912" y="3108960"/>
            <a:ext cx="29291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Ship the smallest usable version</a:t>
            </a:r>
            <a:endParaRPr/>
          </a:p>
        </p:txBody>
      </p:sp>
      <p:sp>
        <p:nvSpPr>
          <p:cNvPr id="266" name="Google Shape;266;p11"/>
          <p:cNvSpPr txBox="1"/>
          <p:nvPr/>
        </p:nvSpPr>
        <p:spPr>
          <a:xfrm>
            <a:off x="4629912" y="3931920"/>
            <a:ext cx="292912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Use AI aggressively, but reject defaults that conflict with the value.</a:t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8107680" y="2331720"/>
            <a:ext cx="3441192" cy="3566160"/>
          </a:xfrm>
          <a:prstGeom prst="roundRect">
            <a:avLst>
              <a:gd fmla="val 16667" name="adj"/>
            </a:avLst>
          </a:prstGeom>
          <a:solidFill>
            <a:srgbClr val="151B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8107680" y="2331720"/>
            <a:ext cx="3441192" cy="8229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 txBox="1"/>
          <p:nvPr/>
        </p:nvSpPr>
        <p:spPr>
          <a:xfrm>
            <a:off x="8363712" y="2651760"/>
            <a:ext cx="2929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03 · TEST</a:t>
            </a:r>
            <a:endParaRPr/>
          </a:p>
        </p:txBody>
      </p:sp>
      <p:sp>
        <p:nvSpPr>
          <p:cNvPr id="270" name="Google Shape;270;p11"/>
          <p:cNvSpPr txBox="1"/>
          <p:nvPr/>
        </p:nvSpPr>
        <p:spPr>
          <a:xfrm>
            <a:off x="8363712" y="3108960"/>
            <a:ext cx="29291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Watch 1–2 classmates try it</a:t>
            </a:r>
            <a:endParaRPr/>
          </a:p>
        </p:txBody>
      </p:sp>
      <p:sp>
        <p:nvSpPr>
          <p:cNvPr id="271" name="Google Shape;271;p11"/>
          <p:cNvSpPr txBox="1"/>
          <p:nvPr/>
        </p:nvSpPr>
        <p:spPr>
          <a:xfrm>
            <a:off x="8363712" y="3931920"/>
            <a:ext cx="292912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Give one task. Watch, don’t explain. Note whether the value survives contact with a user.</a:t>
            </a:r>
            <a:endParaRPr/>
          </a:p>
        </p:txBody>
      </p:sp>
      <p:sp>
        <p:nvSpPr>
          <p:cNvPr id="272" name="Google Shape;272;p11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474"/>
                </a:solidFill>
                <a:latin typeface="Courier New"/>
                <a:ea typeface="Courier New"/>
                <a:cs typeface="Courier New"/>
                <a:sym typeface="Courier New"/>
              </a:rPr>
              <a:t>Good Code, Good Vibes · TECHIE 1121 · Cornell Tech · Summer 2026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PROMPT STARTER</a:t>
            </a: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 txBox="1"/>
          <p:nvPr/>
        </p:nvSpPr>
        <p:spPr>
          <a:xfrm>
            <a:off x="640080" y="1170432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Your first prompt should carry the value</a:t>
            </a:r>
            <a:endParaRPr/>
          </a:p>
        </p:txBody>
      </p:sp>
      <p:sp>
        <p:nvSpPr>
          <p:cNvPr id="280" name="Google Shape;280;p12"/>
          <p:cNvSpPr txBox="1"/>
          <p:nvPr/>
        </p:nvSpPr>
        <p:spPr>
          <a:xfrm>
            <a:off x="658368" y="2240280"/>
            <a:ext cx="1088136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5C5C"/>
                </a:solidFill>
                <a:latin typeface="Arial"/>
                <a:ea typeface="Arial"/>
                <a:cs typeface="Arial"/>
                <a:sym typeface="Arial"/>
              </a:rPr>
              <a:t>Bad prompt:</a:t>
            </a: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 “Build a habit tracker.”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FF41"/>
                </a:solidFill>
                <a:latin typeface="Arial"/>
                <a:ea typeface="Arial"/>
                <a:cs typeface="Arial"/>
                <a:sym typeface="Arial"/>
              </a:rPr>
              <a:t>Better prompt:</a:t>
            </a: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 “Build a habit tracker for a student recovering from burnout. It should support consistency without shame: missed days should be treated kindly, not as failure.”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Put this first prompt in the report verbatim, then compare whether the output carried your value or the tool’s defaults.</a:t>
            </a:r>
            <a:endParaRPr/>
          </a:p>
        </p:txBody>
      </p:sp>
      <p:sp>
        <p:nvSpPr>
          <p:cNvPr id="281" name="Google Shape;281;p12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474"/>
                </a:solidFill>
                <a:latin typeface="Courier New"/>
                <a:ea typeface="Courier New"/>
                <a:cs typeface="Courier New"/>
                <a:sym typeface="Courier New"/>
              </a:rPr>
              <a:t>Good Code, Good Vibes · TECHIE 1121 · Cornell Tech · Summer 2026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TEAMWORK</a:t>
            </a: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 txBox="1"/>
          <p:nvPr/>
        </p:nvSpPr>
        <p:spPr>
          <a:xfrm>
            <a:off x="640080" y="1170432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Split the work, rotate the AI driver</a:t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640080" y="2331720"/>
            <a:ext cx="3441192" cy="3566160"/>
          </a:xfrm>
          <a:prstGeom prst="roundRect">
            <a:avLst>
              <a:gd fmla="val 16667" name="adj"/>
            </a:avLst>
          </a:prstGeom>
          <a:solidFill>
            <a:srgbClr val="151B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640080" y="2331720"/>
            <a:ext cx="3441192" cy="8229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 txBox="1"/>
          <p:nvPr/>
        </p:nvSpPr>
        <p:spPr>
          <a:xfrm>
            <a:off x="896112" y="2651760"/>
            <a:ext cx="2929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DESIGNER</a:t>
            </a:r>
            <a:endParaRPr/>
          </a:p>
        </p:txBody>
      </p:sp>
      <p:sp>
        <p:nvSpPr>
          <p:cNvPr id="292" name="Google Shape;292;p13"/>
          <p:cNvSpPr txBox="1"/>
          <p:nvPr/>
        </p:nvSpPr>
        <p:spPr>
          <a:xfrm>
            <a:off x="896112" y="3108960"/>
            <a:ext cx="29291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Owns the experience</a:t>
            </a:r>
            <a:endParaRPr/>
          </a:p>
        </p:txBody>
      </p:sp>
      <p:sp>
        <p:nvSpPr>
          <p:cNvPr id="293" name="Google Shape;293;p13"/>
          <p:cNvSpPr txBox="1"/>
          <p:nvPr/>
        </p:nvSpPr>
        <p:spPr>
          <a:xfrm>
            <a:off x="896112" y="3931920"/>
            <a:ext cx="292912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Defines the user, flow, tone, and how the value appears in the interface.</a:t>
            </a:r>
            <a:endParaRPr/>
          </a:p>
        </p:txBody>
      </p:sp>
      <p:sp>
        <p:nvSpPr>
          <p:cNvPr id="294" name="Google Shape;294;p13"/>
          <p:cNvSpPr/>
          <p:nvPr/>
        </p:nvSpPr>
        <p:spPr>
          <a:xfrm>
            <a:off x="4373880" y="2331720"/>
            <a:ext cx="3441192" cy="3566160"/>
          </a:xfrm>
          <a:prstGeom prst="roundRect">
            <a:avLst>
              <a:gd fmla="val 16667" name="adj"/>
            </a:avLst>
          </a:prstGeom>
          <a:solidFill>
            <a:srgbClr val="151B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4373880" y="2331720"/>
            <a:ext cx="3441192" cy="8229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 txBox="1"/>
          <p:nvPr/>
        </p:nvSpPr>
        <p:spPr>
          <a:xfrm>
            <a:off x="4629912" y="2651760"/>
            <a:ext cx="2929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AI ORCHESTRATOR</a:t>
            </a:r>
            <a:endParaRPr/>
          </a:p>
        </p:txBody>
      </p:sp>
      <p:sp>
        <p:nvSpPr>
          <p:cNvPr id="297" name="Google Shape;297;p13"/>
          <p:cNvSpPr txBox="1"/>
          <p:nvPr/>
        </p:nvSpPr>
        <p:spPr>
          <a:xfrm>
            <a:off x="4629912" y="3108960"/>
            <a:ext cx="29291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Owns the trace</a:t>
            </a:r>
            <a:endParaRPr/>
          </a:p>
        </p:txBody>
      </p:sp>
      <p:sp>
        <p:nvSpPr>
          <p:cNvPr id="298" name="Google Shape;298;p13"/>
          <p:cNvSpPr txBox="1"/>
          <p:nvPr/>
        </p:nvSpPr>
        <p:spPr>
          <a:xfrm>
            <a:off x="4629912" y="3931920"/>
            <a:ext cx="292912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Writes prompts, manages context, saves logs, and asks the AI for alternatives.</a:t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8107680" y="2331720"/>
            <a:ext cx="3441192" cy="3566160"/>
          </a:xfrm>
          <a:prstGeom prst="roundRect">
            <a:avLst>
              <a:gd fmla="val 16667" name="adj"/>
            </a:avLst>
          </a:prstGeom>
          <a:solidFill>
            <a:srgbClr val="151B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8107680" y="2331720"/>
            <a:ext cx="3441192" cy="8229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 txBox="1"/>
          <p:nvPr/>
        </p:nvSpPr>
        <p:spPr>
          <a:xfrm>
            <a:off x="8363712" y="2651760"/>
            <a:ext cx="2929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ARCHITECT</a:t>
            </a:r>
            <a:endParaRPr/>
          </a:p>
        </p:txBody>
      </p:sp>
      <p:sp>
        <p:nvSpPr>
          <p:cNvPr id="302" name="Google Shape;302;p13"/>
          <p:cNvSpPr txBox="1"/>
          <p:nvPr/>
        </p:nvSpPr>
        <p:spPr>
          <a:xfrm>
            <a:off x="8363712" y="3108960"/>
            <a:ext cx="29291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Owns the build</a:t>
            </a:r>
            <a:endParaRPr/>
          </a:p>
        </p:txBody>
      </p:sp>
      <p:sp>
        <p:nvSpPr>
          <p:cNvPr id="303" name="Google Shape;303;p13"/>
          <p:cNvSpPr txBox="1"/>
          <p:nvPr/>
        </p:nvSpPr>
        <p:spPr>
          <a:xfrm>
            <a:off x="8363712" y="3931920"/>
            <a:ext cx="292912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Keeps the app deployable, explains code structure, and prevents mystery glue.</a:t>
            </a:r>
            <a:endParaRPr/>
          </a:p>
        </p:txBody>
      </p:sp>
      <p:sp>
        <p:nvSpPr>
          <p:cNvPr id="304" name="Google Shape;304;p13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474"/>
                </a:solidFill>
                <a:latin typeface="Courier New"/>
                <a:ea typeface="Courier New"/>
                <a:cs typeface="Courier New"/>
                <a:sym typeface="Courier New"/>
              </a:rPr>
              <a:t>Good Code, Good Vibes · TECHIE 1121 · Cornell Tech · Summer 2026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4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QUICK TEST</a:t>
            </a:r>
            <a:endParaRPr/>
          </a:p>
        </p:txBody>
      </p:sp>
      <p:sp>
        <p:nvSpPr>
          <p:cNvPr id="310" name="Google Shape;310;p14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 txBox="1"/>
          <p:nvPr/>
        </p:nvSpPr>
        <p:spPr>
          <a:xfrm>
            <a:off x="640080" y="1170432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Before Monday, watch someone use it</a:t>
            </a:r>
            <a:endParaRPr/>
          </a:p>
        </p:txBody>
      </p:sp>
      <p:sp>
        <p:nvSpPr>
          <p:cNvPr id="312" name="Google Shape;312;p14"/>
          <p:cNvSpPr txBox="1"/>
          <p:nvPr/>
        </p:nvSpPr>
        <p:spPr>
          <a:xfrm>
            <a:off x="658368" y="2240280"/>
            <a:ext cx="1088136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FF41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Ask 1–2 classmates to try one realistic task. Do not give a feature tour.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FF41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Watch for hesitations, wrong turns, surprise, confusion, or places where the value disappears.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FF41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Ask: What do you think this tool is trying to help you do?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FF41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Make one change based on what you observed, then record it in the report.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FF41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Week 3 has full user testing; Project 2 only needs a quick informal check.</a:t>
            </a:r>
            <a:endParaRPr/>
          </a:p>
        </p:txBody>
      </p:sp>
      <p:sp>
        <p:nvSpPr>
          <p:cNvPr id="313" name="Google Shape;313;p14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474"/>
                </a:solidFill>
                <a:latin typeface="Courier New"/>
                <a:ea typeface="Courier New"/>
                <a:cs typeface="Courier New"/>
                <a:sym typeface="Courier New"/>
              </a:rPr>
              <a:t>Good Code, Good Vibes · TECHIE 1121 · Cornell Tech · Summer 2026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5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DELIVERABLES</a:t>
            </a:r>
            <a:endParaRPr/>
          </a:p>
        </p:txBody>
      </p:sp>
      <p:sp>
        <p:nvSpPr>
          <p:cNvPr id="319" name="Google Shape;319;p15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 txBox="1"/>
          <p:nvPr/>
        </p:nvSpPr>
        <p:spPr>
          <a:xfrm>
            <a:off x="640080" y="1170432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What’s due Monday before class</a:t>
            </a:r>
            <a:endParaRPr/>
          </a:p>
        </p:txBody>
      </p:sp>
      <p:sp>
        <p:nvSpPr>
          <p:cNvPr id="321" name="Google Shape;321;p15"/>
          <p:cNvSpPr txBox="1"/>
          <p:nvPr/>
        </p:nvSpPr>
        <p:spPr>
          <a:xfrm>
            <a:off x="658368" y="2240280"/>
            <a:ext cx="1088136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FF41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Hosted app — source in code_deliverable/ and live link in project-report.md.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FF41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AI interaction log — log_deliverable/history.md with prompts and tool transcripts.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FF41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Project report — human-written ethical reflection naming value, user, tension, and evidence.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FF41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Quick test note — what you watched, what you learned, and what you changed.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FF41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Commit and push to the team GitHub Classroom repo before the deadline.</a:t>
            </a:r>
            <a:endParaRPr/>
          </a:p>
        </p:txBody>
      </p:sp>
      <p:sp>
        <p:nvSpPr>
          <p:cNvPr id="322" name="Google Shape;322;p15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474"/>
                </a:solidFill>
                <a:latin typeface="Courier New"/>
                <a:ea typeface="Courier New"/>
                <a:cs typeface="Courier New"/>
                <a:sym typeface="Courier New"/>
              </a:rPr>
              <a:t>Good Code, Good Vibes · TECHIE 1121 · Cornell Tech · Summer 2026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6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REPORT</a:t>
            </a:r>
            <a:endParaRPr/>
          </a:p>
        </p:txBody>
      </p:sp>
      <p:sp>
        <p:nvSpPr>
          <p:cNvPr id="328" name="Google Shape;328;p16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6"/>
          <p:cNvSpPr txBox="1"/>
          <p:nvPr/>
        </p:nvSpPr>
        <p:spPr>
          <a:xfrm>
            <a:off x="640080" y="1170432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Your ethical reflection must answer</a:t>
            </a:r>
            <a:endParaRPr/>
          </a:p>
        </p:txBody>
      </p:sp>
      <p:sp>
        <p:nvSpPr>
          <p:cNvPr id="330" name="Google Shape;330;p16"/>
          <p:cNvSpPr txBox="1"/>
          <p:nvPr/>
        </p:nvSpPr>
        <p:spPr>
          <a:xfrm>
            <a:off x="658368" y="2240280"/>
            <a:ext cx="1088136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1. What value does the app serve, and for whom?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2. What competing value or incentive did you deprioritize?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3. Which AI defaults helped, and which pushed against your value?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4. What safety, deception, or misuse risk did you red-team?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5. What did a quick tester do that confirmed or challenged your value claim?</a:t>
            </a:r>
            <a:endParaRPr/>
          </a:p>
        </p:txBody>
      </p:sp>
      <p:sp>
        <p:nvSpPr>
          <p:cNvPr id="331" name="Google Shape;331;p16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474"/>
                </a:solidFill>
                <a:latin typeface="Courier New"/>
                <a:ea typeface="Courier New"/>
                <a:cs typeface="Courier New"/>
                <a:sym typeface="Courier New"/>
              </a:rPr>
              <a:t>Good Code, Good Vibes · TECHIE 1121 · Cornell Tech · Summer 2026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7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TODAY</a:t>
            </a:r>
            <a:endParaRPr/>
          </a:p>
        </p:txBody>
      </p:sp>
      <p:sp>
        <p:nvSpPr>
          <p:cNvPr id="337" name="Google Shape;337;p17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7"/>
          <p:cNvSpPr txBox="1"/>
          <p:nvPr/>
        </p:nvSpPr>
        <p:spPr>
          <a:xfrm>
            <a:off x="640080" y="1170432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One loop, then focused build</a:t>
            </a:r>
            <a:endParaRPr/>
          </a:p>
        </p:txBody>
      </p:sp>
      <p:sp>
        <p:nvSpPr>
          <p:cNvPr id="339" name="Google Shape;339;p17"/>
          <p:cNvSpPr/>
          <p:nvPr/>
        </p:nvSpPr>
        <p:spPr>
          <a:xfrm>
            <a:off x="640080" y="2331720"/>
            <a:ext cx="3441192" cy="3566160"/>
          </a:xfrm>
          <a:prstGeom prst="roundRect">
            <a:avLst>
              <a:gd fmla="val 16667" name="adj"/>
            </a:avLst>
          </a:prstGeom>
          <a:solidFill>
            <a:srgbClr val="151B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7"/>
          <p:cNvSpPr/>
          <p:nvPr/>
        </p:nvSpPr>
        <p:spPr>
          <a:xfrm>
            <a:off x="640080" y="2331720"/>
            <a:ext cx="3441192" cy="8229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7"/>
          <p:cNvSpPr txBox="1"/>
          <p:nvPr/>
        </p:nvSpPr>
        <p:spPr>
          <a:xfrm>
            <a:off x="896112" y="2651760"/>
            <a:ext cx="2929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DIVERGE</a:t>
            </a:r>
            <a:endParaRPr/>
          </a:p>
        </p:txBody>
      </p:sp>
      <p:sp>
        <p:nvSpPr>
          <p:cNvPr id="342" name="Google Shape;342;p17"/>
          <p:cNvSpPr txBox="1"/>
          <p:nvPr/>
        </p:nvSpPr>
        <p:spPr>
          <a:xfrm>
            <a:off x="896112" y="3108960"/>
            <a:ext cx="29291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Pick candidate values</a:t>
            </a:r>
            <a:endParaRPr/>
          </a:p>
        </p:txBody>
      </p:sp>
      <p:sp>
        <p:nvSpPr>
          <p:cNvPr id="343" name="Google Shape;343;p17"/>
          <p:cNvSpPr txBox="1"/>
          <p:nvPr/>
        </p:nvSpPr>
        <p:spPr>
          <a:xfrm>
            <a:off x="896112" y="3931920"/>
            <a:ext cx="292912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Brainstorm values and users. Choose one value + one user situation.</a:t>
            </a:r>
            <a:endParaRPr/>
          </a:p>
        </p:txBody>
      </p:sp>
      <p:sp>
        <p:nvSpPr>
          <p:cNvPr id="344" name="Google Shape;344;p17"/>
          <p:cNvSpPr/>
          <p:nvPr/>
        </p:nvSpPr>
        <p:spPr>
          <a:xfrm>
            <a:off x="4373880" y="2331720"/>
            <a:ext cx="3441192" cy="3566160"/>
          </a:xfrm>
          <a:prstGeom prst="roundRect">
            <a:avLst>
              <a:gd fmla="val 16667" name="adj"/>
            </a:avLst>
          </a:prstGeom>
          <a:solidFill>
            <a:srgbClr val="151B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7"/>
          <p:cNvSpPr/>
          <p:nvPr/>
        </p:nvSpPr>
        <p:spPr>
          <a:xfrm>
            <a:off x="4373880" y="2331720"/>
            <a:ext cx="3441192" cy="8229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 txBox="1"/>
          <p:nvPr/>
        </p:nvSpPr>
        <p:spPr>
          <a:xfrm>
            <a:off x="4629912" y="2651760"/>
            <a:ext cx="2929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CONVERGE</a:t>
            </a:r>
            <a:endParaRPr/>
          </a:p>
        </p:txBody>
      </p:sp>
      <p:sp>
        <p:nvSpPr>
          <p:cNvPr id="347" name="Google Shape;347;p17"/>
          <p:cNvSpPr txBox="1"/>
          <p:nvPr/>
        </p:nvSpPr>
        <p:spPr>
          <a:xfrm>
            <a:off x="4629912" y="3108960"/>
            <a:ext cx="29291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Make the claim sharp</a:t>
            </a:r>
            <a:endParaRPr/>
          </a:p>
        </p:txBody>
      </p:sp>
      <p:sp>
        <p:nvSpPr>
          <p:cNvPr id="348" name="Google Shape;348;p17"/>
          <p:cNvSpPr txBox="1"/>
          <p:nvPr/>
        </p:nvSpPr>
        <p:spPr>
          <a:xfrm>
            <a:off x="4629912" y="3931920"/>
            <a:ext cx="292912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Write the value/user/tension/tell and first prompt.</a:t>
            </a:r>
            <a:endParaRPr/>
          </a:p>
        </p:txBody>
      </p:sp>
      <p:sp>
        <p:nvSpPr>
          <p:cNvPr id="349" name="Google Shape;349;p17"/>
          <p:cNvSpPr/>
          <p:nvPr/>
        </p:nvSpPr>
        <p:spPr>
          <a:xfrm>
            <a:off x="8107680" y="2331720"/>
            <a:ext cx="3441192" cy="3566160"/>
          </a:xfrm>
          <a:prstGeom prst="roundRect">
            <a:avLst>
              <a:gd fmla="val 16667" name="adj"/>
            </a:avLst>
          </a:prstGeom>
          <a:solidFill>
            <a:srgbClr val="151B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8107680" y="2331720"/>
            <a:ext cx="3441192" cy="8229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7"/>
          <p:cNvSpPr txBox="1"/>
          <p:nvPr/>
        </p:nvSpPr>
        <p:spPr>
          <a:xfrm>
            <a:off x="8363712" y="2651760"/>
            <a:ext cx="2929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BUILD</a:t>
            </a:r>
            <a:endParaRPr/>
          </a:p>
        </p:txBody>
      </p:sp>
      <p:sp>
        <p:nvSpPr>
          <p:cNvPr id="352" name="Google Shape;352;p17"/>
          <p:cNvSpPr txBox="1"/>
          <p:nvPr/>
        </p:nvSpPr>
        <p:spPr>
          <a:xfrm>
            <a:off x="8363712" y="3108960"/>
            <a:ext cx="29291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Ship the smallest testable app</a:t>
            </a:r>
            <a:endParaRPr/>
          </a:p>
        </p:txBody>
      </p:sp>
      <p:sp>
        <p:nvSpPr>
          <p:cNvPr id="353" name="Google Shape;353;p17"/>
          <p:cNvSpPr txBox="1"/>
          <p:nvPr/>
        </p:nvSpPr>
        <p:spPr>
          <a:xfrm>
            <a:off x="8363712" y="3931920"/>
            <a:ext cx="292912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Use AI, test quickly, revise, deploy, document.</a:t>
            </a:r>
            <a:endParaRPr/>
          </a:p>
        </p:txBody>
      </p:sp>
      <p:sp>
        <p:nvSpPr>
          <p:cNvPr id="354" name="Google Shape;354;p17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474"/>
                </a:solidFill>
                <a:latin typeface="Courier New"/>
                <a:ea typeface="Courier New"/>
                <a:cs typeface="Courier New"/>
                <a:sym typeface="Courier New"/>
              </a:rPr>
              <a:t>Good Code, Good Vibes · TECHIE 1121 · Cornell Tech · Summer 2026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8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FF41"/>
                </a:solidFill>
                <a:latin typeface="Courier New"/>
                <a:ea typeface="Courier New"/>
                <a:cs typeface="Courier New"/>
                <a:sym typeface="Courier New"/>
              </a:rPr>
              <a:t>START BUILDING</a:t>
            </a:r>
            <a:endParaRPr/>
          </a:p>
        </p:txBody>
      </p:sp>
      <p:sp>
        <p:nvSpPr>
          <p:cNvPr id="360" name="Google Shape;360;p18"/>
          <p:cNvSpPr txBox="1"/>
          <p:nvPr/>
        </p:nvSpPr>
        <p:spPr>
          <a:xfrm>
            <a:off x="1097280" y="548640"/>
            <a:ext cx="2743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00FF4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sp>
        <p:nvSpPr>
          <p:cNvPr id="361" name="Google Shape;361;p18"/>
          <p:cNvSpPr txBox="1"/>
          <p:nvPr/>
        </p:nvSpPr>
        <p:spPr>
          <a:xfrm>
            <a:off x="1097280" y="2743200"/>
            <a:ext cx="100584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What value will your app make easier to act on —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and what value will it refuse to sacrifice?</a:t>
            </a:r>
            <a:endParaRPr/>
          </a:p>
        </p:txBody>
      </p:sp>
      <p:sp>
        <p:nvSpPr>
          <p:cNvPr id="362" name="Google Shape;362;p18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A6474"/>
                </a:solidFill>
                <a:latin typeface="Courier New"/>
                <a:ea typeface="Courier New"/>
                <a:cs typeface="Courier New"/>
                <a:sym typeface="Courier New"/>
              </a:rPr>
              <a:t>Good Code, Good Vibes · TECHIE 1121 · Cornell Tech · Summer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