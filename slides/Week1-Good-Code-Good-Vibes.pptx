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recurring ethics-hook slide. Consider giving each day its own dilemma (kept Kant here as your opener).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to flesh out Monday's thin 'what is vibe coding' open. Source: Karpathy / Li et al. 'Vibe Coding in Product Teams' (the 7/13 primary reading).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Media placeholder — original deck had a 'what is vibe coding' gif/video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ADDED overview to frame the three methods your Monday slides walk through. NOTE: replaced 'Antigravity' with 'VS Code + GitHub Copilot' — Antigravity is retired (no longer an IDE); Copilot is now the recommended 13+ tool. Cursor noted as 18+.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listed 'Antigravity / VSCode / Cursor'. Antigravity retired → now VS Code + GitHub Copilot (recommended, 13+); Cursor kept as 18+ 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Enriched the near-empty 'Why Johnny Can't Prompt' slide with a one-line framing + the citation (7/14 primary reading). Add the original figure via the placeholder if you had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Authored from your prompt-tips deck seeds (Make It Personal / Deal with quota / Vibe-code controls / Value of artifacts / Vibe Code Look). Expand as you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Enriched from the repo activity 7/14 ('Prompts that Steer the Vibe'). Original slide was just a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'What is Bias?' slide was a title only — added a one-line working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Kept your 'Vibe Bias' definition; the lead definition line: 'The tendency of LLMs to generate UI/UX patterns based on the most frequent (often Western-centric) data in their training sets.'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Enriched the empty 'Project Day' slide with the Project 1 brief essentials from the repo. Group projects are separate Classroom team repos (confirm details with Jonathan).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5F7FA"/>
                </a:solidFill>
                <a:latin typeface="Arial"/>
              </a:rPr>
              <a:t>Good Code, Good Vibes:</a:t>
            </a: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00FF41"/>
                </a:solidFill>
                <a:latin typeface="Arial"/>
              </a:rPr>
              <a:t>Building Ethical Apps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114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An introduction to ethical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TECHIE 1121 · CORNELL TECH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What is Vibe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Led by Jonathan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ETHICS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280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00FF41"/>
                </a:solidFill>
                <a:latin typeface="Arial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9784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Act only according to that maxim whereby you can at the same time will that it should become a universal law.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2976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Immanuel Kant, Groundwork of the Metaphysics of Morals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937760"/>
            <a:ext cx="9784080" cy="914400"/>
          </a:xfrm>
          <a:prstGeom prst="roundRect">
            <a:avLst/>
          </a:prstGeom>
          <a:solidFill>
            <a:srgbClr val="151B26"/>
          </a:solidFill>
          <a:ln w="1270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5074920"/>
            <a:ext cx="9235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5F7FA"/>
                </a:solidFill>
                <a:latin typeface="Arial"/>
              </a:rPr>
              <a:t>If you are in poverty, is it okay to steal food for your starving family from a large grocery store?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 IS VIBE CODING?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Give in to the vibes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“There’s a new kind of coding I call ‘vibe coding’, where you fully give in to the vibes, embrace exponentials, and forget that the code even exists.”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600" b="0">
                <a:solidFill>
                  <a:srgbClr val="8A94A6"/>
                </a:solidFill>
                <a:latin typeface="Arial"/>
              </a:rPr>
              <a:t>— Andrej Karpathy, Feb 2025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You express the </a:t>
            </a:r>
            <a:r>
              <a:rPr sz="2000" b="1">
                <a:solidFill>
                  <a:srgbClr val="00FF41"/>
                </a:solidFill>
                <a:latin typeface="Arial"/>
              </a:rPr>
              <a:t>intent</a:t>
            </a:r>
            <a:r>
              <a:rPr sz="2000" b="0">
                <a:solidFill>
                  <a:srgbClr val="F5F7FA"/>
                </a:solidFill>
                <a:latin typeface="Arial"/>
              </a:rPr>
              <a:t> of the product; the AI does the heavy lifting. The interface is no longer syntax — it’s a conversation about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WHAT IS VIBE CODING?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See it in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▶  vibe coding.mp4  /  whatisvibecoding.gif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Drop your intro clip / GIF here (from the old deck's Drive folder).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SETTING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There are many tools you can use for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8A94A6"/>
                </a:solidFill>
                <a:latin typeface="Arial"/>
              </a:rPr>
              <a:t>We’ll go over how to set up and use a few of them — three different ways to work with generative AI for programming.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SETTING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Three ways to work with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01 ·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Browser-only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No install. Prompt and preview in the browser. e.g. v0.app.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02 · 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VS Code + GitHub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Agent mode in your editor / Codespace. (Cursor is an 18+ alternative.)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03 ·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Run a model locally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Most control over the model; add your own tools on top.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1 ·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First, an online-only tool: v0.app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Let’s try </a:t>
            </a:r>
            <a:r>
              <a:rPr sz="2000" b="1">
                <a:solidFill>
                  <a:srgbClr val="00FF41"/>
                </a:solidFill>
                <a:latin typeface="Arial"/>
              </a:rPr>
              <a:t>v0.app</a:t>
            </a:r>
            <a:r>
              <a:rPr sz="2000" b="0">
                <a:solidFill>
                  <a:srgbClr val="F5F7FA"/>
                </a:solidFill>
                <a:latin typeface="Arial"/>
              </a:rPr>
              <a:t> — you describe an app in the browser and it generates it, no setup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1 · ONLINE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v0.app —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🖼  v0.app result —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Paste your v0.app output screenshot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Do you think this worked well?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assumptions were made?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→ Play the game.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2 · 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Next, an IDE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00FF41"/>
                </a:solidFill>
                <a:latin typeface="Arial"/>
              </a:rPr>
              <a:t>VS Code + GitHub Copilot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Your editor becomes the agent: it plans and edits across your whole repo. Cursor is a similar option (18+).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2 · 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Let’s walk through VS Code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8A94A6"/>
                </a:solidFill>
                <a:latin typeface="Arial"/>
              </a:rPr>
              <a:t>Install VS Code, add the GitHub Copilot extension, open your repo, and turn on agent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2 · 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Once it’s installed it looks like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▶  vscode.mp4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Drop your VS Code walkthrough clip / screenshot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are the benefits of the code living right next to the generative AI?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are the negatives?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3 · 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Lastly, run a model locally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This gives you the </a:t>
            </a:r>
            <a:r>
              <a:rPr sz="2000" b="1">
                <a:solidFill>
                  <a:srgbClr val="00FF41"/>
                </a:solidFill>
                <a:latin typeface="Arial"/>
              </a:rPr>
              <a:t>most control</a:t>
            </a:r>
            <a:r>
              <a:rPr sz="2000" b="0">
                <a:solidFill>
                  <a:srgbClr val="F5F7FA"/>
                </a:solidFill>
                <a:latin typeface="Arial"/>
              </a:rPr>
              <a:t> over the AI models themselves — and you can add many different tools on top of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METHOD 3 · LOCAL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Running a model locally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2331720"/>
            <a:ext cx="7772400" cy="35661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0" y="338328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FF41"/>
                </a:solidFill>
                <a:latin typeface="Courier New"/>
              </a:rPr>
              <a:t>▶  local.mp4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14800"/>
            <a:ext cx="7772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Drop your local-model clip / screenshot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What could you do running the model locally that you can’t with the other two methods?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If running the program is separated from the model, what problems can that cause?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DISCUSS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Given the three methods of interacting with generative AI for programming —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which method is best in which situation?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GOALS FOR THE 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Goals for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GitHub repo cloned locally to your computer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Updates pushed to your own repo copy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Set up and chosen a primary vibe coding tool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Worked on Activity 1 (your website)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Website is hosted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Submitted your Vibe-Trace</a:t>
            </a:r>
          </a:p>
          <a:p>
            <a:pPr algn="l">
              <a:lnSpc>
                <a:spcPct val="135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✓  </a:t>
            </a:r>
            <a:r>
              <a:rPr sz="2000" b="0">
                <a:solidFill>
                  <a:srgbClr val="F5F7FA"/>
                </a:solidFill>
                <a:latin typeface="Arial"/>
              </a:rPr>
              <a:t>Submitted your activity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TUESDAY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Led by Hauke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READING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Why Johnny Can’t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F5F7FA"/>
                </a:solidFill>
                <a:latin typeface="Arial"/>
              </a:rPr>
              <a:t>Prompting feels like natural language, but small wording changes swing the output. “Vibe coding” leans on intuition; </a:t>
            </a:r>
            <a:r>
              <a:rPr sz="2200" b="1">
                <a:solidFill>
                  <a:srgbClr val="00FF41"/>
                </a:solidFill>
                <a:latin typeface="Arial"/>
              </a:rPr>
              <a:t>prompt engineering</a:t>
            </a:r>
            <a:r>
              <a:rPr sz="2200" b="0">
                <a:solidFill>
                  <a:srgbClr val="F5F7FA"/>
                </a:solidFill>
                <a:latin typeface="Arial"/>
              </a:rPr>
              <a:t> is the disciplined version — closer to writing software requirements.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Reading: Zamfirescu-Pereira et al., “Why Johnny Can’t Prompt” (CHI ’23).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PROMPT TIP ·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Make it 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Generic prompt → generic app — the model falls back on its averaged defaults (remember the Mirror Effect).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Feed it </a:t>
            </a:r>
            <a:r>
              <a:rPr sz="2000" b="1">
                <a:solidFill>
                  <a:srgbClr val="00FF41"/>
                </a:solidFill>
                <a:latin typeface="Arial"/>
              </a:rPr>
              <a:t>your</a:t>
            </a:r>
            <a:r>
              <a:rPr sz="2000" b="0">
                <a:solidFill>
                  <a:srgbClr val="F5F7FA"/>
                </a:solidFill>
                <a:latin typeface="Arial"/>
              </a:rPr>
              <a:t> specifics: your content, your voice, real names and photos, a reference you actually like. Concrete context is what pulls the output away from the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PROMPT TIP ·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Vibe-code the controls, not just the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Don’t re-prompt for every tweak — ask the AI to expose knobs: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“Add sliders / CSS variables for spacing, colors, and font size so I can fine-tune it myself.”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Now you iterate by hand — fast, and without spending another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PROMPT TIP ·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Nail the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Describe the aesthetic — don’t just name the feature.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Reference a style or a site you like (“minimal, editorial, lots of whitespace, mono type”), paste a screenshot, name your colors.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Then iterate on the vibe: “more playful”, “darker”, “more Awwwards”.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PROMPT TIP ·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Deal with quota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Free tiers run out — every wasted regeneration is wasted quota.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Plan the prompt before you spend a generation.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Make one bigger, specific ask instead of ten vague ones.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Save your transcripts, and know when to switch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PROMPT TIP ·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value of a vibe-coded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What makes it good isn’t that AI made it — it’s </a:t>
            </a:r>
            <a:r>
              <a:rPr sz="2000" b="1">
                <a:solidFill>
                  <a:srgbClr val="00FF41"/>
                </a:solidFill>
                <a:latin typeface="Arial"/>
              </a:rPr>
              <a:t>your taste and iteration</a:t>
            </a:r>
            <a:r>
              <a:rPr sz="2000" b="0">
                <a:solidFill>
                  <a:srgbClr val="F5F7FA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e.g. Isometric NYC — cannoneyed.com/projects/isometric-nyc — a striking artifact that reflects human judgment, not a one-click default.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>Aim for something only you would have made.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Compare different prompting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Run the SAME task through 2+ vibe coding tools.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Vary one lever at a time: specificity · persona · examples · constraints.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Collect the outputs side-by-side.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Note which prompt moves changed quality vs. style vs. correctness — and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WEDNESDAY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Bias in Vibe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Led by Jonathan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Visual &amp; functional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Identify how LLM training data manifests as visual and functional bias in generated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Tool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Evaluate different vibe coding tools (Lovable, Bolt, Vibe Code App) for consistency and stereotyping.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AUTO-AWESOME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Inclusive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Develop strategies for ‘de-biasing’ prompts to ensure more inclusive outputs.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FOUNDATION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What is bias?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>
                <a:solidFill>
                  <a:srgbClr val="8A94A6"/>
                </a:solidFill>
                <a:latin typeface="Arial"/>
              </a:rPr>
              <a:t>Bias is a systematic skew in outputs — patterns the model treats as the default because they dominate its training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is “Vibe Bias”?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VISUAL STEREOTYPES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Palette &amp; aesthetics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e.g. ‘Professional’ defaults to blue, white, corporate aesthetics.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FUNCTIONAL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Defaults baked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e.g. assuming US-style addresses or phone-number formats.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ACCESSIBILITY OVERSIGHTS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Who’s left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e.g. low contrast ratios or non-semantic HTML structures.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CORE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Mirror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F5F7FA"/>
                </a:solidFill>
                <a:latin typeface="Arial"/>
              </a:rPr>
              <a:t>LLMs don’t “design” — they predict the next most likely token.</a:t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F5F7FA"/>
                </a:solidFill>
                <a:latin typeface="Arial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2000" b="0">
                <a:solidFill>
                  <a:srgbClr val="8A94A6"/>
                </a:solidFill>
                <a:latin typeface="Arial"/>
              </a:rPr>
              <a:t>Prompt for a “Healthcare Dashboard” and the tool reflects the average of 10,000 existing dashboards — including all their flaws and lack of diversity.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FF41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7FA"/>
                </a:solidFill>
                <a:latin typeface="Arial"/>
              </a:rPr>
              <a:t>Time for some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Case study: “Make it Professional”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5212080" cy="2377440"/>
          </a:xfrm>
          <a:prstGeom prst="roundRect">
            <a:avLst/>
          </a:prstGeom>
          <a:solidFill>
            <a:srgbClr val="151B26"/>
          </a:solidFill>
          <a:ln w="1524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🖼  Result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“A standard landing page.”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377440"/>
            <a:ext cx="5212080" cy="2377440"/>
          </a:xfrm>
          <a:prstGeom prst="roundRect">
            <a:avLst/>
          </a:prstGeom>
          <a:solidFill>
            <a:srgbClr val="151B26"/>
          </a:solidFill>
          <a:ln w="1524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320040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FF41"/>
                </a:solidFill>
                <a:latin typeface="Courier New"/>
              </a:rPr>
              <a:t>🖼  Result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749039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A94A6"/>
                </a:solidFill>
                <a:latin typeface="Arial"/>
              </a:rPr>
              <a:t>“A professional landing page.”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F7FA"/>
                </a:solidFill>
                <a:latin typeface="Arial"/>
              </a:rPr>
              <a:t>The question: why does “professional” often default to one specific layout or design?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The cross-tool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mission: run the SAME prompt across three different platforms.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The prompt: “Build a social networking profile page for a community organizer in a specific area you’re familiar with.”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Look for: did it use relevant imagery or icons?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Is the terminology correct for the location?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Does the wording or layout assume anything about who uses the site?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Vibe Audit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Who is this for?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Who is this interface designed for? Who might be left out or overlooked?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ACCESSIBILITY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Does it meet the bar?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Color contrast, readability, clear navigation — basic accessibility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ASSUMPTIONS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What’s baked 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What does the design assume — payment access, name formats, language?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Strategies for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EXPLICIT PROMPTING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Say what you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From “Make a login” to “Make an accessible login using semantic HTML and high-contrast tokens.”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CONTEXT 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Feed diverse refs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Provide the AI with diverse design-system references before generating.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468880"/>
            <a:ext cx="3393338" cy="338328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2468880"/>
            <a:ext cx="3393338" cy="82296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788920"/>
            <a:ext cx="28446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HUMAN-IN-THE-LOOP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3246120"/>
            <a:ext cx="28446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7FA"/>
                </a:solidFill>
                <a:latin typeface="Arial"/>
              </a:rPr>
              <a:t>Audit, don’t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4114800"/>
            <a:ext cx="284469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8A94A6"/>
                </a:solidFill>
                <a:latin typeface="Arial"/>
              </a:rPr>
              <a:t>Use your own critical lens to audit the code — not just the ‘vibe.’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WEEK 1 · THURSDAY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Project Day — Project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PROJECT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5F7FA"/>
                </a:solidFill>
                <a:latin typeface="Arial"/>
              </a:rPr>
              <a:t>Vibe code something your team wants or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Teams of 3–4. Everyone codes — rotate who drives the AI.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Pick a real problem your team has and ship a small hosted app for it.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Use the strongest tool + prompt approach you found Mon–Wed.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Deliverable: hosted link + a vibe report (tool choice, prompt log, what broke).</a:t>
            </a:r>
          </a:p>
          <a:p>
            <a:pPr algn="l">
              <a:lnSpc>
                <a:spcPct val="112000"/>
              </a:lnSpc>
            </a:pPr>
            <a:r>
              <a:rPr sz="2000" b="1">
                <a:solidFill>
                  <a:srgbClr val="00FF41"/>
                </a:solidFill>
                <a:latin typeface="Arial"/>
              </a:rPr>
              <a:t>•  </a:t>
            </a:r>
            <a:r>
              <a:rPr sz="2000" b="0">
                <a:solidFill>
                  <a:srgbClr val="F5F7FA"/>
                </a:solidFill>
                <a:latin typeface="Arial"/>
              </a:rPr>
              <a:t>Work happens in your team’s Group Project repo. Due Monday of Week 2, before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Good Code, Good Vibes · TECHIE 1121 · Cornell Tech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