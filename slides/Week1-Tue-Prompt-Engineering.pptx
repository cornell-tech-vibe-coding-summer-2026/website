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mirrors the 7/14 instructions ('Prompts that Steer the Vibe'). Everything on today's slides carries a source line — we practice the attribution we preach.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probe: BotDesigner (GPT-3 chatbot design tool). Participants across ages/professions, incl. a software engineer — the failure modes were NOT about programming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bullet is a finding from §4 of the paper. The 'cheating' quote and do/don't asymmetry are verbatim study observations (P2, P4, P9).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paper: interviewers observed 'Do not do X' much less effective than 'Do Y', yet participants overwhelmingly chose the former. Early-childhood-education literature shows the same bias in humans.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checklist IS the Activity 2 run-2 rubric. The paper's core training implication: 'end-users should collect more data than they are naturally inclined to.'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DAIR.AI's canonical framework (instruction/context/input data/output indicator), recast with a course-shaped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UVic's 7 principles, lightly compressed. CC BY 4.0 — attribution on-slide satisfies the license.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don't write ReAct prompts — they should recognize the loop to understand what agent mode is doing and why tool access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Condensed from Anthropic's &lt;frontend_aesthetics&gt; system-prompt snippet (docs, #frontend-design) and the frontend-design skill. Full snippet is worth sharing as a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Blog: https://claude.com/blog/improving-frontend-design-through-skills — best pairs:</a:t>
            </a:r>
          </a:p>
          <a:p>
            <a:r>
              <a:t>Blog layout without/with skill: ...6913d5b728dcecc13bc1f78d_f7040147.png / ...6913d5b728dcecc13bc1f77e_0ce357ff.png</a:t>
            </a:r>
          </a:p>
          <a:p>
            <a:r>
              <a:t>Dashboard without/with: ...6913d5b728dcecc13bc1f784_7beb17d0.png / ...6913d5b728dcecc13bc1f781_3705adad.png</a:t>
            </a:r>
          </a:p>
          <a:p>
            <a:r>
              <a:t>Task manager without/with: ...6913d5b728dcecc13bc1f793_875d1eef.png / ...6913d5b728dcecc13bc1f7c9_7ae52606.png</a:t>
            </a:r>
          </a:p>
          <a:p>
            <a:r>
              <a:t>All under https://cdn.prod.website-files.com/68a44d4040f98a4adf2207b6/ — credit the blog on-slide.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library for students: instead of hand-writing anti-slop prompts every time, install the skill (or crib its vocabulary). Pairs with the previous two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Hauke's own tips, kept from the original deck ('Nail the look' folded into the aesthetics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both prompts once each, in FRESH chats — one shot, no fixing. We share right after: one sentence on where vibes won and where engineering was non-negotiable.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something genuinely yours (a tool you'd use, an obsession page, a gift). Equal time is what makes the versions comparable — no 'five more minutes'.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Per-slide source lines + this credits slide keep the borrowing honest. The Anthropic tutorial is the recommended self-study path (note: its 'prefill' chapter is deprecated on current Claude models).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1 · TUESDAY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Prompt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Led by Hauke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One axis: vibe-based vs. engineered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Vibe coding leans on intuition and natural language. </a:t>
            </a:r>
            <a:r>
              <a:rPr sz="2200" b="1">
                <a:solidFill>
                  <a:srgbClr val="00FF41"/>
                </a:solidFill>
                <a:latin typeface="Arial"/>
              </a:rPr>
              <a:t>Prompt engineering</a:t>
            </a:r>
            <a:r>
              <a:rPr sz="2200" b="0">
                <a:solidFill>
                  <a:srgbClr val="F5F7FA"/>
                </a:solidFill>
                <a:latin typeface="Arial"/>
              </a:rPr>
              <a:t> is the disciplined version — closer to writing software requirements.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You’ll feel the difference twice today: fast (the four challenges), then for real (a deliberate 25+25-minute fork of your own project).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READING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Why Johnny Can’t Prompt (CHI ’23)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The study: 10 people with little or no prompting experience, given a no-code tool for building a chatbot purely with prompts.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Everyone could prompt. Almost nobody could prompt </a:t>
            </a:r>
            <a:r>
              <a:rPr sz="2200" b="1">
                <a:solidFill>
                  <a:srgbClr val="00FF41"/>
                </a:solidFill>
                <a:latin typeface="Arial"/>
              </a:rPr>
              <a:t>systematically</a:t>
            </a:r>
            <a:r>
              <a:rPr sz="2200" b="0">
                <a:solidFill>
                  <a:srgbClr val="F5F7FA"/>
                </a:solidFill>
                <a:latin typeface="Arial"/>
              </a:rPr>
              <a:t> — and the ways they failed are exactly the ways you’ll fail this afternoon.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Zamfirescu-Pereira, Wong, Hartmann &amp; Yang — today’s primary reading.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READING ·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How non-experts actually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Opportunistic tinkering — change something, retry, repeat. No hypothesis, no record.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Over-generalizing from one try: one failure → “it can’t do that”; one success → declare victory.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Human-social habits: staying polite, avoiding repetition — and refusing to paste examples because it “feels like cheating” (it isn’t; it works).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Reaching for “don’t do X” — even though “do Y” works far better.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Expecting human capabilities: memory across chats, knowing who is being addressed.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And eventually, every participant asked: “but why did it do that?”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474"/>
                </a:solidFill>
                <a:latin typeface="Courier New"/>
              </a:rPr>
              <a:t>Source: Zamfirescu-Pereira, Wong, Hartmann &amp; Yang, “Why Johnny Can’t Prompt”, CHI ’23 — dl.acm.org/10.1145/3544548.3581388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READING · IN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Say what you DO want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737360"/>
          </a:xfrm>
          <a:prstGeom prst="roundRect">
            <a:avLst/>
          </a:prstGeom>
          <a:solidFill>
            <a:srgbClr val="05080C"/>
          </a:solidFill>
          <a:ln w="15240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64008" cy="1737360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185416"/>
            <a:ext cx="1527048" cy="292608"/>
          </a:xfrm>
          <a:prstGeom prst="round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76272"/>
            <a:ext cx="152704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5080C"/>
                </a:solidFill>
                <a:latin typeface="Courier New"/>
              </a:rPr>
              <a:t>DON’T-STYLE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87752"/>
            <a:ext cx="4663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5C5C"/>
                </a:solidFill>
                <a:latin typeface="Courier New"/>
              </a:rPr>
              <a:t>&gt; </a:t>
            </a:r>
            <a:r>
              <a:rPr sz="1400" b="0">
                <a:solidFill>
                  <a:srgbClr val="D9F7E1"/>
                </a:solidFill>
                <a:latin typeface="Courier New"/>
              </a:rPr>
              <a:t>Do not use markdown in your response.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78808"/>
            <a:ext cx="5212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8A94A6"/>
                </a:solidFill>
                <a:latin typeface="Arial"/>
              </a:rPr>
              <a:t>Negations often just don’t land. In the study, P4 stacked “don’t say…” instructions that had no effect at 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2331720"/>
            <a:ext cx="5212080" cy="1737360"/>
          </a:xfrm>
          <a:prstGeom prst="roundRect">
            <a:avLst/>
          </a:prstGeom>
          <a:solidFill>
            <a:srgbClr val="05080C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6792" y="2331720"/>
            <a:ext cx="64008" cy="173736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185416"/>
            <a:ext cx="1170432" cy="292608"/>
          </a:xfrm>
          <a:prstGeom prst="round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176272"/>
            <a:ext cx="11704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5080C"/>
                </a:solidFill>
                <a:latin typeface="Courier New"/>
              </a:rPr>
              <a:t>DO-STYLE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587752"/>
            <a:ext cx="4663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FF41"/>
                </a:solidFill>
                <a:latin typeface="Courier New"/>
              </a:rPr>
              <a:t>&gt; </a:t>
            </a:r>
            <a:r>
              <a:rPr sz="1400" b="0">
                <a:solidFill>
                  <a:srgbClr val="D9F7E1"/>
                </a:solidFill>
                <a:latin typeface="Courier New"/>
              </a:rPr>
              <a:t>Your response should be composed of smoothly flowing prose paragraphs.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4178808"/>
            <a:ext cx="5212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8A94A6"/>
                </a:solidFill>
                <a:latin typeface="Arial"/>
              </a:rPr>
              <a:t>Positive framing states the target behavior — nothing to mis-negate.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84632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</a:t>
            </a:r>
            <a:r>
              <a:rPr sz="1600" b="0">
                <a:solidFill>
                  <a:srgbClr val="F5F7FA"/>
                </a:solidFill>
                <a:latin typeface="Arial"/>
              </a:rPr>
              <a:t>Tell it what to do, not what to avoid — and explain why, so the model can generalize.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474"/>
                </a:solidFill>
                <a:latin typeface="Courier New"/>
              </a:rPr>
              <a:t>Source: Anthropic, Claude prompting best practices · Zamfirescu-Pereira et al., CHI ’23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THE DISCIPLINE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Prompt like an engineer, not a tinkerer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Know why the last prompt failed before writing the next one.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Change ONE variable at a time — wording, example, or structure.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Test more than once before concluding “it can’t do that”.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Use examples. It isn’t cheating — it’s the most reliable steering tool there is.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Keep the receipts: your auto-logged history.md is your lab notebook.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474"/>
                </a:solidFill>
                <a:latin typeface="Courier New"/>
              </a:rPr>
              <a:t>Source: iteration discipline from Zamfirescu-Pereira et al., CHI ’23 (§5.1)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ANATOMY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The four parts of a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Most prompts contain up to four elements. Label them mentally and you can debug them separately.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10515600" cy="2011680"/>
          </a:xfrm>
          <a:prstGeom prst="roundRect">
            <a:avLst/>
          </a:prstGeom>
          <a:solidFill>
            <a:srgbClr val="05080C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880360"/>
            <a:ext cx="64008" cy="201168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128" y="2734056"/>
            <a:ext cx="1051560" cy="292608"/>
          </a:xfrm>
          <a:prstGeom prst="round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724912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5080C"/>
                </a:solidFill>
                <a:latin typeface="Courier New"/>
              </a:rPr>
              <a:t>ANATOMY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136392"/>
            <a:ext cx="9966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FF41"/>
                </a:solidFill>
                <a:latin typeface="Courier New"/>
              </a:rPr>
              <a:t>&gt; </a:t>
            </a:r>
            <a:r>
              <a:rPr sz="1400" b="0">
                <a:solidFill>
                  <a:srgbClr val="D9F7E1"/>
                </a:solidFill>
                <a:latin typeface="Courier New"/>
              </a:rPr>
              <a:t>Instruction:  Build a one-page portfolio site in HTML/CSS.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Context:      I’m a photography student; monochrome, image-first.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Input data:   Use the bio and six image captions pasted below.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Output:       A single index.html, no frameworks, mobile-first.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→ </a:t>
            </a:r>
            <a:r>
              <a:rPr sz="1600" b="0">
                <a:solidFill>
                  <a:srgbClr val="F5F7FA"/>
                </a:solidFill>
                <a:latin typeface="Arial"/>
              </a:rPr>
              <a:t>When a prompt fails, ask which element was missing or vague — instruction, context, input, or output format.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474"/>
                </a:solidFill>
                <a:latin typeface="Courier New"/>
              </a:rPr>
              <a:t>Source: element framework: DAIR.AI Prompt Engineering Guide — promptingguide.ai/introduction/elements (MIT)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VOCABULARY · 1/2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Words you need this week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5486400" cy="1115568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54864" cy="1115568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5856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24328"/>
            <a:ext cx="5029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A"/>
                </a:solidFill>
                <a:latin typeface="Arial"/>
              </a:rPr>
              <a:t>Everything the model sees this turn — instruction, context, examples,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2148840"/>
            <a:ext cx="5486400" cy="1115568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36792" y="2148840"/>
            <a:ext cx="54864" cy="1115568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25856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system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624328"/>
            <a:ext cx="5029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A"/>
                </a:solidFill>
                <a:latin typeface="Arial"/>
              </a:rPr>
              <a:t>Standing instructions that frame the whole session and outrank the chat — where roles and rules live.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29000"/>
            <a:ext cx="5486400" cy="1115568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429000"/>
            <a:ext cx="54864" cy="1115568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387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04488"/>
            <a:ext cx="5029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A"/>
                </a:solidFill>
                <a:latin typeface="Arial"/>
              </a:rPr>
              <a:t>The unit models read and write (≈¾ of a word). You pay, and wait, per token.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3429000"/>
            <a:ext cx="5486400" cy="1115568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36792" y="3429000"/>
            <a:ext cx="54864" cy="1115568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5387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context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904488"/>
            <a:ext cx="5029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A"/>
                </a:solidFill>
                <a:latin typeface="Arial"/>
              </a:rPr>
              <a:t>The model’s working memory. Files, chat, and output must all fit — overflow gets forgotten.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09160"/>
            <a:ext cx="5486400" cy="1115568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709160"/>
            <a:ext cx="54864" cy="1115568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1888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temperature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184648"/>
            <a:ext cx="5029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A"/>
                </a:solidFill>
                <a:latin typeface="Arial"/>
              </a:rPr>
              <a:t>The randomness dial: low = precise and repeatable, high = creative and loose.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36792" y="4709160"/>
            <a:ext cx="5486400" cy="1115568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36792" y="4709160"/>
            <a:ext cx="54864" cy="1115568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481888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hallucination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5184648"/>
            <a:ext cx="5029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A"/>
                </a:solidFill>
                <a:latin typeface="Arial"/>
              </a:rPr>
              <a:t>Fluent, confident output that is simply wrong. Grounding in real files and docs is the antidote.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474"/>
                </a:solidFill>
                <a:latin typeface="Courier New"/>
              </a:rPr>
              <a:t>Source: definitions after promptingguide.ai &amp; Anthropic docs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VOCABULARY · 2/2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Words you need this week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5486400" cy="1115568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54864" cy="1115568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5856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zero-shot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24328"/>
            <a:ext cx="5029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A"/>
                </a:solidFill>
                <a:latin typeface="Arial"/>
              </a:rPr>
              <a:t>Just ask, no examples — the default mode with modern instruction-tuned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2148840"/>
            <a:ext cx="5486400" cy="1115568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36792" y="2148840"/>
            <a:ext cx="54864" cy="1115568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25856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few-shot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624328"/>
            <a:ext cx="5029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A"/>
                </a:solidFill>
                <a:latin typeface="Arial"/>
              </a:rPr>
              <a:t>Show 2–5 examples of what you want first; the model copies the pattern.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29000"/>
            <a:ext cx="5486400" cy="1115568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429000"/>
            <a:ext cx="54864" cy="1115568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387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chain-of-thought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04488"/>
            <a:ext cx="5029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A"/>
                </a:solidFill>
                <a:latin typeface="Arial"/>
              </a:rPr>
              <a:t>Make the model reason before answering — “explain your plan before writing code”.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3429000"/>
            <a:ext cx="5486400" cy="1115568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36792" y="3429000"/>
            <a:ext cx="54864" cy="1115568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5387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prompt chaining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904488"/>
            <a:ext cx="5029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A"/>
                </a:solidFill>
                <a:latin typeface="Arial"/>
              </a:rPr>
              <a:t>Split a big task into steps; each prompt builds on the last output. Debuggable.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09160"/>
            <a:ext cx="5486400" cy="1115568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709160"/>
            <a:ext cx="54864" cy="1115568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1888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RAG / grounding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184648"/>
            <a:ext cx="5029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A"/>
                </a:solidFill>
                <a:latin typeface="Arial"/>
              </a:rPr>
              <a:t>Hand the model real documents to answer from instead of memory — @-files, pasted docs.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36792" y="4709160"/>
            <a:ext cx="5486400" cy="1115568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36792" y="4709160"/>
            <a:ext cx="54864" cy="1115568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481888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agent (ReAct loop)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5184648"/>
            <a:ext cx="5029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5F7FA"/>
                </a:solidFill>
                <a:latin typeface="Arial"/>
              </a:rPr>
              <a:t>Think → act (run a tool) → observe → repeat. This is what Copilot agent mode does.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474"/>
                </a:solidFill>
                <a:latin typeface="Courier New"/>
              </a:rPr>
              <a:t>Source: definitions after promptingguide.ai &amp; Anthropic docs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Seven principles of prompt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Be concise — simple language, no filler.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Be clear — no vague or ambiguous wording.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Include context &amp; logical structure.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Break down complex tasks — one ask per prompt.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Specify the output — style, tone, depth, length, format.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Reflect &amp; adapt — not the outcome you wanted? Adjust, re-run.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Combine them — the principles compound.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474"/>
                </a:solidFill>
                <a:latin typeface="Courier New"/>
              </a:rPr>
              <a:t>Source: UVic Libraries, “Prompt Engineering for GenAI — Beginner Course” (CC BY 4.0) — libguides.uvic.ca/Prompt_Engineering_Beginners_Course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PRINCIPLE · SPECIFY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Every unstated detail is a decision you delegate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2286000"/>
          </a:xfrm>
          <a:prstGeom prst="roundRect">
            <a:avLst/>
          </a:prstGeom>
          <a:solidFill>
            <a:srgbClr val="05080C"/>
          </a:solidFill>
          <a:ln w="15240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64008" cy="2286000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185416"/>
            <a:ext cx="813816" cy="292608"/>
          </a:xfrm>
          <a:prstGeom prst="round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76272"/>
            <a:ext cx="8138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5080C"/>
                </a:solidFill>
                <a:latin typeface="Courier New"/>
              </a:rPr>
              <a:t>VAGUE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87752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5C5C"/>
                </a:solidFill>
                <a:latin typeface="Courier New"/>
              </a:rPr>
              <a:t>&gt; </a:t>
            </a:r>
            <a:r>
              <a:rPr sz="1400" b="0">
                <a:solidFill>
                  <a:srgbClr val="D9F7E1"/>
                </a:solidFill>
                <a:latin typeface="Courier New"/>
              </a:rPr>
              <a:t>Draft a paragraph on climate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27448"/>
            <a:ext cx="5212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8A94A6"/>
                </a:solidFill>
                <a:latin typeface="Arial"/>
              </a:rPr>
              <a:t>No audience, style, length, or format — the model picks its averaged defaults for all four.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2331720"/>
            <a:ext cx="5212080" cy="2286000"/>
          </a:xfrm>
          <a:prstGeom prst="roundRect">
            <a:avLst/>
          </a:prstGeom>
          <a:solidFill>
            <a:srgbClr val="05080C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6792" y="2331720"/>
            <a:ext cx="64008" cy="2286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185416"/>
            <a:ext cx="1289304" cy="292608"/>
          </a:xfrm>
          <a:prstGeom prst="round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176272"/>
            <a:ext cx="12893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5080C"/>
                </a:solidFill>
                <a:latin typeface="Courier New"/>
              </a:rPr>
              <a:t>SPECIFIED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587752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FF41"/>
                </a:solidFill>
                <a:latin typeface="Courier New"/>
              </a:rPr>
              <a:t>&gt; </a:t>
            </a:r>
            <a:r>
              <a:rPr sz="1400" b="0">
                <a:solidFill>
                  <a:srgbClr val="D9F7E1"/>
                </a:solidFill>
                <a:latin typeface="Courier New"/>
              </a:rPr>
              <a:t>Draft a newspaper paragraph of 500 words including a headline, on the effects of climate change. Apply the simplified grammar of a tabloid paper, and use sensational language.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4727448"/>
            <a:ext cx="5212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8A94A6"/>
                </a:solidFill>
                <a:latin typeface="Arial"/>
              </a:rPr>
              <a:t>Style, tone, length, and format all pinned down — one shot lands far closer.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3949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</a:t>
            </a:r>
            <a:r>
              <a:rPr sz="1600" b="0">
                <a:solidFill>
                  <a:srgbClr val="F5F7FA"/>
                </a:solidFill>
                <a:latin typeface="Arial"/>
              </a:rPr>
              <a:t>Challenge C is exactly this experiment: 30 seconds of vibes vs. 10 minutes of spec, one shot each.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474"/>
                </a:solidFill>
                <a:latin typeface="Courier New"/>
              </a:rPr>
              <a:t>Source: example prompts: UVic Libraries (CC BY 4.0)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PRINCIPLE · BE DIRECT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If you want ambition, ask for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2286000"/>
          </a:xfrm>
          <a:prstGeom prst="roundRect">
            <a:avLst/>
          </a:prstGeom>
          <a:solidFill>
            <a:srgbClr val="05080C"/>
          </a:solidFill>
          <a:ln w="15240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64008" cy="2286000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185416"/>
            <a:ext cx="694944" cy="292608"/>
          </a:xfrm>
          <a:prstGeom prst="round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76272"/>
            <a:ext cx="6949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5080C"/>
                </a:solidFill>
                <a:latin typeface="Courier New"/>
              </a:rPr>
              <a:t>BARE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87752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5C5C"/>
                </a:solidFill>
                <a:latin typeface="Courier New"/>
              </a:rPr>
              <a:t>&gt; </a:t>
            </a:r>
            <a:r>
              <a:rPr sz="1400" b="0">
                <a:solidFill>
                  <a:srgbClr val="D9F7E1"/>
                </a:solidFill>
                <a:latin typeface="Courier New"/>
              </a:rPr>
              <a:t>Create an analytics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27448"/>
            <a:ext cx="5212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8A94A6"/>
                </a:solidFill>
                <a:latin typeface="Arial"/>
              </a:rPr>
              <a:t>Correct but minimal — the model does exactly this, and nothing more.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2331720"/>
            <a:ext cx="5212080" cy="2286000"/>
          </a:xfrm>
          <a:prstGeom prst="roundRect">
            <a:avLst/>
          </a:prstGeom>
          <a:solidFill>
            <a:srgbClr val="05080C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6792" y="2331720"/>
            <a:ext cx="64008" cy="2286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185416"/>
            <a:ext cx="1170432" cy="292608"/>
          </a:xfrm>
          <a:prstGeom prst="round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176272"/>
            <a:ext cx="11704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5080C"/>
                </a:solidFill>
                <a:latin typeface="Courier New"/>
              </a:rPr>
              <a:t>EXPLICIT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587752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FF41"/>
                </a:solidFill>
                <a:latin typeface="Courier New"/>
              </a:rPr>
              <a:t>&gt; </a:t>
            </a:r>
            <a:r>
              <a:rPr sz="1400" b="0">
                <a:solidFill>
                  <a:srgbClr val="D9F7E1"/>
                </a:solidFill>
                <a:latin typeface="Courier New"/>
              </a:rPr>
              <a:t>Create an analytics dashboard. Include as many relevant features and interactions as possible. Go beyond the basics to create a fully-featured implementation.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4727448"/>
            <a:ext cx="5212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8A94A6"/>
                </a:solidFill>
                <a:latin typeface="Arial"/>
              </a:rPr>
              <a:t>“Above and beyond” only happens when you request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3949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</a:t>
            </a:r>
            <a:r>
              <a:rPr sz="1600" b="0">
                <a:solidFill>
                  <a:srgbClr val="F5F7FA"/>
                </a:solidFill>
                <a:latin typeface="Arial"/>
              </a:rPr>
              <a:t>Golden rule: if a colleague with no context would be confused by your prompt, the model will be too.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474"/>
                </a:solidFill>
                <a:latin typeface="Courier New"/>
              </a:rPr>
              <a:t>Source: Anthropic, Claude prompting best practices — platform.claude.com/docs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TECHNIQUE · ROLE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Give the model a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A persona changes code quality, not just tone: naming, comments, error handling. You’ll test this in Challenge 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10515600" cy="1737360"/>
          </a:xfrm>
          <a:prstGeom prst="roundRect">
            <a:avLst/>
          </a:prstGeom>
          <a:solidFill>
            <a:srgbClr val="05080C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880360"/>
            <a:ext cx="64008" cy="173736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128" y="2734056"/>
            <a:ext cx="1527048" cy="292608"/>
          </a:xfrm>
          <a:prstGeom prst="round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724912"/>
            <a:ext cx="152704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5080C"/>
                </a:solidFill>
                <a:latin typeface="Courier New"/>
              </a:rPr>
              <a:t>ROLE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136392"/>
            <a:ext cx="9966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FF41"/>
                </a:solidFill>
                <a:latin typeface="Courier New"/>
              </a:rPr>
              <a:t>&gt; </a:t>
            </a:r>
            <a:r>
              <a:rPr sz="1400" b="0">
                <a:solidFill>
                  <a:srgbClr val="D9F7E1"/>
                </a:solidFill>
                <a:latin typeface="Courier New"/>
              </a:rPr>
              <a:t>You are a senior software engineer. Write a clean, PEP8-compliant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grade calculator with docstrings, error handling for non-numeric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input, and descriptive variable names.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463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→ </a:t>
            </a:r>
            <a:r>
              <a:rPr sz="1600" b="0">
                <a:solidFill>
                  <a:srgbClr val="F5F7FA"/>
                </a:solidFill>
                <a:latin typeface="Arial"/>
              </a:rPr>
              <a:t>Even one sentence of role shifts every default. UVic’s framing: “You are the movie director — the AI is your method actor.”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474"/>
                </a:solidFill>
                <a:latin typeface="Courier New"/>
              </a:rPr>
              <a:t>Source: UVic Libraries (CC BY 4.0) · Anthropic best practices (role prompting)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TECHNIQUE ·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Show, don’t tell (few-shot)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The most reliable way to steer format, tone, and structure — and the one the Johnny study’s participants avoided because it “felt like cheating.” Use 3–5 relevant, diverse examples.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10515600" cy="2103120"/>
          </a:xfrm>
          <a:prstGeom prst="roundRect">
            <a:avLst/>
          </a:prstGeom>
          <a:solidFill>
            <a:srgbClr val="05080C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880360"/>
            <a:ext cx="64008" cy="210312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128" y="2734056"/>
            <a:ext cx="1170432" cy="292608"/>
          </a:xfrm>
          <a:prstGeom prst="round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724912"/>
            <a:ext cx="11704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5080C"/>
                </a:solidFill>
                <a:latin typeface="Courier New"/>
              </a:rPr>
              <a:t>FEW-SHOT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136392"/>
            <a:ext cx="9966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FF41"/>
                </a:solidFill>
                <a:latin typeface="Courier New"/>
              </a:rPr>
              <a:t>&gt; </a:t>
            </a:r>
            <a:r>
              <a:rPr sz="1400" b="0">
                <a:solidFill>
                  <a:srgbClr val="D9F7E1"/>
                </a:solidFill>
                <a:latin typeface="Courier New"/>
              </a:rPr>
              <a:t>&lt;examples&gt;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  &lt;good&gt; …a card component in exactly the style you want… &lt;/good&gt;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  &lt;bad&gt; …the over-decorated version to avoid… &lt;/bad&gt;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&lt;/examples&gt;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Write the remaining three cards in the style of the good example.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→ </a:t>
            </a:r>
            <a:r>
              <a:rPr sz="1600" b="0">
                <a:solidFill>
                  <a:srgbClr val="F5F7FA"/>
                </a:solidFill>
                <a:latin typeface="Arial"/>
              </a:rPr>
              <a:t>In Activity 2, one good + one bad snippet counts as a toolkit technique.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474"/>
                </a:solidFill>
                <a:latin typeface="Courier New"/>
              </a:rPr>
              <a:t>Source: Anthropic best practices (multishot) · promptingguide.ai/techniques/fewshot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TECHNIQUE ·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Mark up your prompt (XML tags)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When role, style, and requirements blur into one paragraph, the model guesses at the boundaries. Tags make them explicit — and turn your prompt into a reusable template.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10515600" cy="2286000"/>
          </a:xfrm>
          <a:prstGeom prst="roundRect">
            <a:avLst/>
          </a:prstGeom>
          <a:solidFill>
            <a:srgbClr val="05080C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880360"/>
            <a:ext cx="64008" cy="2286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128" y="2734056"/>
            <a:ext cx="1170432" cy="292608"/>
          </a:xfrm>
          <a:prstGeom prst="round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724912"/>
            <a:ext cx="11704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5080C"/>
                </a:solidFill>
                <a:latin typeface="Courier New"/>
              </a:rPr>
              <a:t>XML TAGS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136392"/>
            <a:ext cx="9966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FF41"/>
                </a:solidFill>
                <a:latin typeface="Courier New"/>
              </a:rPr>
              <a:t>&gt; </a:t>
            </a:r>
            <a:r>
              <a:rPr sz="1400" b="0">
                <a:solidFill>
                  <a:srgbClr val="D9F7E1"/>
                </a:solidFill>
                <a:latin typeface="Courier New"/>
              </a:rPr>
              <a:t>&lt;role&gt;Expert frontend developer&lt;/role&gt;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&lt;style_guide&gt;Dark mode, high contrast, neon borders&lt;/style_guide&gt;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&lt;requirements&gt;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- Sidebar with 4 nav links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- Central stats grid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&lt;/requirements&gt;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→ </a:t>
            </a:r>
            <a:r>
              <a:rPr sz="1600" b="0">
                <a:solidFill>
                  <a:srgbClr val="F5F7FA"/>
                </a:solidFill>
                <a:latin typeface="Arial"/>
              </a:rPr>
              <a:t>This is the exact pattern Activity 2 asks for in your spec-first prompt.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474"/>
                </a:solidFill>
                <a:latin typeface="Courier New"/>
              </a:rPr>
              <a:t>Source: Anthropic best practices (XML tags) · UVic technique 5, “mark-up your input” (CC BY 4.0)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TECHNIQUE · THINK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Make it plan before it codes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Modern agents reason by default — your job is to steer it and make the plan visible so you can check it before code exists. Prefer general nudges (“think thoroughly”) over prescriptive step lists.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10515600" cy="1737360"/>
          </a:xfrm>
          <a:prstGeom prst="roundRect">
            <a:avLst/>
          </a:prstGeom>
          <a:solidFill>
            <a:srgbClr val="05080C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880360"/>
            <a:ext cx="64008" cy="173736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128" y="2734056"/>
            <a:ext cx="1408176" cy="292608"/>
          </a:xfrm>
          <a:prstGeom prst="round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724912"/>
            <a:ext cx="140817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5080C"/>
                </a:solidFill>
                <a:latin typeface="Courier New"/>
              </a:rPr>
              <a:t>PLAN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136392"/>
            <a:ext cx="9966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FF41"/>
                </a:solidFill>
                <a:latin typeface="Courier New"/>
              </a:rPr>
              <a:t>&gt; </a:t>
            </a:r>
            <a:r>
              <a:rPr sz="1400" b="0">
                <a:solidFill>
                  <a:srgbClr val="D9F7E1"/>
                </a:solidFill>
                <a:latin typeface="Courier New"/>
              </a:rPr>
              <a:t>Before writing any code, explain your layout logic inside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&lt;thinking&gt; tags.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Before you finish, verify the result against the requirements above.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463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→ </a:t>
            </a:r>
            <a:r>
              <a:rPr sz="1600" b="0">
                <a:solidFill>
                  <a:srgbClr val="F5F7FA"/>
                </a:solidFill>
                <a:latin typeface="Arial"/>
              </a:rPr>
              <a:t>A wrong plan is cheaper to fix than wrong code. This is Activity 2’s “thinking space” technique.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474"/>
                </a:solidFill>
                <a:latin typeface="Courier New"/>
              </a:rPr>
              <a:t>Source: Anthropic best practices (extended thinking, self-check) · promptingguide.ai/techniques/cot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TECHNIQUE · CHAINING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One ask per prompt — then chain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Overloaded prompts fail silently: five asks, three delivered, and you don’t notice. Chains are debuggable — you see exactly which step went wrong.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10515600" cy="2103120"/>
          </a:xfrm>
          <a:prstGeom prst="roundRect">
            <a:avLst/>
          </a:prstGeom>
          <a:solidFill>
            <a:srgbClr val="05080C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880360"/>
            <a:ext cx="64008" cy="210312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128" y="2734056"/>
            <a:ext cx="1645920" cy="292608"/>
          </a:xfrm>
          <a:prstGeom prst="round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724912"/>
            <a:ext cx="1645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5080C"/>
                </a:solidFill>
                <a:latin typeface="Courier New"/>
              </a:rPr>
              <a:t>PROMPT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136392"/>
            <a:ext cx="9966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FF41"/>
                </a:solidFill>
                <a:latin typeface="Courier New"/>
              </a:rPr>
              <a:t>&gt; </a:t>
            </a:r>
            <a:r>
              <a:rPr sz="1400" b="0">
                <a:solidFill>
                  <a:srgbClr val="D9F7E1"/>
                </a:solidFill>
                <a:latin typeface="Courier New"/>
              </a:rPr>
              <a:t>1. Scaffold the page structure — HTML only, no styling yet.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2. Style it, following the &lt;style_guide&gt; from before.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3. Add the API call, with loading and error states.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4. Now write tests; fix whatever fails.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→ </a:t>
            </a:r>
            <a:r>
              <a:rPr sz="1600" b="0">
                <a:solidFill>
                  <a:srgbClr val="F5F7FA"/>
                </a:solidFill>
                <a:latin typeface="Arial"/>
              </a:rPr>
              <a:t>This is how experienced vibe coders actually work — the star technique for coding agents.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474"/>
                </a:solidFill>
                <a:latin typeface="Courier New"/>
              </a:rPr>
              <a:t>Source: promptingguide.ai/techniques/prompt_chaining · UVic principle 4 (CC BY 4.0)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UNDER THE HOOD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What your agent does between your prompts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REACT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Think → act → observe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It reasons, runs a tool (read a file, run tests), observes the result, reasons again. Letting it run tests makes it smarter.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RAG / GROUNDING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Retrieve, then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Answers improve when the model pulls in real context — your files, docs, README — instead of guessing from memory. That’s why @-mentioning files works.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SELF-CORRECTION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Draft → review → refine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The most useful chain of all: generate, have it critique its own output against your criteria, then revise.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474"/>
                </a:solidFill>
                <a:latin typeface="Courier New"/>
              </a:rPr>
              <a:t>Source: promptingguide.ai (ReAct, RAG) · Anthropic best practices (self-correction chains)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TECHNIQUE · AESTHETICS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Escaping the “AI slop” 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Models converge on statistically safe design: Inter, purple gradients, cookie-cutter layouts. Anthropic’s own frontend guidance tells the model to fight that — steal the trick.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10515600" cy="2103120"/>
          </a:xfrm>
          <a:prstGeom prst="roundRect">
            <a:avLst/>
          </a:prstGeom>
          <a:solidFill>
            <a:srgbClr val="05080C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880360"/>
            <a:ext cx="64008" cy="210312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128" y="2734056"/>
            <a:ext cx="1408176" cy="292608"/>
          </a:xfrm>
          <a:prstGeom prst="round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724912"/>
            <a:ext cx="140817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5080C"/>
                </a:solidFill>
                <a:latin typeface="Courier New"/>
              </a:rPr>
              <a:t>AESTHETICS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136392"/>
            <a:ext cx="9966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FF41"/>
                </a:solidFill>
                <a:latin typeface="Courier New"/>
              </a:rPr>
              <a:t>&gt; </a:t>
            </a:r>
            <a:r>
              <a:rPr sz="1400" b="0">
                <a:solidFill>
                  <a:srgbClr val="D9F7E1"/>
                </a:solidFill>
                <a:latin typeface="Courier New"/>
              </a:rPr>
              <a:t>Avoid generic AI aesthetics: overused fonts (Inter, Roboto, Arial),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cliched purple-gradient-on-white schemes, predictable layouts.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Commit to a cohesive theme: distinctive typography, dominant colors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with sharp accents, layered backgrounds, one well-orchestrated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D9F7E1"/>
                </a:solidFill>
                <a:latin typeface="Courier New"/>
              </a:rPr>
              <a:t>  page-load animation. Make choices designed for THIS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→ </a:t>
            </a:r>
            <a:r>
              <a:rPr sz="1600" b="0">
                <a:solidFill>
                  <a:srgbClr val="F5F7FA"/>
                </a:solidFill>
                <a:latin typeface="Arial"/>
              </a:rPr>
              <a:t>Name the aesthetic and the audience: “a 1980s neon arcade at midnight” beats “20px border radius” — that’s Challenge 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474"/>
                </a:solidFill>
                <a:latin typeface="Courier New"/>
              </a:rPr>
              <a:t>Source: condensed from Anthropic’s frontend-design guidance — platform.claude.com/docs (#frontend-design)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TECHNIQUE · AESTHETICS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Same prompt, with vs. without design guidance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331720"/>
            <a:ext cx="7772400" cy="35661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338328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FF41"/>
                </a:solidFill>
                <a:latin typeface="Courier New"/>
              </a:rPr>
              <a:t>🖼  before / after pairs — Anthropic blog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4114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Arial"/>
              </a:rPr>
              <a:t>Drop in before/after screenshots from “Improving frontend design through Skills” (URLs in speaker notes).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TECHNIQUE · AESTHETICS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impeccable.style — design vocabulary, packaged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An opinionated, open-source skill you install next to your agent — “the missing design vocabulary for agents” (Paul Bakaus).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23 design commands (/typeset, /colorize, /animate, …) so you can ask for the exact thing without explaining it.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46 deterministic “anti-slop” rules that strip the AI-default design tells automatically.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Works with Copilot, Claude Code, Cursor, and more — use it as your reference when a design feels generic.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impeccable.style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474"/>
                </a:solidFill>
                <a:latin typeface="Courier New"/>
              </a:rPr>
              <a:t>Source: impeccable.style — Paul Bakaus (free &amp; open source)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AGENT PROMPTS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Say “change it”, not “could you suggest…”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737360"/>
          </a:xfrm>
          <a:prstGeom prst="roundRect">
            <a:avLst/>
          </a:prstGeom>
          <a:solidFill>
            <a:srgbClr val="05080C"/>
          </a:solidFill>
          <a:ln w="15240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64008" cy="1737360"/>
          </a:xfrm>
          <a:prstGeom prst="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185416"/>
            <a:ext cx="1170432" cy="292608"/>
          </a:xfrm>
          <a:prstGeom prst="round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76272"/>
            <a:ext cx="11704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5080C"/>
                </a:solidFill>
                <a:latin typeface="Courier New"/>
              </a:rPr>
              <a:t>SUGGESTS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87752"/>
            <a:ext cx="4663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5C5C"/>
                </a:solidFill>
                <a:latin typeface="Courier New"/>
              </a:rPr>
              <a:t>&gt; </a:t>
            </a:r>
            <a:r>
              <a:rPr sz="1400" b="0">
                <a:solidFill>
                  <a:srgbClr val="D9F7E1"/>
                </a:solidFill>
                <a:latin typeface="Courier New"/>
              </a:rPr>
              <a:t>Can you suggest some changes to improve this function?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78808"/>
            <a:ext cx="5212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8A94A6"/>
                </a:solidFill>
                <a:latin typeface="Arial"/>
              </a:rPr>
              <a:t>The agent describes improvements — and touches nothing.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2331720"/>
            <a:ext cx="5212080" cy="1737360"/>
          </a:xfrm>
          <a:prstGeom prst="roundRect">
            <a:avLst/>
          </a:prstGeom>
          <a:solidFill>
            <a:srgbClr val="05080C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6792" y="2331720"/>
            <a:ext cx="64008" cy="173736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185416"/>
            <a:ext cx="694944" cy="292608"/>
          </a:xfrm>
          <a:prstGeom prst="round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176272"/>
            <a:ext cx="6949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5080C"/>
                </a:solidFill>
                <a:latin typeface="Courier New"/>
              </a:rPr>
              <a:t>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587752"/>
            <a:ext cx="4663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FF41"/>
                </a:solidFill>
                <a:latin typeface="Courier New"/>
              </a:rPr>
              <a:t>&gt; </a:t>
            </a:r>
            <a:r>
              <a:rPr sz="1400" b="0">
                <a:solidFill>
                  <a:srgbClr val="D9F7E1"/>
                </a:solidFill>
                <a:latin typeface="Courier New"/>
              </a:rPr>
              <a:t>Change this function to improve its performance.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4178808"/>
            <a:ext cx="5212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8A94A6"/>
                </a:solidFill>
                <a:latin typeface="Arial"/>
              </a:rPr>
              <a:t>The agent edits the code. Your verbs decide: advice or action.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84632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</a:t>
            </a:r>
            <a:r>
              <a:rPr sz="1600" b="0">
                <a:solidFill>
                  <a:srgbClr val="F5F7FA"/>
                </a:solidFill>
                <a:latin typeface="Arial"/>
              </a:rPr>
              <a:t>More agent guardrails that pay off: “read the file before answering” · “minimum complexity needed” · “clean up temp files when done.”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474"/>
                </a:solidFill>
                <a:latin typeface="Courier New"/>
              </a:rPr>
              <a:t>Source: Anthropic, Claude prompting best practices (coding agents)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FIELD NOTES · 01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Make it personal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Generic prompt → generic app — the model falls back on its averaged defaults (remember the Mirror Effect).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Feed it </a:t>
            </a:r>
            <a:r>
              <a:rPr sz="2000" b="1">
                <a:solidFill>
                  <a:srgbClr val="00FF41"/>
                </a:solidFill>
                <a:latin typeface="Arial"/>
              </a:rPr>
              <a:t>your</a:t>
            </a:r>
            <a:r>
              <a:rPr sz="2000" b="0">
                <a:solidFill>
                  <a:srgbClr val="F5F7FA"/>
                </a:solidFill>
                <a:latin typeface="Arial"/>
              </a:rPr>
              <a:t> specifics: your content, your voice, real names and photos, a reference you actually like. Concrete context is what pulls the output away from the default.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FIELD NOTES · 02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Vibe-code the controls, not just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Don’t re-prompt for every tweak — ask the AI to expose knobs: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“Add sliders / CSS variables for spacing, colors, and font size so I can fine-tune it myself.”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Now you iterate by hand — fast, and without spending another generation.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FIELD NOTES · 03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Deal with quota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Free tiers run out — every wasted regeneration is wasted quota.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Plan the prompt before you spend a generation.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Make one bigger, specific ask instead of ten vague ones.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Save your transcripts, and know when to switch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FIELD NOTES · 04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The value of a vibe-coded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What makes it good isn’t that AI made it — it’s </a:t>
            </a:r>
            <a:r>
              <a:rPr sz="2000" b="1">
                <a:solidFill>
                  <a:srgbClr val="00FF41"/>
                </a:solidFill>
                <a:latin typeface="Arial"/>
              </a:rPr>
              <a:t>your taste and iteration</a:t>
            </a:r>
            <a:r>
              <a:rPr sz="2000" b="0">
                <a:solidFill>
                  <a:srgbClr val="F5F7FA"/>
                </a:solidFill>
                <a:latin typeface="Arial"/>
              </a:rPr>
              <a:t>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e.g. Isometric NYC — cannoneyed.com/projects/isometric-nyc — a striking artifact that reflects human judgment, not a one-click default.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Aim for something only you would have made.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ACTIVITY 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Four challenges — pick one, feel the axis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453563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2453563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90492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A · TIMER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90492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Mood vs. 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904923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A Pomodoro timer: “rainy coffee shop” vs. explicit requirements. → specify the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468880"/>
            <a:ext cx="2453563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468880"/>
            <a:ext cx="2453563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3723" y="2788920"/>
            <a:ext cx="190492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B · PERSONA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3246120"/>
            <a:ext cx="190492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Role prompting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3723" y="4114800"/>
            <a:ext cx="1904923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A grade calculator, ± “you are a senior engineer.” → role prompting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6" y="2468880"/>
            <a:ext cx="2453563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6" y="2468880"/>
            <a:ext cx="2453563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046" y="2788920"/>
            <a:ext cx="190492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C · SPEC DENSITY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6" y="3246120"/>
            <a:ext cx="190492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30 sec vs. 10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6" y="4114800"/>
            <a:ext cx="1904923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A link-in-bio page: throwaway prompt vs. dense spec. → be clear &amp; specific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049" y="2468880"/>
            <a:ext cx="2453563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049" y="2468880"/>
            <a:ext cx="2453563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369" y="2788920"/>
            <a:ext cx="190492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D · VAPORWAVE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369" y="3246120"/>
            <a:ext cx="190492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Aesthetic language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369" y="4114800"/>
            <a:ext cx="1904923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A game login screen: CSS specs vs. “neon arcade at midnight.” → aesthetics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ACTIVITY 2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Fork your brain (25 + 25 minutes)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Build the same project twice — once vibes-only, once engineered. The timer IS the experiment.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Run 1 — engineering brain OFF: just talk, chase the vibe, stop when the timer rings.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Run 2 — spec-first prompt using ≥2 toolkit techniques: XML tags, thinking space, or few-shot.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Iterate like Johnny couldn’t: know why the last prompt failed, change one variable at a time.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No note-taking needed — history.md logs every prompt; you’ll analyze it in the vibe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Credits — and where to go deeper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UVic Libraries</a:t>
            </a:r>
            <a:r>
              <a:rPr sz="1700" b="0">
                <a:solidFill>
                  <a:srgbClr val="F5F7FA"/>
                </a:solidFill>
                <a:latin typeface="Arial"/>
              </a:rPr>
              <a:t> — Prompt Engineering for GenAI, beginner course (CC BY 4.0): the seven principles &amp; example prompts. libguides.uvic.ca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DAIR.AI Prompt Engineering Guide</a:t>
            </a:r>
            <a:r>
              <a:rPr sz="1700" b="0">
                <a:solidFill>
                  <a:srgbClr val="F5F7FA"/>
                </a:solidFill>
                <a:latin typeface="Arial"/>
              </a:rPr>
              <a:t> — prompt anatomy, techniques, tips (MIT). promptingguide.ai — the deep well when you want more.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Anthropic</a:t>
            </a:r>
            <a:r>
              <a:rPr sz="1700" b="0">
                <a:solidFill>
                  <a:srgbClr val="F5F7FA"/>
                </a:solidFill>
                <a:latin typeface="Arial"/>
              </a:rPr>
              <a:t> — Claude prompting best practices &amp; frontend-design guidance (platform.claude.com/docs); hands-on 9-chapter tutorial: github.com/anthropics/prompt-eng-interactive-tutorial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Zamfirescu-Pereira, Wong, Hartmann &amp; Yang</a:t>
            </a:r>
            <a:r>
              <a:rPr sz="1700" b="0">
                <a:solidFill>
                  <a:srgbClr val="F5F7FA"/>
                </a:solidFill>
                <a:latin typeface="Arial"/>
              </a:rPr>
              <a:t> — “Why Johnny Can’t Prompt”, CHI ’23: the study behind today’s discipline.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impeccable.style</a:t>
            </a:r>
            <a:r>
              <a:rPr sz="1700" b="0">
                <a:solidFill>
                  <a:srgbClr val="F5F7FA"/>
                </a:solidFill>
                <a:latin typeface="Arial"/>
              </a:rPr>
              <a:t> — Paul Bakaus’s open-source design vocabulary &amp; anti-slop rules for coding agents.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