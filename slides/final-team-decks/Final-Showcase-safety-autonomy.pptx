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strong: name your value + who it's for in one breath. Replace [ Your project name 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Justify the value: why THIS value, for THIS person. This is the spine of the whole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specific human, not 'everyone'. Drop the persona card (and, if you like, a line from the chatbot interview).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arc, not a test report: research findings → alternatives → the design that best moves the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Rough storyboards (diverge, one per person) + the refined team storyboard (converge). Show the value living in the frames.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demo the happy path. The value should live in the DESIGN, not just the wording.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Evidence, not hope. Report what does NOT work as carefully as what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Embed the pitch video (screen recording, acted, animated, or AI). Keep a backup file in presentation/.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Credible afterlife answer + individual credit + a genuine one-line takeaway.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FF41"/>
                </a:solidFill>
                <a:latin typeface="Courier New"/>
              </a:rPr>
              <a:t>FINAL PROJECT   ·   SHOWCASE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192024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5F7FA"/>
                </a:solidFill>
                <a:latin typeface="Arial"/>
              </a:rPr>
              <a:t>The Safety &amp; Autonomy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FF41"/>
                </a:solidFill>
                <a:latin typeface="Arial"/>
              </a:rPr>
              <a:t>[ Your project name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977639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8A94A6"/>
                </a:solidFill>
                <a:latin typeface="Arial"/>
              </a:rPr>
              <a:t>John Maida · Ajin Yohannan · Benjamin Rose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48056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A6474"/>
                </a:solidFill>
                <a:latin typeface="Courier New"/>
              </a:rPr>
              <a:t>Project 2: Vault Notes - a locking journal for high-school students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Final Project · Showcase · TECHIE 1121 · Cornell Tech · Thu Jul 30 (3-5)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3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01 · OUR VALUE — AND WHY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70432"/>
            <a:ext cx="1054303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A"/>
                </a:solidFill>
                <a:latin typeface="Arial"/>
              </a:rPr>
              <a:t>The value we built for, and why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57984"/>
            <a:ext cx="1054303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8A94A6"/>
                </a:solidFill>
                <a:latin typeface="Arial"/>
              </a:rPr>
              <a:t>The value we carried — and why it matters for someone outside this class.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999232"/>
            <a:ext cx="10543032" cy="288036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273552"/>
            <a:ext cx="9966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PUT ON THIS SLIDE   ·   replace the [ …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840480"/>
            <a:ext cx="99212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1">
                <a:solidFill>
                  <a:srgbClr val="00FF41"/>
                </a:solidFill>
                <a:latin typeface="Arial"/>
              </a:rPr>
              <a:t>→  </a:t>
            </a:r>
            <a:r>
              <a:rPr sz="1800" b="0">
                <a:solidFill>
                  <a:srgbClr val="F5F7FA"/>
                </a:solidFill>
                <a:latin typeface="Arial"/>
              </a:rPr>
              <a:t>Our value: [ ___ ]   ·   mode: support / defend / repair</a:t>
            </a:r>
          </a:p>
          <a:p>
            <a:pPr algn="l">
              <a:lnSpc>
                <a:spcPct val="142000"/>
              </a:lnSpc>
            </a:pPr>
            <a:r>
              <a:rPr sz="1800" b="1">
                <a:solidFill>
                  <a:srgbClr val="00FF41"/>
                </a:solidFill>
                <a:latin typeface="Arial"/>
              </a:rPr>
              <a:t>→  </a:t>
            </a:r>
            <a:r>
              <a:rPr sz="1800" b="0">
                <a:solidFill>
                  <a:srgbClr val="F5F7FA"/>
                </a:solidFill>
                <a:latin typeface="Arial"/>
              </a:rPr>
              <a:t>Why it matters: [ the harm we prevent, or the good we enable ]</a:t>
            </a:r>
          </a:p>
          <a:p>
            <a:pPr algn="l">
              <a:lnSpc>
                <a:spcPct val="142000"/>
              </a:lnSpc>
            </a:pPr>
            <a:r>
              <a:rPr sz="1800" b="1">
                <a:solidFill>
                  <a:srgbClr val="00FF41"/>
                </a:solidFill>
                <a:latin typeface="Arial"/>
              </a:rPr>
              <a:t>→  </a:t>
            </a:r>
            <a:r>
              <a:rPr sz="1800" b="0">
                <a:solidFill>
                  <a:srgbClr val="F5F7FA"/>
                </a:solidFill>
                <a:latin typeface="Arial"/>
              </a:rPr>
              <a:t>Who benefits, specifically: [ not 'students' — name them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Final Project · Showcase · TECHIE 1121 · Cornell Tech · Thu Jul 30 (3-5)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3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02 · WHO IT'S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70432"/>
            <a:ext cx="1054303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A"/>
                </a:solidFill>
                <a:latin typeface="Arial"/>
              </a:rPr>
              <a:t>The person we designed 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57984"/>
            <a:ext cx="1054303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8A94A6"/>
                </a:solidFill>
                <a:latin typeface="Arial"/>
              </a:rPr>
              <a:t>The persona we built and interviewed — and what they actually need.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88920"/>
            <a:ext cx="10543032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F5F7FA"/>
                </a:solidFill>
                <a:latin typeface="Arial"/>
              </a:rPr>
              <a:t>Persona: [ name · situation · goal · frustration ]</a:t>
            </a:r>
          </a:p>
          <a:p>
            <a:pPr algn="l">
              <a:lnSpc>
                <a:spcPct val="130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F5F7FA"/>
                </a:solidFill>
                <a:latin typeface="Arial"/>
              </a:rPr>
              <a:t>The need, in their words: [ quote from the interview 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840480"/>
            <a:ext cx="10543032" cy="2103120"/>
          </a:xfrm>
          <a:prstGeom prst="roundRect">
            <a:avLst/>
          </a:prstGeom>
          <a:solidFill>
            <a:srgbClr val="151B26"/>
          </a:solidFill>
          <a:ln w="19050">
            <a:solidFill>
              <a:srgbClr val="00FF4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690872"/>
            <a:ext cx="10543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00FF41"/>
                </a:solidFill>
                <a:latin typeface="Courier New"/>
              </a:rPr>
              <a:t>[ persona screenshot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Final Project · Showcase · TECHIE 1121 · Cornell Tech · Thu Jul 30 (3-5)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3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03 · THE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70432"/>
            <a:ext cx="1054303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A"/>
                </a:solidFill>
                <a:latin typeface="Arial"/>
              </a:rPr>
              <a:t>From Project 2 to this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57984"/>
            <a:ext cx="1054303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8A94A6"/>
                </a:solidFill>
                <a:latin typeface="Arial"/>
              </a:rPr>
              <a:t>What Tuesday's verification showed, what we considered, and what we chose.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999232"/>
            <a:ext cx="10543032" cy="288036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273552"/>
            <a:ext cx="9966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PUT ON THIS SLIDE   ·   replace the [ …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840480"/>
            <a:ext cx="99212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1">
                <a:solidFill>
                  <a:srgbClr val="00FF41"/>
                </a:solidFill>
                <a:latin typeface="Arial"/>
              </a:rPr>
              <a:t>→  </a:t>
            </a:r>
            <a:r>
              <a:rPr sz="1800" b="0">
                <a:solidFill>
                  <a:srgbClr val="F5F7FA"/>
                </a:solidFill>
                <a:latin typeface="Arial"/>
              </a:rPr>
              <a:t>Project 2 → what the verification showed: [ ___ ]</a:t>
            </a:r>
          </a:p>
          <a:p>
            <a:pPr algn="l">
              <a:lnSpc>
                <a:spcPct val="142000"/>
              </a:lnSpc>
            </a:pPr>
            <a:r>
              <a:rPr sz="1800" b="1">
                <a:solidFill>
                  <a:srgbClr val="00FF41"/>
                </a:solidFill>
                <a:latin typeface="Arial"/>
              </a:rPr>
              <a:t>→  </a:t>
            </a:r>
            <a:r>
              <a:rPr sz="1800" b="0">
                <a:solidFill>
                  <a:srgbClr val="F5F7FA"/>
                </a:solidFill>
                <a:latin typeface="Arial"/>
              </a:rPr>
              <a:t>Design alternatives we considered: [ ___ ]</a:t>
            </a:r>
          </a:p>
          <a:p>
            <a:pPr algn="l">
              <a:lnSpc>
                <a:spcPct val="142000"/>
              </a:lnSpc>
            </a:pPr>
            <a:r>
              <a:rPr sz="1800" b="1">
                <a:solidFill>
                  <a:srgbClr val="00FF41"/>
                </a:solidFill>
                <a:latin typeface="Arial"/>
              </a:rPr>
              <a:t>→  </a:t>
            </a:r>
            <a:r>
              <a:rPr sz="1800" b="0">
                <a:solidFill>
                  <a:srgbClr val="F5F7FA"/>
                </a:solidFill>
                <a:latin typeface="Arial"/>
              </a:rPr>
              <a:t>The design we chose — and why: [ ___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Final Project · Showcase · TECHIE 1121 · Cornell Tech · Thu Jul 30 (3-5)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3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04 · STORYBOARD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70432"/>
            <a:ext cx="1054303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A"/>
                </a:solidFill>
                <a:latin typeface="Arial"/>
              </a:rPr>
              <a:t>How the idea took shape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57984"/>
            <a:ext cx="1054303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8A94A6"/>
                </a:solidFill>
                <a:latin typeface="Arial"/>
              </a:rPr>
              <a:t>Rough sketches to find the idea → one refined storyboard to tell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999232"/>
            <a:ext cx="5088636" cy="2880360"/>
          </a:xfrm>
          <a:prstGeom prst="roundRect">
            <a:avLst/>
          </a:prstGeom>
          <a:solidFill>
            <a:srgbClr val="151B26"/>
          </a:solidFill>
          <a:ln w="19050">
            <a:solidFill>
              <a:srgbClr val="00FF4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238244"/>
            <a:ext cx="50886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0FF41"/>
                </a:solidFill>
                <a:latin typeface="Courier New"/>
              </a:rPr>
              <a:t>[ ROUGH — one per member 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7356" y="2999232"/>
            <a:ext cx="5088636" cy="2880360"/>
          </a:xfrm>
          <a:prstGeom prst="roundRect">
            <a:avLst/>
          </a:prstGeom>
          <a:solidFill>
            <a:srgbClr val="151B26"/>
          </a:solidFill>
          <a:ln w="19050">
            <a:solidFill>
              <a:srgbClr val="00FF4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77356" y="4238244"/>
            <a:ext cx="50886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0FF41"/>
                </a:solidFill>
                <a:latin typeface="Courier New"/>
              </a:rPr>
              <a:t>[ REFINED — team storyboard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Final Project · Showcase · TECHIE 1121 · Cornell Tech · Thu Jul 30 (3-5)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3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05 · THE SOLUTION — OUR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70432"/>
            <a:ext cx="1054303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A"/>
                </a:solidFill>
                <a:latin typeface="Arial"/>
              </a:rPr>
              <a:t>The smallest real thing — done 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57984"/>
            <a:ext cx="1054303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8A94A6"/>
                </a:solidFill>
                <a:latin typeface="Arial"/>
              </a:rPr>
              <a:t>What it does, the one complete action, and where the value lives in the design.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88920"/>
            <a:ext cx="10543032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F5F7FA"/>
                </a:solidFill>
                <a:latin typeface="Arial"/>
              </a:rPr>
              <a:t>What it does + the one complete action: [ ___ ]</a:t>
            </a:r>
          </a:p>
          <a:p>
            <a:pPr algn="l">
              <a:lnSpc>
                <a:spcPct val="130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F5F7FA"/>
                </a:solidFill>
                <a:latin typeface="Arial"/>
              </a:rPr>
              <a:t>Where the value lives in the design (not just the copy): [ ___ 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840480"/>
            <a:ext cx="10543032" cy="2103120"/>
          </a:xfrm>
          <a:prstGeom prst="roundRect">
            <a:avLst/>
          </a:prstGeom>
          <a:solidFill>
            <a:srgbClr val="151B26"/>
          </a:solidFill>
          <a:ln w="19050">
            <a:solidFill>
              <a:srgbClr val="00FF4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690872"/>
            <a:ext cx="10543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00FF41"/>
                </a:solidFill>
                <a:latin typeface="Courier New"/>
              </a:rPr>
              <a:t>[ app screenshots — the happy path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Final Project · Showcase · TECHIE 1121 · Cornell Tech · Thu Jul 30 (3-5)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3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06 · DOES IT DELIVER THE VALUE?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70432"/>
            <a:ext cx="1054303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A"/>
                </a:solidFill>
                <a:latin typeface="Arial"/>
              </a:rPr>
              <a:t>Our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57984"/>
            <a:ext cx="1054303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8A94A6"/>
                </a:solidFill>
                <a:latin typeface="Arial"/>
              </a:rPr>
              <a:t>From Monday's usability test and Tuesday's value verification.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999232"/>
            <a:ext cx="10543032" cy="288036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273552"/>
            <a:ext cx="9966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PUT ON THIS SLIDE   ·   replace the [ …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840480"/>
            <a:ext cx="99212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1">
                <a:solidFill>
                  <a:srgbClr val="00FF41"/>
                </a:solidFill>
                <a:latin typeface="Arial"/>
              </a:rPr>
              <a:t>→  </a:t>
            </a:r>
            <a:r>
              <a:rPr sz="1800" b="0">
                <a:solidFill>
                  <a:srgbClr val="F5F7FA"/>
                </a:solidFill>
                <a:latin typeface="Arial"/>
              </a:rPr>
              <a:t>Behavior — do they ACT differently? [ ___ ]</a:t>
            </a:r>
          </a:p>
          <a:p>
            <a:pPr algn="l">
              <a:lnSpc>
                <a:spcPct val="142000"/>
              </a:lnSpc>
            </a:pPr>
            <a:r>
              <a:rPr sz="1800" b="1">
                <a:solidFill>
                  <a:srgbClr val="00FF41"/>
                </a:solidFill>
                <a:latin typeface="Arial"/>
              </a:rPr>
              <a:t>→  </a:t>
            </a:r>
            <a:r>
              <a:rPr sz="1800" b="0">
                <a:solidFill>
                  <a:srgbClr val="F5F7FA"/>
                </a:solidFill>
                <a:latin typeface="Arial"/>
              </a:rPr>
              <a:t>Understanding / Affect — do they GRASP / FEEL it? [ ___ ]</a:t>
            </a:r>
          </a:p>
          <a:p>
            <a:pPr algn="l">
              <a:lnSpc>
                <a:spcPct val="142000"/>
              </a:lnSpc>
            </a:pPr>
            <a:r>
              <a:rPr sz="1800" b="1">
                <a:solidFill>
                  <a:srgbClr val="00FF41"/>
                </a:solidFill>
                <a:latin typeface="Arial"/>
              </a:rPr>
              <a:t>→  </a:t>
            </a:r>
            <a:r>
              <a:rPr sz="1800" b="0">
                <a:solidFill>
                  <a:srgbClr val="F5F7FA"/>
                </a:solidFill>
                <a:latin typeface="Arial"/>
              </a:rPr>
              <a:t>What the research + our testing showed: [ ___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Final Project · Showcase · TECHIE 1121 · Cornell Tech · Thu Jul 30 (3-5)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3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07 · THE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70432"/>
            <a:ext cx="1054303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A"/>
                </a:solidFill>
                <a:latin typeface="Arial"/>
              </a:rPr>
              <a:t>The video that shows the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57984"/>
            <a:ext cx="1054303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8A94A6"/>
                </a:solidFill>
                <a:latin typeface="Arial"/>
              </a:rPr>
              <a:t>Play the pitch — any style that feels authentic to your team.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788920"/>
            <a:ext cx="10543032" cy="3154680"/>
          </a:xfrm>
          <a:prstGeom prst="roundRect">
            <a:avLst/>
          </a:prstGeom>
          <a:solidFill>
            <a:srgbClr val="151B26"/>
          </a:solidFill>
          <a:ln w="19050">
            <a:solidFill>
              <a:srgbClr val="00FF4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165092"/>
            <a:ext cx="10543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00FF41"/>
                </a:solidFill>
                <a:latin typeface="Courier New"/>
              </a:rPr>
              <a:t>[ pitch video — embed it here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Final Project · Showcase · TECHIE 1121 · Cornell Tech · Thu Jul 30 (3-5)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3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08 · AFTERLIFE &amp;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70432"/>
            <a:ext cx="1054303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A"/>
                </a:solidFill>
                <a:latin typeface="Arial"/>
              </a:rPr>
              <a:t>Who keeps it alive — and who built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57984"/>
            <a:ext cx="1054303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8A94A6"/>
                </a:solidFill>
                <a:latin typeface="Arial"/>
              </a:rPr>
              <a:t>The life after class, the credits, and one thing we learned.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999232"/>
            <a:ext cx="10543032" cy="288036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273552"/>
            <a:ext cx="9966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PUT ON THIS SLIDE   ·   replace the [ …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840480"/>
            <a:ext cx="99212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1">
                <a:solidFill>
                  <a:srgbClr val="00FF41"/>
                </a:solidFill>
                <a:latin typeface="Arial"/>
              </a:rPr>
              <a:t>→  </a:t>
            </a:r>
            <a:r>
              <a:rPr sz="1800" b="0">
                <a:solidFill>
                  <a:srgbClr val="F5F7FA"/>
                </a:solidFill>
                <a:latin typeface="Arial"/>
              </a:rPr>
              <a:t>Afterlife: who keeps using / maintaining it, and how: [ ___ ]</a:t>
            </a:r>
          </a:p>
          <a:p>
            <a:pPr algn="l">
              <a:lnSpc>
                <a:spcPct val="142000"/>
              </a:lnSpc>
            </a:pPr>
            <a:r>
              <a:rPr sz="1800" b="1">
                <a:solidFill>
                  <a:srgbClr val="00FF41"/>
                </a:solidFill>
                <a:latin typeface="Arial"/>
              </a:rPr>
              <a:t>→  </a:t>
            </a:r>
            <a:r>
              <a:rPr sz="1800" b="0">
                <a:solidFill>
                  <a:srgbClr val="F5F7FA"/>
                </a:solidFill>
                <a:latin typeface="Arial"/>
              </a:rPr>
              <a:t>Who did what: [ each member's contribution ]</a:t>
            </a:r>
          </a:p>
          <a:p>
            <a:pPr algn="l">
              <a:lnSpc>
                <a:spcPct val="142000"/>
              </a:lnSpc>
            </a:pPr>
            <a:r>
              <a:rPr sz="1800" b="1">
                <a:solidFill>
                  <a:srgbClr val="00FF41"/>
                </a:solidFill>
                <a:latin typeface="Arial"/>
              </a:rPr>
              <a:t>→  </a:t>
            </a:r>
            <a:r>
              <a:rPr sz="1800" b="0">
                <a:solidFill>
                  <a:srgbClr val="F5F7FA"/>
                </a:solidFill>
                <a:latin typeface="Arial"/>
              </a:rPr>
              <a:t>One thing this project taught us: [ ___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Final Project · Showcase · TECHIE 1121 · Cornell Tech · Thu Jul 30 (3-5)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