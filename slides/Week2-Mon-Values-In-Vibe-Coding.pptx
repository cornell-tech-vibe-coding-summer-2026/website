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086d68c1c74245" /><Relationship Type="http://schemas.openxmlformats.org/officeDocument/2006/relationships/extended-properties" Target="/docProps/app.xml" Id="R849f9a3f26594238" /><Relationship Type="http://schemas.openxmlformats.org/officeDocument/2006/relationships/officeDocument" Target="/ppt/presentation.xml" Id="Reda4c069e20048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89110924ee42cb"/>
  </p:sldMasterIdLst>
  <p:notesMasterIdLst>
    <p:notesMasterId xmlns:r="http://schemas.openxmlformats.org/officeDocument/2006/relationships" r:id="R826a5b5d95704237"/>
  </p:notesMasterIdLst>
  <p:sldIdLst>
    <p:sldId xmlns:r="http://schemas.openxmlformats.org/officeDocument/2006/relationships" id="256" r:id="R9f92e0e853de4cc2"/>
    <p:sldId xmlns:r="http://schemas.openxmlformats.org/officeDocument/2006/relationships" id="257" r:id="Rf4fc46b2fa264777"/>
    <p:sldId xmlns:r="http://schemas.openxmlformats.org/officeDocument/2006/relationships" id="258" r:id="Re86d7cfb57b84a8d"/>
    <p:sldId xmlns:r="http://schemas.openxmlformats.org/officeDocument/2006/relationships" id="259" r:id="R8a8b0df336654cb2"/>
    <p:sldId xmlns:r="http://schemas.openxmlformats.org/officeDocument/2006/relationships" id="260" r:id="R1b50c66b8e284902"/>
    <p:sldId xmlns:r="http://schemas.openxmlformats.org/officeDocument/2006/relationships" id="261" r:id="R915085b6ea1e4cef"/>
    <p:sldId xmlns:r="http://schemas.openxmlformats.org/officeDocument/2006/relationships" id="262" r:id="R5d667accad4e4374"/>
    <p:sldId xmlns:r="http://schemas.openxmlformats.org/officeDocument/2006/relationships" id="263" r:id="R1ccd0a646f684397"/>
    <p:sldId xmlns:r="http://schemas.openxmlformats.org/officeDocument/2006/relationships" id="264" r:id="R0b1a782e9e114a22"/>
    <p:sldId xmlns:r="http://schemas.openxmlformats.org/officeDocument/2006/relationships" id="265" r:id="R00f7044f4163423d"/>
    <p:sldId xmlns:r="http://schemas.openxmlformats.org/officeDocument/2006/relationships" id="266" r:id="R80736596f3814fc5"/>
    <p:sldId xmlns:r="http://schemas.openxmlformats.org/officeDocument/2006/relationships" id="267" r:id="Rf34d28885fdf4614"/>
    <p:sldId xmlns:r="http://schemas.openxmlformats.org/officeDocument/2006/relationships" id="268" r:id="R85b7fca5f6c44caf"/>
    <p:sldId xmlns:r="http://schemas.openxmlformats.org/officeDocument/2006/relationships" id="269" r:id="R44964e1108454f3c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3aa35571da4f10" /><Relationship Type="http://schemas.openxmlformats.org/officeDocument/2006/relationships/slideMaster" Target="/ppt/slideMasters/slideMaster1.xml" Id="Rcc89110924ee42cb" /><Relationship Type="http://schemas.openxmlformats.org/officeDocument/2006/relationships/notesMaster" Target="/ppt/notesMasters/notesMaster1.xml" Id="R826a5b5d95704237" /><Relationship Type="http://schemas.openxmlformats.org/officeDocument/2006/relationships/presProps" Target="/ppt/presProps.xml" Id="Ra47c4cd23615471f" /><Relationship Type="http://schemas.openxmlformats.org/officeDocument/2006/relationships/viewProps" Target="/ppt/viewProps.xml" Id="Re628019c99584055" /><Relationship Type="http://schemas.openxmlformats.org/officeDocument/2006/relationships/tableStyles" Target="/ppt/tableStyles.xml" Id="R3b0195e10a5948fc" /><Relationship Type="http://schemas.openxmlformats.org/officeDocument/2006/relationships/slide" Target="/ppt/slides/slide1.xml" Id="R9f92e0e853de4cc2" /><Relationship Type="http://schemas.openxmlformats.org/officeDocument/2006/relationships/slide" Target="/ppt/slides/slide2.xml" Id="Rf4fc46b2fa264777" /><Relationship Type="http://schemas.openxmlformats.org/officeDocument/2006/relationships/slide" Target="/ppt/slides/slide3.xml" Id="Re86d7cfb57b84a8d" /><Relationship Type="http://schemas.openxmlformats.org/officeDocument/2006/relationships/slide" Target="/ppt/slides/slide4.xml" Id="R8a8b0df336654cb2" /><Relationship Type="http://schemas.openxmlformats.org/officeDocument/2006/relationships/slide" Target="/ppt/slides/slide5.xml" Id="R1b50c66b8e284902" /><Relationship Type="http://schemas.openxmlformats.org/officeDocument/2006/relationships/slide" Target="/ppt/slides/slide6.xml" Id="R915085b6ea1e4cef" /><Relationship Type="http://schemas.openxmlformats.org/officeDocument/2006/relationships/slide" Target="/ppt/slides/slide7.xml" Id="R5d667accad4e4374" /><Relationship Type="http://schemas.openxmlformats.org/officeDocument/2006/relationships/slide" Target="/ppt/slides/slide8.xml" Id="R1ccd0a646f684397" /><Relationship Type="http://schemas.openxmlformats.org/officeDocument/2006/relationships/slide" Target="/ppt/slides/slide9.xml" Id="R0b1a782e9e114a22" /><Relationship Type="http://schemas.openxmlformats.org/officeDocument/2006/relationships/slide" Target="/ppt/slides/slide10.xml" Id="R00f7044f4163423d" /><Relationship Type="http://schemas.openxmlformats.org/officeDocument/2006/relationships/slide" Target="/ppt/slides/slide11.xml" Id="R80736596f3814fc5" /><Relationship Type="http://schemas.openxmlformats.org/officeDocument/2006/relationships/slide" Target="/ppt/slides/slide12.xml" Id="Rf34d28885fdf4614" /><Relationship Type="http://schemas.openxmlformats.org/officeDocument/2006/relationships/slide" Target="/ppt/slides/slide13.xml" Id="R85b7fca5f6c44caf" /><Relationship Type="http://schemas.openxmlformats.org/officeDocument/2006/relationships/slide" Target="/ppt/slides/slide14.xml" Id="R44964e1108454f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39898e44fe49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74d5c6f11247b8" /><Relationship Type="http://schemas.openxmlformats.org/officeDocument/2006/relationships/notesMaster" Target="/ppt/notesMasters/notesMaster1.xml" Id="R57d489f8b2e347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f1e66c626f4f6a" /><Relationship Type="http://schemas.openxmlformats.org/officeDocument/2006/relationships/notesMaster" Target="/ppt/notesMasters/notesMaster1.xml" Id="R4da9ca26318e4e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41f636f1df4d3e" /><Relationship Type="http://schemas.openxmlformats.org/officeDocument/2006/relationships/notesMaster" Target="/ppt/notesMasters/notesMaster1.xml" Id="R705b5db2a0c141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fefc8cc2c74c55" /><Relationship Type="http://schemas.openxmlformats.org/officeDocument/2006/relationships/notesMaster" Target="/ppt/notesMasters/notesMaster1.xml" Id="Rb602ab17f5bb4a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be79bfb50148ae" /><Relationship Type="http://schemas.openxmlformats.org/officeDocument/2006/relationships/notesMaster" Target="/ppt/notesMasters/notesMaster1.xml" Id="R4930670109d043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f91d6f37324ec4" /><Relationship Type="http://schemas.openxmlformats.org/officeDocument/2006/relationships/notesMaster" Target="/ppt/notesMasters/notesMaster1.xml" Id="R3a129edbce6d4d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8a529e4ab04762" /><Relationship Type="http://schemas.openxmlformats.org/officeDocument/2006/relationships/notesMaster" Target="/ppt/notesMasters/notesMaster1.xml" Id="R59d4b8a3d3c64c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448b57dfa74c84" /><Relationship Type="http://schemas.openxmlformats.org/officeDocument/2006/relationships/notesMaster" Target="/ppt/notesMasters/notesMaster1.xml" Id="R1c09241e9ca148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fc6c05573a4ef6" /><Relationship Type="http://schemas.openxmlformats.org/officeDocument/2006/relationships/notesMaster" Target="/ppt/notesMasters/notesMaster1.xml" Id="Rda22f2ae68964a6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c3f79685f334ea0" /><Relationship Type="http://schemas.openxmlformats.org/officeDocument/2006/relationships/notesMaster" Target="/ppt/notesMasters/notesMaster1.xml" Id="R921910682415498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1e1a8a4a994fd2" /><Relationship Type="http://schemas.openxmlformats.org/officeDocument/2006/relationships/notesMaster" Target="/ppt/notesMasters/notesMaster1.xml" Id="Rdd5315eb879e4f6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69ba3d0e1d47fc" /><Relationship Type="http://schemas.openxmlformats.org/officeDocument/2006/relationships/notesMaster" Target="/ppt/notesMasters/notesMaster1.xml" Id="R88d845e75f85462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cf0a3664b304826" /><Relationship Type="http://schemas.openxmlformats.org/officeDocument/2006/relationships/notesMaster" Target="/ppt/notesMasters/notesMaster1.xml" Id="R443b491fd77f4fd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c0a2208687d4d8e" /><Relationship Type="http://schemas.openxmlformats.org/officeDocument/2006/relationships/notesMaster" Target="/ppt/notesMasters/notesMaster1.xml" Id="R090a67d05ab149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 min] Welcome. Frame the hour: every interface makes some choices easier and others harder. By the end, students will name one value claim they can actually build from.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[6 min] Read the quote aloud. Give students 60 seconds to write one technology that changed a rule without asking them. Take two examples. Ask: who benefited, and who had to adapt?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[4 min] Define a value in plain language: something people care about and try to protect or reach. Ask students to choose one word on the slide and give a concrete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[4 min] Explain that ethical and political values overlap. Use privacy as the example: it affects how one person is treated and how power is distributed.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[4 min] Make responsibility concrete. Designers choose defaults, labels, required fields, and what gets measured. Those are value decisions even when no one writes the word ethics.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[5 min] Students name the coding tool they use most. In pairs, list what it rewards: speed, polish, scale, certainty, novelty, or something else. Share two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[4 min] Return to the Week 1 professional-site prompt. Ask which people or cultures fit the default and which have to correct it. The point is not that blue is immoral; the default narrows the range.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[5 min] Introduce Values at Play as a simple cycle. Today focuses on Discovery: name and define the value. Preview that Implementation and Verification return later.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[6 min] Students open The Values Map. They circle one value, underline a nearby competing value, and write one platform where the tension appears. Walk the room and ask for specificity.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[6 min] Partners use one shared product. Person A names the effect on an individual user. Person B names the power arrangement. Switch once, then invite two quick examples.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[4 min] Explain the activity in one pass. Stress three constraints: one page, one value claim visible in the interface, and no unsupported factual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[4 min] Students silently complete the three decisions. Ask two volunteers to read their value-user-action sentence. Help each make one vague word more concrete.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 min] Compare the vague and specific claims. Ask which one would produce a clearer first prompt and which one would be easier to test with a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 min] Students write the sentence and show it to a partner. Close by reminding them that reflection must say what tradeoff they chose, not just that they learned about values.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95cb44745472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5b0a280a4e479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539578a52940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2c0898d7a847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30c39217634ba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69e5ad6a76466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50ee3c36da460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23230364a949c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458a72f7e3454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44c5f0b2704c6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677098373f489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478600-7735-4D8E-B61C-1CF3C549E20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0A78C06-EF33-4F5B-9945-56D11885D00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3481B7-8894-434E-AAD8-92B9E09C6D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74D4673-3427-4CB8-87F6-2E2E60702A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7160913-48FE-482E-B6B2-214E455471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87A89C-710C-4F1B-BAA1-B6EAAE928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23097BD-390E-41A5-AFD8-E352D287E88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F8DC1A-E9F2-46BB-A2A2-AAE1B48A8C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AFFF2F-C39C-426E-8721-7CF90B98B1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35EBEB-384D-491D-8027-0DC7FA2980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7BB1C9E-594E-465B-ADE2-AB17811621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2F54756-9B86-47B7-B571-C65F3822FF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C5B1818-8C70-49A6-AD41-899AB9DE91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7C5A67-D08B-4096-B3E7-2FB06B6A34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77BB94-6BA4-45FB-81AD-EEE08B071B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F40513-9F97-4EE0-A5C5-BB82E6CEB7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504BE1-789E-4068-8207-9A6936DCA4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672389A-7952-4CAE-937B-5BAFDBA251E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7371C9B-9020-4C90-94D9-B66E444AFC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9ABE739-7DC6-4878-8785-F96D301394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B19102-71C0-416F-86AE-FFBB70B12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1FDB55-85CD-4095-B021-BDB19D3B51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479B28F-460D-41BD-9B65-ACAD6B6CEC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3401639-CA23-4252-B378-B88539F2167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AE5F746-BC6C-4E45-B26F-4DCCAD81D7B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31FB32-4A00-43EA-BD17-A11F447A46A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B5B84FE-FB61-4326-B3A3-264D490A35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79A115C-4A02-4923-A37E-7AC13AC783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2B6189B-B866-45A1-AB8E-BD8899839C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6D1D9C-CB60-4760-8A89-1444A5B634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85434C3-D8A4-44D4-9ABA-DD0089B6B33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9750001-B87A-4273-A533-D381BC897AD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96FEE1E-D9B2-4B85-B8D7-CC984BFCCF4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816DD78-1AE8-4041-AD21-AD88306025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D55C8E4-137F-4225-82CA-1075080A54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00092D4-6361-4DD3-9511-FBD6177E96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6A5B58-0AB5-46F0-931D-3BABBA2D0E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7FF8A5C-BAAC-4D71-BF8D-DFBB96633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698C01A-6619-481F-B36E-F475A03BEC6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4936FD0-A30B-4D29-A0C8-9DAE284227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977CB20-FF03-4645-9F21-CC865208C10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C5BF9FA-5085-45E0-83E4-7F9C8DF1A1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EFDF15-7874-4E0C-87B3-9DDB709D00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4C9A042-2587-4C62-A274-7386B2318D0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6E451EE-76D8-483A-91A1-CF74B5AFA3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7228DF8-9870-42FC-9EE0-A05975FD9A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3CEFD41-6DD5-44F4-94F8-1639FB193E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12B3A52-8923-42D9-AC38-5198007D89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86A720-60A6-498A-8240-0995276FD9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2DCEA5-A94D-43A1-B6B6-27CFFC96CA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DF2D238-4010-4F2A-A53F-8832783112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BE5DD11-720E-4602-A891-85E6A1404F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763BC0-AB9C-4FA3-8832-A5ED380D51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E23A28D-C49A-4EAA-A79E-889E285397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4B2FA71-BBD2-4772-80CA-0A06C6FC2F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ABB51E-CBC4-41F8-813A-42603CB163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FCE216-20A6-478C-8B4E-BDDB473A16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4FB2C3-5ABC-4CC4-BDF7-C9E64865BD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340924014a4df0" /><Relationship Type="http://schemas.openxmlformats.org/officeDocument/2006/relationships/slideLayout" Target="/ppt/slideLayouts/slideLayout1.xml" Id="R0b71f4d134214025" /><Relationship Type="http://schemas.openxmlformats.org/officeDocument/2006/relationships/slideLayout" Target="/ppt/slideLayouts/slideLayout2.xml" Id="R55b1087f719d46c2" /><Relationship Type="http://schemas.openxmlformats.org/officeDocument/2006/relationships/slideLayout" Target="/ppt/slideLayouts/slideLayout3.xml" Id="R9c498d103dc14a4d" /><Relationship Type="http://schemas.openxmlformats.org/officeDocument/2006/relationships/slideLayout" Target="/ppt/slideLayouts/slideLayout4.xml" Id="R8c08495ed29a42ef" /><Relationship Type="http://schemas.openxmlformats.org/officeDocument/2006/relationships/slideLayout" Target="/ppt/slideLayouts/slideLayout5.xml" Id="Re4ab4d87ff3b403e" /><Relationship Type="http://schemas.openxmlformats.org/officeDocument/2006/relationships/slideLayout" Target="/ppt/slideLayouts/slideLayout6.xml" Id="R3a86415d1d784bbe" /><Relationship Type="http://schemas.openxmlformats.org/officeDocument/2006/relationships/slideLayout" Target="/ppt/slideLayouts/slideLayout7.xml" Id="R1fc07b9113dd4728" /><Relationship Type="http://schemas.openxmlformats.org/officeDocument/2006/relationships/slideLayout" Target="/ppt/slideLayouts/slideLayout8.xml" Id="Raaf96656d0f74c41" /><Relationship Type="http://schemas.openxmlformats.org/officeDocument/2006/relationships/slideLayout" Target="/ppt/slideLayouts/slideLayout9.xml" Id="R5666ab696623459e" /><Relationship Type="http://schemas.openxmlformats.org/officeDocument/2006/relationships/slideLayout" Target="/ppt/slideLayouts/slideLayout10.xml" Id="R4caa5eba9a6944c8" /><Relationship Type="http://schemas.openxmlformats.org/officeDocument/2006/relationships/slideLayout" Target="/ppt/slideLayouts/slideLayout11.xml" Id="R28a3507bdfa040e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5CD1DF4-82D6-490D-B8B9-165B5CB2A0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82003CD-16C8-461B-A1B2-47C4207828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4FBC19-4AB8-4A65-A0D8-BB05956460B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78FDA50-E9B6-4158-9D43-7BECFBF94A5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B1AB6AC-B6F1-4178-B7C8-0A2A51773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71f4d134214025"/>
    <p:sldLayoutId xmlns:r="http://schemas.openxmlformats.org/officeDocument/2006/relationships" id="2147483650" r:id="R55b1087f719d46c2"/>
    <p:sldLayoutId xmlns:r="http://schemas.openxmlformats.org/officeDocument/2006/relationships" id="2147483651" r:id="R9c498d103dc14a4d"/>
    <p:sldLayoutId xmlns:r="http://schemas.openxmlformats.org/officeDocument/2006/relationships" id="2147483652" r:id="R8c08495ed29a42ef"/>
    <p:sldLayoutId xmlns:r="http://schemas.openxmlformats.org/officeDocument/2006/relationships" id="2147483653" r:id="Re4ab4d87ff3b403e"/>
    <p:sldLayoutId xmlns:r="http://schemas.openxmlformats.org/officeDocument/2006/relationships" id="2147483654" r:id="R3a86415d1d784bbe"/>
    <p:sldLayoutId xmlns:r="http://schemas.openxmlformats.org/officeDocument/2006/relationships" id="2147483655" r:id="R1fc07b9113dd4728"/>
    <p:sldLayoutId xmlns:r="http://schemas.openxmlformats.org/officeDocument/2006/relationships" id="2147483656" r:id="Raaf96656d0f74c41"/>
    <p:sldLayoutId xmlns:r="http://schemas.openxmlformats.org/officeDocument/2006/relationships" id="2147483657" r:id="R5666ab696623459e"/>
    <p:sldLayoutId xmlns:r="http://schemas.openxmlformats.org/officeDocument/2006/relationships" id="2147483658" r:id="R4caa5eba9a6944c8"/>
    <p:sldLayoutId xmlns:r="http://schemas.openxmlformats.org/officeDocument/2006/relationships" id="2147483659" r:id="R28a3507bdfa040e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e50f8493d94453" /><Relationship Type="http://schemas.openxmlformats.org/officeDocument/2006/relationships/notesSlide" Target="/ppt/notesSlides/notesSlide1.xml" Id="R8a7ae48088d547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3e2819141d47ef" /><Relationship Type="http://schemas.openxmlformats.org/officeDocument/2006/relationships/notesSlide" Target="/ppt/notesSlides/notesSlide2.xml" Id="Rbbde7ea42e424d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dd2fcdafd74323" /><Relationship Type="http://schemas.openxmlformats.org/officeDocument/2006/relationships/notesSlide" Target="/ppt/notesSlides/notesSlide3.xml" Id="Rc506202e9e9749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389fc14b6e43de" /><Relationship Type="http://schemas.openxmlformats.org/officeDocument/2006/relationships/notesSlide" Target="/ppt/notesSlides/notesSlide4.xml" Id="R00184d54420044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89134e88b14b1d" /><Relationship Type="http://schemas.openxmlformats.org/officeDocument/2006/relationships/notesSlide" Target="/ppt/notesSlides/notesSlide5.xml" Id="R27ab2f7e464b47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24807fc1ace41a3" /><Relationship Type="http://schemas.openxmlformats.org/officeDocument/2006/relationships/notesSlide" Target="/ppt/notesSlides/notesSlide6.xml" Id="R172f2c9b3cb04b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1e690affb04d23" /><Relationship Type="http://schemas.openxmlformats.org/officeDocument/2006/relationships/notesSlide" Target="/ppt/notesSlides/notesSlide7.xml" Id="R58c75a3edfeb46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6c4ccad01a43af" /><Relationship Type="http://schemas.openxmlformats.org/officeDocument/2006/relationships/notesSlide" Target="/ppt/notesSlides/notesSlide8.xml" Id="Rb1f4bf9c78f44e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b79799be4049cc" /><Relationship Type="http://schemas.openxmlformats.org/officeDocument/2006/relationships/notesSlide" Target="/ppt/notesSlides/notesSlide9.xml" Id="R998a744521534b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21a324c4ea4a7f" /><Relationship Type="http://schemas.openxmlformats.org/officeDocument/2006/relationships/notesSlide" Target="/ppt/notesSlides/notesSlide10.xml" Id="Rb951ff5965a64c4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8dbff0add5409f" /><Relationship Type="http://schemas.openxmlformats.org/officeDocument/2006/relationships/notesSlide" Target="/ppt/notesSlides/notesSlide11.xml" Id="R548024d926654bd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d5e068b56d4426" /><Relationship Type="http://schemas.openxmlformats.org/officeDocument/2006/relationships/notesSlide" Target="/ppt/notesSlides/notesSlide12.xml" Id="Ra670298b8f6f48d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eba73227d541b3" /><Relationship Type="http://schemas.openxmlformats.org/officeDocument/2006/relationships/notesSlide" Target="/ppt/notesSlides/notesSlide13.xml" Id="R11ff1e0d0f56403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2dab8a961444b7" /><Relationship Type="http://schemas.openxmlformats.org/officeDocument/2006/relationships/notesSlide" Target="/ppt/notesSlides/notesSlide14.xml" Id="Rc014fc1209384ea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0065BE1-413B-4421-A794-7FAAAAB4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560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FDDFF1-368A-4EBD-BFFE-DB3F6478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6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WEEK 2 · MONDAY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FD245F4-294A-455A-AF1E-0CCAF54D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788920"/>
            <a:ext cx="10515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6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Values in Vibe Coding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C9C203A-4DB8-4589-8FA6-BCA0CFEA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60520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Ethics — Doing the right thing   ·   Guest: Ria Gualano (accessible technology)</a:t>
            </a:r>
          </a:p>
        </p:txBody>
      </p:sp>
    </p:spTree>
    <p:extLst>
      <p:ext uri="{BB962C8B-B14F-4D97-AF65-F5344CB8AC3E}">
        <p14:creationId xmlns:p14="http://schemas.microsoft.com/office/powerpoint/2010/main" val="8903400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E56019-B525-4BD8-943E-14EED4F8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WARM-UP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1511B3-5C31-46CA-9ED5-E847D40C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54480"/>
            <a:ext cx="128016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A73E9EB-1968-4D0A-A92D-EC9A131E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194560"/>
            <a:ext cx="978408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3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What politics settles in its institutions, technology settles in arrangements of wires and semiconductors — and, we may add, lines of code.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405BFA6-F106-44B0-AAFD-B46E8A40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297680"/>
            <a:ext cx="960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6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— Langdon Winner (with a nod to Lessig)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C4722B4-70A2-4180-9B05-251FC972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937760"/>
            <a:ext cx="978408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 w="12700">
            <a:solidFill>
              <a:srgbClr val="00FF4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13F95E-1D84-4F2B-B729-FB9815B4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074920"/>
            <a:ext cx="9235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8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Every app you vibe-code takes a side. Which values are you building in — on purpose, or by default?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2E658AC-ECA6-45D2-850E-D05B44F9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20273191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66079C-3D0C-4BBC-AC87-9DEE7E25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4AA9654-64CE-499B-B6F2-E238EDE7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5AACEA3-353D-4DD7-B99F-911921E9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What is a value?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55B8B84-203C-46A2-9A97-E03795BA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Values are properties of things — and states of affairs — that we care about and strive to attain.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Privacy. Fairness. Safety. Access. Dignity. Autonomy. Sustainability. Honesty. They’re the things we don’t want to compromise — even when the tool says we can.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D6EA165-D896-412F-A4AC-344D38E1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5919870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F25EFEA-A3CC-4FE3-B55A-9AE3513D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D4F275A-3267-4537-862F-4E3C46C5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1180F98-159E-4AA4-BA0C-1501E494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Two families of values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75D63246-89F7-4CA2-A140-402D34AA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5272887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2A9D8D6-78F6-487B-A02F-3400815D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5272887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1B4A7A-094F-4879-B5A1-3931CC89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4724247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ETHICAL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3B38D94-AC8D-43E0-8A2F-A07F13F9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4724247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How we treat each other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0B6C37-70B3-4E8A-8B65-0AD48F44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4724247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kindness · honesty · safety · autonomy · privacy · dignity · well-being · responsibility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67911CE-C818-40F8-86D1-2ABE9CE8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7" y="2468880"/>
            <a:ext cx="5272887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B98D308-7579-432F-A88B-2EFCEF39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7" y="2468880"/>
            <a:ext cx="5272887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C526A51-78BC-4325-B9FF-84E8F21A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7" y="2788920"/>
            <a:ext cx="4724247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POLITICAL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D8DCE40-D1E2-4CD8-BD84-EBB80898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7" y="3246120"/>
            <a:ext cx="4724247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Arrangements of power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C5AE4AA-2420-4A63-BE4B-696194F4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7" y="4114800"/>
            <a:ext cx="4724247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justice · equality · accountability · democracy · access · liberty · transparency · privacy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C8618DC-5546-40B4-AD32-CE2C79A4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4654127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08493B9-3487-41FB-8F4F-C9561C05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CONSCIENTIOUS DESIGN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FBCFDFF-0DEC-4BC0-B6AE-44720EF6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8B82D2-6931-4C08-9DC2-F48300EA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It’s our job to build on purpose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C211C55-E7EB-4C69-A173-C53E6C40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Conscientious designers consider values when they design and build systems.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It’s our responsibility both to </a:t>
            </a: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reflect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 on the values already expressed in technology, and to </a:t>
            </a: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design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 according to the values we cherish.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— Flanagan &amp; Nissenbaum, Values at Play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F387E0-1BEB-471A-9B28-9D9ECCEF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8902795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2142BF8-6D63-4A8D-97D1-1B9AFC196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BRING IT HOME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6503F7A-3881-46A9-8C16-51FD30BD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D61E96-F456-4620-84B1-C54FE189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Your vibe-coding tools embed values too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5386FD3-9877-4AEA-99C8-74BE0576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Every tool pushes some values: speed, scale, engagement, efficiency, frugality, autonomy, sustainability…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Which values does the tool you use push on </a:t>
            </a: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you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? What does it make easy — and what does it quietly make hard?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44BAE08-C2B0-4F54-BDCA-2D116474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6519473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0C52837-36EB-4FD3-B7E2-0B45824A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CALLBACK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03C63E-A1D2-4636-A538-04D0C200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E38A62E-D581-45F5-9E78-A81911FC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Values hide in the defaults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7D47A37-25E7-49A7-A564-639C694F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Remember Week 1: “make it professional” defaulted to blue, corporate, US-style. That default was a </a:t>
            </a:r>
            <a:r>
              <a:rPr sz="22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values choice</a:t>
            </a: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When you don’t specify, the tool decides whose values win. Naming a value is how you take that decision back.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5E67593-A07C-435B-814A-13973A44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13946500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1A1F1DD-C76D-42B6-BBDE-3EEEBA80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A PEEK AHEAD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EB3953-9DFC-4E44-80A1-44DA4E30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61BFFB2-6E5A-484C-8317-44D9197C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One framework, three moves — Values at Play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7EFF79AF-35AA-465D-BC38-AAF2F217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9D4C0BA-4FF2-4F50-83A1-6D5FD863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75360F1-4F1E-4826-8515-FD172287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01 · DISCOVERY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5C0814-82B0-49C2-AC8C-30A254AF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What values?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52CD15B-408F-4AA3-B137-75E8251E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Find the values at play and define them in concrete terms.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14738B7-347D-47D2-BD6B-3A561070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FD5A4A6-778B-4448-BB49-8A877F4A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63084DE-B518-47D0-A9A5-5DF98357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02 · IMPLEMENTATION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E7C1B08-5619-4290-B9CC-D8665DE1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Build them in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DF3AEAD-D598-4F35-9C9B-E518F2ED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Turn values into features; resolve clashes (dissolve / compromise / trade-off).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06A04B0C-C192-43C7-AE5A-36A7DBB2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C47910A-25AC-4900-B40E-AD2FB9EC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4ECEC6A-491C-47C5-8964-51EEB67B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03 · VERIFICATION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056209C-A43D-4EB2-900D-5700D2F0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Did it work?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6FF6D0A-743C-432B-BA05-E808F541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Check whether the built thing actually delivers the value. We go deep in Week 3.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96A3AC7-CE36-4E25-BD21-DE4CB351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18599875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66079C-3D0C-4BBC-AC87-9DEE7E25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READ + MARK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4AA9654-64CE-499B-B6F2-E238EDE7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5AACEA3-353D-4DD7-B99F-911921E9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Read The Values Map with a pencil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55B8B84-203C-46A2-9A97-E03795BA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Open The Values Map. Circle one value you want technology to support.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Underline one nearby value that could compete with it. In the margin, write one app or platform where you can see that tension.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D6EA165-D896-412F-A4AC-344D38E1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5919870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F25EFEA-A3CC-4FE3-B55A-9AE3513D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PAIR + SHARE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D4F275A-3267-4537-862F-4E3C46C5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1180F98-159E-4AA4-BA0C-1501E494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Look at the same product through two lenses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75D63246-89F7-4CA2-A140-402D34AA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5272887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2A9D8D6-78F6-487B-A02F-3400815D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5272887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1B4A7A-094F-4879-B5A1-3931CC89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4724247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PERSON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3B38D94-AC8D-43E0-8A2F-A07F13F9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4724247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What happens to one user?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0B6C37-70B3-4E8A-8B65-0AD48F44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4724247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Name one choice that helps or harms a person using the product.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67911CE-C818-40F8-86D1-2ABE9CE8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7" y="2468880"/>
            <a:ext cx="5272887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B98D308-7579-432F-A88B-2EFCEF39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7" y="2468880"/>
            <a:ext cx="5272887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C526A51-78BC-4325-B9FF-84E8F21A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7" y="2788920"/>
            <a:ext cx="4724247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POWER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D8DCE40-D1E2-4CD8-BD84-EBB80898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7" y="3246120"/>
            <a:ext cx="4724247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Who gets a choice — and who does not?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C5AE4AA-2420-4A63-BE4B-696194F4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7" y="4114800"/>
            <a:ext cx="4724247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Name one default that gives one group more control than another.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C8618DC-5546-40B4-AD32-CE2C79A4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4654127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8F03DF-219F-4046-9B9D-159CDF1C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ACTIVITY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04EA5BA-5265-4AD1-81BF-94D40362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9647834-BA12-44D6-A89B-93490B24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AI as Moral Assistant — build a tool that argues for a value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0803246-F19A-43EE-8B5A-B9DE49E1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Build a small tool that helps someone act more morally — calculator, nudge, checker, check-in.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The tool must ARGUE for something — name the value explicitly in the UI.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Keep it small: one page, built and hosted in one session.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Don't let it fabricate the facts people decide on — check the AI's sources, or say you're estimating.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1">
                <a:solidFill>
                  <a:srgbClr val="00FF41"/>
                </a:solidFill>
                <a:latin typeface="Arial"/>
                <a:ea typeface="Arial"/>
                <a:cs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Deliverable: hosted one-pager + reflection. Example precedents: footprint/offset calculator, protein-suffering index.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5BD4DC-2618-45C8-8F0E-CB8F4867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16029046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B36A743-97FF-443C-A149-9DEA904D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BEFORE YOU BUILD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F54B7D3-C086-4E09-8CDB-39DD6D8A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7FB5003-206E-486F-886E-BF7A42AD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Make three decisions before your first prompt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4EBC88A-F729-4741-9F92-0E83D7C0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955BE9-A9C9-45C9-9191-A8EA2F7F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6FF6F-EC6C-4038-96BD-BD67765E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VALUE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F6B8A52-6C5F-4BBE-8340-27E30652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What should the tool support?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669B1EA-61E2-4C81-9378-37115647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Write one specific value claim. “Be ethical” is too broad.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7CB8DFE-3A54-410F-AFFB-BA6EFCCE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1B11D3D-085A-4727-BE1E-58302D87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14B1FCC-9E92-40BE-A4AD-CBED0DF3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USER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C584F94-DFFE-459A-A2A9-0D904C4B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Who makes the decision?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B5913C2-3CF0-442B-9959-1D8EAF59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Pick one real or clearly described person. Do not design for “everyone.”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A178E94-FE31-4A49-B90F-3C80BAE6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BA8340C-A2B0-4EB3-B1ED-074F2458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6" y="2468880"/>
            <a:ext cx="3393338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9CE7A19-57AA-42A5-9D8C-EBF6EDCF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2788920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ACTION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4831B33-F29B-4069-8D47-E540A21E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324612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What should change?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688C41B-BCB6-491A-A588-9E371425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6" y="4114800"/>
            <a:ext cx="2844698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Name the choice, behavior, or question your tool should make easier.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9760C39-814D-4E0F-931A-FE137996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16283238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F25EFEA-A3CC-4FE3-B55A-9AE3513D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CHECK THE IDEA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D4F275A-3267-4537-862F-4E3C46C5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1180F98-159E-4AA4-BA0C-1501E494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A clear claim beats a vague promise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75D63246-89F7-4CA2-A140-402D34AA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5272887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2A9D8D6-78F6-487B-A02F-3400815D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5272887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1B4A7A-094F-4879-B5A1-3931CC89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4724247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VAGUE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3B38D94-AC8D-43E0-8A2F-A07F13F9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4724247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“Help people be more sustainable.”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0B6C37-70B3-4E8A-8B65-0AD48F44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4724247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No user, no decision, no way to tell whether the tool helps.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67911CE-C818-40F8-86D1-2ABE9CE8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7" y="2468880"/>
            <a:ext cx="5272887" cy="3383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1B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B98D308-7579-432F-A88B-2EFCEF39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727" y="2468880"/>
            <a:ext cx="5272887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C526A51-78BC-4325-B9FF-84E8F21A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7" y="2788920"/>
            <a:ext cx="4724247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2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SPECIFIC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D8DCE40-D1E2-4CD8-BD84-EBB80898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7" y="3246120"/>
            <a:ext cx="4724247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“Help a student compare lunch choices.”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C5AE4AA-2420-4A63-BE4B-696194F4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7" y="4114800"/>
            <a:ext cx="4724247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15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A named user, a real choice, and a value the interface can support.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C8618DC-5546-40B4-AD32-CE2C79A4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4654127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CAE89A-3AB5-4D96-BA17-7BB5CF9A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FF41"/>
                </a:solidFill>
                <a:latin typeface="Courier New"/>
                <a:ea typeface="Courier New"/>
                <a:cs typeface="Courier New"/>
              </a:rPr>
              <a:t>YOUR NEXT MOVE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97579BC-4D7E-4B86-9F41-B3925B50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32688"/>
            <a:ext cx="82296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4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DAF9A24-0A95-45C8-B542-12B54FBB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88720"/>
            <a:ext cx="10972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F5F7FA"/>
                </a:solidFill>
                <a:latin typeface="Arial"/>
                <a:ea typeface="Arial"/>
                <a:cs typeface="Arial"/>
              </a:rPr>
              <a:t>Leave with one sentence you can build from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D638FC2-F8D6-4BEF-B84A-578B2C55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1088136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>My tool helps [specific person] make [specific decision] in a way that supports [value].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8A94A6"/>
                </a:solidFill>
                <a:latin typeface="Arial"/>
                <a:ea typeface="Arial"/>
                <a:cs typeface="Arial"/>
              </a:rPr>
              <a:t>Keep that sentence beside you while you build. If a feature does not support it, cut the feature.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000" b="0">
                <a:solidFill>
                  <a:srgbClr val="F5F7FA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1400" b="0">
                <a:solidFill>
                  <a:srgbClr val="5A6474"/>
                </a:solidFill>
                <a:latin typeface="Arial"/>
                <a:ea typeface="Arial"/>
                <a:cs typeface="Arial"/>
              </a:rPr>
              <a:t>Reading: The Values Map (Common Cause) · Values at Play (provided).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ABA167B-89C4-4AC8-8A06-12E96097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5A6474"/>
                </a:solidFill>
                <a:latin typeface="Courier New"/>
                <a:ea typeface="Courier New"/>
                <a:cs typeface="Courier New"/>
              </a:rPr>
              <a:t>Good Code, Good Vibes · TECHIE 1121 · Cornell Tech · Summer 2026</a:t>
            </a:r>
          </a:p>
        </p:txBody>
      </p:sp>
    </p:spTree>
    <p:extLst>
      <p:ext uri="{BB962C8B-B14F-4D97-AF65-F5344CB8AC3E}">
        <p14:creationId xmlns:p14="http://schemas.microsoft.com/office/powerpoint/2010/main" val="68018449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2026-07-26T22:15:38.6900000Z</dcterms:created>
  <dcterms:modified xsi:type="dcterms:W3CDTF">2026-07-26T22:15:38.6900000Z</dcterms:modified>
</coreProperties>
</file>