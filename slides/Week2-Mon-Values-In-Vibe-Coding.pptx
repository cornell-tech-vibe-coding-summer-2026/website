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Winner's 'technological somnambulism' (sleepwalking): we build fast and discover values after the fact. Adapted from the VAP deck. Good opener for the embedded-values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 from the VAP deck (Flanagan &amp; Nissenbaum).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Flanagan &amp; Nissenbaum framing from the VAP deck. Values at Play is the provided course textbook.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7/20 'lightweight discussion' beat from the syllabus — what values get embedded in the tools we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Light teaser only — plants VAP so Project 2 has vocabulary and Week 3 (7/28) can go deep with the Discovery reading. Do NOT run the full canvas workshop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Generalized from the footprint framing — any moral-assistant tool qualifies (footprint calculator is one precedent, Hauke's protein-suffering calculator another). Hallucinated numbers/citations are the real failure mode here. Reading: 'The Values Map' (Common Cause).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slide for project work time: how the per-team ambassador accounts work alongside Gemini Code Assist for everyone. Adjust the middle column if the role split changed.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Courier New"/>
              </a:rPr>
              <a:t>WEEK 2 · MONDAY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8892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5F7FA"/>
                </a:solidFill>
                <a:latin typeface="Arial"/>
              </a:rPr>
              <a:t>Values in Vibe Coding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1605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Ethics — Doing the right thing   ·   Guest: Ria Gualano (accessible technology)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WARM-UP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554480"/>
            <a:ext cx="12801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0" b="1">
                <a:solidFill>
                  <a:srgbClr val="00FF41"/>
                </a:solidFill>
                <a:latin typeface="Arial"/>
              </a:rPr>
              <a:t>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194560"/>
            <a:ext cx="97840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What politics settles in its institutions, technology settles in arrangements of wires and semiconductors — and, we may add, lines of code.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4297680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8A94A6"/>
                </a:solidFill>
                <a:latin typeface="Arial"/>
              </a:rPr>
              <a:t>— Langdon Winner (with a nod to Lessig)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88720" y="4937760"/>
            <a:ext cx="9784080" cy="914400"/>
          </a:xfrm>
          <a:prstGeom prst="roundRect">
            <a:avLst/>
          </a:prstGeom>
          <a:solidFill>
            <a:srgbClr val="151B26"/>
          </a:solidFill>
          <a:ln w="1270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63040" y="5074920"/>
            <a:ext cx="92354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F5F7FA"/>
                </a:solidFill>
                <a:latin typeface="Arial"/>
              </a:rPr>
              <a:t>Every app you vibe-code takes a side. Which values are you building in — on purpose, or by default?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FOUNDATION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What is a value?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F5F7FA"/>
                </a:solidFill>
                <a:latin typeface="Arial"/>
              </a:rPr>
              <a:t>Values are properties of things — and states of affairs — that we care about and strive to attain.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8A94A6"/>
                </a:solidFill>
                <a:latin typeface="Arial"/>
              </a:rPr>
              <a:t>Privacy. Fairness. Safety. Access. Dignity. Autonomy. Sustainability. Honesty. They’re the things we don’t want to compromise — even when the tool says we can.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FOUNDATION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Two families of values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5272887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5272887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4724247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ETHICAL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4724247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How we treat each other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4724247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kindness · honesty · safety · autonomy · privacy · dignity · well-being · responsibility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468880"/>
            <a:ext cx="5272887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2468880"/>
            <a:ext cx="5272887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53047" y="2788920"/>
            <a:ext cx="4724247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POLITICAL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3246120"/>
            <a:ext cx="4724247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Arrangements of power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4114800"/>
            <a:ext cx="4724247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justice · equality · accountability · democracy · access · liberty · transparency · privacy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CONSCIENTIOUS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It’s our job to build on purpose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F5F7FA"/>
                </a:solidFill>
                <a:latin typeface="Arial"/>
              </a:rPr>
              <a:t>Conscientious designers consider values when they design and build systems.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It’s our responsibility both to </a:t>
            </a:r>
            <a:r>
              <a:rPr sz="2000" b="1">
                <a:solidFill>
                  <a:srgbClr val="00FF41"/>
                </a:solidFill>
                <a:latin typeface="Arial"/>
              </a:rPr>
              <a:t>reflect</a:t>
            </a:r>
            <a:r>
              <a:rPr sz="2000" b="0">
                <a:solidFill>
                  <a:srgbClr val="F5F7FA"/>
                </a:solidFill>
                <a:latin typeface="Arial"/>
              </a:rPr>
              <a:t> on the values already expressed in technology, and to </a:t>
            </a:r>
            <a:r>
              <a:rPr sz="2000" b="1">
                <a:solidFill>
                  <a:srgbClr val="00FF41"/>
                </a:solidFill>
                <a:latin typeface="Arial"/>
              </a:rPr>
              <a:t>design</a:t>
            </a:r>
            <a:r>
              <a:rPr sz="2000" b="0">
                <a:solidFill>
                  <a:srgbClr val="F5F7FA"/>
                </a:solidFill>
                <a:latin typeface="Arial"/>
              </a:rPr>
              <a:t> according to the values we cherish.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— Flanagan &amp; Nissenbaum, Values at Play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BRING IT HOME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Your vibe-coding tools embed values too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F5F7FA"/>
                </a:solidFill>
                <a:latin typeface="Arial"/>
              </a:rPr>
              <a:t>Every tool pushes some values: speed, scale, engagement, efficiency, frugality, autonomy, sustainability…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Which values does the tool you use push on </a:t>
            </a:r>
            <a:r>
              <a:rPr sz="2000" b="1">
                <a:solidFill>
                  <a:srgbClr val="00FF41"/>
                </a:solidFill>
                <a:latin typeface="Arial"/>
              </a:rPr>
              <a:t>you</a:t>
            </a:r>
            <a:r>
              <a:rPr sz="2000" b="0">
                <a:solidFill>
                  <a:srgbClr val="F5F7FA"/>
                </a:solidFill>
                <a:latin typeface="Arial"/>
              </a:rPr>
              <a:t>? What does it make easy — and what does it quietly make hard?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CALLBACK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Values hide in the defaults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F5F7FA"/>
                </a:solidFill>
                <a:latin typeface="Arial"/>
              </a:rPr>
              <a:t>Remember Week 1: “make it professional” defaulted to blue, corporate, US-style. That default was a </a:t>
            </a:r>
            <a:r>
              <a:rPr sz="2200" b="1">
                <a:solidFill>
                  <a:srgbClr val="00FF41"/>
                </a:solidFill>
                <a:latin typeface="Arial"/>
              </a:rPr>
              <a:t>values choice</a:t>
            </a:r>
            <a:r>
              <a:rPr sz="2200" b="0">
                <a:solidFill>
                  <a:srgbClr val="F5F7FA"/>
                </a:solidFill>
                <a:latin typeface="Arial"/>
              </a:rPr>
              <a:t>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8A94A6"/>
                </a:solidFill>
                <a:latin typeface="Arial"/>
              </a:rPr>
              <a:t>When you don’t specify, the tool decides whose values win. Naming a value is how you take that decision back.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A PEEK AHEAD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One framework, three moves — Values at Play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01 · DISCOVERY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What values?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Find the values at play and define them in concrete terms.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498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02 · IMPLEMENTATION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Build them 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498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Turn values into features; resolve clashes (dissolve / compromise / trade-off).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8276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8276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2596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03 · VERIFICATION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2596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Did it work?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596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Check whether the built thing actually delivers the value. We go deep in Week 3.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ACTIVITY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AI as Moral Assistant — build a tool that argues for a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Build a small tool that helps someone act more morally — calculator, nudge, checker, check-in.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The tool must ARGUE for something — name the value explicitly in the UI.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Keep it small: one page, built and hosted in one session.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Don't let it fabricate the facts people decide on — check the AI's sources, or say you're estimating.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Deliverable: hosted one-pager + reflection. Example precedents: footprint/offset calculator, protein-suffering index.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PROJECT TIME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Vibe coding ambassadors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ONE PER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Your AI power user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Each team has an ambassador account with a stronger agentic tool. They drive the heavy builds — the rest of you still prompt on Gemini.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498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ROTATE THE DRIVER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Not a bottleneck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498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The ambassador runs the session, but everyone takes the keyboard. Every member's prompts must show up in history.md.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8276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8276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2596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ASK EARLY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2596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Don't burn the day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596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Blocked on access, quota, or setup? Flag it at the start of project time — not at 11:55.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WHAT’S NEXT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Start noticing your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F5F7FA"/>
                </a:solidFill>
                <a:latin typeface="Arial"/>
              </a:rPr>
              <a:t>Thursday you’ll build </a:t>
            </a:r>
            <a:r>
              <a:rPr sz="2200" b="1">
                <a:solidFill>
                  <a:srgbClr val="00FF41"/>
                </a:solidFill>
                <a:latin typeface="Arial"/>
              </a:rPr>
              <a:t>for a human value</a:t>
            </a:r>
            <a:r>
              <a:rPr sz="2200" b="0">
                <a:solidFill>
                  <a:srgbClr val="F5F7FA"/>
                </a:solidFill>
                <a:latin typeface="Arial"/>
              </a:rPr>
              <a:t> (Project 2).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8A94A6"/>
                </a:solidFill>
                <a:latin typeface="Arial"/>
              </a:rPr>
              <a:t>This week, watch for the one you actually care about — privacy, accessibility, sustainability, fairness, dignity, autonomy — and how a small app could serve it.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5A6474"/>
                </a:solidFill>
                <a:latin typeface="Arial"/>
              </a:rPr>
              <a:t>Reading: The Values Map (Common Cause) · Textbook: Values at Play (provided).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