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deck is a split: RED = the problem (how AI harms), GREEN = the defense (AI against AI). Say that up front so the colors read as good/bad.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Convergent across the field: Weidinger et al. 2022 (FAccT), Shelby et al. 2023 (AIES), MIT AI Risk Repository, NIST AI RMF, EU AI Act all carve up roughly these categories. This is the general OVERVIEW; we go deep on the ones we can defend. Sources slide at the 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NBC/CBS (Swift, Jan 2024); CNN/Axios (Westfield NJ, Nov 2023); NPR (NH robocall, FCC $6M); CNN Business (Arup, May 2024). All verified.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CBS/CNBC (Character.AI, 2026); Al Jazeera (Dutch toeslagenaffaire, 2021); NYT/ACLU (Clearview; Williams, Woodruff, Parks, Reid). All verified.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TIME (Sama/Kenya, Jan 2023); Li et al. arXiv:2304.03271 + UC Riverside (water — use per-session framing, not 'a bottle per prompt'); NPR (emissions); Authors Guild/Norton Rose (Bartz v. Anthropic ~$1.5B). All verified.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Pivot from red to green. Not every harm has a clean technical fix — but some do, and that's where we go deep.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good/bad mirror: same 7 values, now the DEFENSE column. We go deep on three: obfuscation (privacy), the China labor case (labor), and the DSI paper (privacy of groups).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 'Co-founded a kombucha startup in 2019.' Verify with curl. Full walkthrough in the repo example (activity1_obfuscation-example).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PLACEHOLDER for Hauke's own slide on prompt injection as an obfuscation defense — replace this frame with your content after importing to Google Slides.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OfficeChai, 'China's workers are weaponizing AI…'. A vivid AI-against-AI case for LABOR autonomy: refusing to feed the model that would replace you. 60% of Chinese employees already use AI weekly.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Hauke's FAccT 2025 paper (paired reading). Uses inference (AI) to expose that individual anonymization fails at the GROUP level — a contextual-integrity argument. Refine framing to taste.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brainstorm before building. Prompts to seed it: detectors, cloaks, noise, provenance, refusal/withholding, audits, watermarks. Have a few teams shout one out and map it to a value. This warms up Part 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A edits week1/7_13; Part B lives in week2/7_22/code_deliverable. Template: vibe-report-template.md.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Obfuscation, Ch. 1 (Brunton &amp; Nissenbaum). Every defense points a weapon somewhere — name where. The DSI paper is the cautionary flip: the same inference that defends can also expose.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incidents verified against these reputable sources. Caveats to state if asked: AI 'water per prompt' is per-session not per-prompt; 'X% of the web is AI' figures are single-vendor estimates — cite NewsGuard's tracked site counts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0FF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286000"/>
            <a:ext cx="10515600" cy="457200"/>
          </a:xfrm>
          <a:prstGeom prst="rect">
            <a:avLst/>
          </a:prstGeom>
          <a:noFill/>
        </p:spPr>
        <p:txBody>
          <a:bodyPr wrap="square" anchor="t">
            <a:spAutoFit/>
          </a:bodyPr>
          <a:lstStyle/>
          <a:p>
            <a:pPr algn="l">
              <a:lnSpc>
                <a:spcPct val="100000"/>
              </a:lnSpc>
            </a:pPr>
            <a:r>
              <a:rPr sz="1600" b="1">
                <a:solidFill>
                  <a:srgbClr val="00FF41"/>
                </a:solidFill>
                <a:latin typeface="Courier New"/>
              </a:rPr>
              <a:t>WEEK 2 · WEDNESDAY</a:t>
            </a:r>
          </a:p>
        </p:txBody>
      </p:sp>
      <p:sp>
        <p:nvSpPr>
          <p:cNvPr id="4" name="TextBox 3"/>
          <p:cNvSpPr txBox="1"/>
          <p:nvPr/>
        </p:nvSpPr>
        <p:spPr>
          <a:xfrm>
            <a:off x="804672" y="2788920"/>
            <a:ext cx="10515600" cy="1463040"/>
          </a:xfrm>
          <a:prstGeom prst="rect">
            <a:avLst/>
          </a:prstGeom>
          <a:noFill/>
        </p:spPr>
        <p:txBody>
          <a:bodyPr wrap="square" anchor="t">
            <a:spAutoFit/>
          </a:bodyPr>
          <a:lstStyle/>
          <a:p>
            <a:pPr algn="l">
              <a:lnSpc>
                <a:spcPct val="100000"/>
              </a:lnSpc>
            </a:pPr>
            <a:r>
              <a:rPr sz="4600" b="1">
                <a:solidFill>
                  <a:srgbClr val="F5F7FA"/>
                </a:solidFill>
                <a:latin typeface="Arial"/>
              </a:rPr>
              <a:t>AI Against AI</a:t>
            </a:r>
          </a:p>
        </p:txBody>
      </p:sp>
      <p:sp>
        <p:nvSpPr>
          <p:cNvPr id="5" name="TextBox 4"/>
          <p:cNvSpPr txBox="1"/>
          <p:nvPr/>
        </p:nvSpPr>
        <p:spPr>
          <a:xfrm>
            <a:off x="841248" y="4160520"/>
            <a:ext cx="10058400" cy="457200"/>
          </a:xfrm>
          <a:prstGeom prst="rect">
            <a:avLst/>
          </a:prstGeom>
          <a:noFill/>
        </p:spPr>
        <p:txBody>
          <a:bodyPr wrap="square" anchor="t">
            <a:spAutoFit/>
          </a:bodyPr>
          <a:lstStyle/>
          <a:p>
            <a:pPr algn="l">
              <a:lnSpc>
                <a:spcPct val="100000"/>
              </a:lnSpc>
            </a:pPr>
            <a:r>
              <a:rPr sz="1500" b="0">
                <a:solidFill>
                  <a:srgbClr val="8A94A6"/>
                </a:solidFill>
                <a:latin typeface="Arial"/>
              </a:rPr>
              <a:t>Ethics — Doing the right thing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extBox 1"/>
          <p:cNvSpPr txBox="1"/>
          <p:nvPr/>
        </p:nvSpPr>
        <p:spPr>
          <a:xfrm>
            <a:off x="640080" y="502920"/>
            <a:ext cx="10058400" cy="365760"/>
          </a:xfrm>
          <a:prstGeom prst="rect">
            <a:avLst/>
          </a:prstGeom>
          <a:noFill/>
        </p:spPr>
        <p:txBody>
          <a:bodyPr wrap="square" anchor="t">
            <a:spAutoFit/>
          </a:bodyPr>
          <a:lstStyle/>
          <a:p>
            <a:pPr algn="l">
              <a:lnSpc>
                <a:spcPct val="100000"/>
              </a:lnSpc>
            </a:pPr>
            <a:r>
              <a:rPr sz="1300" b="1">
                <a:solidFill>
                  <a:srgbClr val="00FF41"/>
                </a:solidFill>
                <a:latin typeface="Courier New"/>
              </a:rPr>
              <a:t>WARM-UP</a:t>
            </a:r>
          </a:p>
        </p:txBody>
      </p:sp>
      <p:sp>
        <p:nvSpPr>
          <p:cNvPr id="3" name="TextBox 2"/>
          <p:cNvSpPr txBox="1"/>
          <p:nvPr/>
        </p:nvSpPr>
        <p:spPr>
          <a:xfrm>
            <a:off x="1097280" y="548640"/>
            <a:ext cx="2743200" cy="1828800"/>
          </a:xfrm>
          <a:prstGeom prst="rect">
            <a:avLst/>
          </a:prstGeom>
          <a:noFill/>
        </p:spPr>
        <p:txBody>
          <a:bodyPr wrap="square" anchor="t">
            <a:spAutoFit/>
          </a:bodyPr>
          <a:lstStyle/>
          <a:p>
            <a:pPr algn="l">
              <a:lnSpc>
                <a:spcPct val="100000"/>
              </a:lnSpc>
            </a:pPr>
            <a:r>
              <a:rPr sz="12000" b="1">
                <a:solidFill>
                  <a:srgbClr val="00FF41"/>
                </a:solidFill>
                <a:latin typeface="Arial"/>
              </a:rPr>
              <a:t>?</a:t>
            </a:r>
          </a:p>
        </p:txBody>
      </p:sp>
      <p:sp>
        <p:nvSpPr>
          <p:cNvPr id="4" name="TextBox 3"/>
          <p:cNvSpPr txBox="1"/>
          <p:nvPr/>
        </p:nvSpPr>
        <p:spPr>
          <a:xfrm>
            <a:off x="1097280" y="2743200"/>
            <a:ext cx="10058400" cy="3108960"/>
          </a:xfrm>
          <a:prstGeom prst="rect">
            <a:avLst/>
          </a:prstGeom>
          <a:noFill/>
        </p:spPr>
        <p:txBody>
          <a:bodyPr wrap="square" anchor="t">
            <a:spAutoFit/>
          </a:bodyPr>
          <a:lstStyle/>
          <a:p>
            <a:pPr algn="l">
              <a:lnSpc>
                <a:spcPct val="112000"/>
              </a:lnSpc>
            </a:pPr>
            <a:r>
              <a:rPr sz="3000" b="1">
                <a:solidFill>
                  <a:srgbClr val="F5F7FA"/>
                </a:solidFill>
                <a:latin typeface="Arial"/>
              </a:rPr>
              <a:t>Two questions, all class:</a:t>
            </a:r>
          </a:p>
          <a:p>
            <a:pPr algn="l">
              <a:lnSpc>
                <a:spcPct val="112000"/>
              </a:lnSpc>
            </a:pPr>
            <a:r>
              <a:rPr sz="3000" b="1">
                <a:solidFill>
                  <a:srgbClr val="F5F7FA"/>
                </a:solidFill>
                <a:latin typeface="Arial"/>
              </a:rPr>
              <a:t>How is AI unethical — and can we fight back with it?</a:t>
            </a:r>
          </a:p>
        </p:txBody>
      </p:sp>
      <p:sp>
        <p:nvSpPr>
          <p:cNvPr id="5" name="TextBox 4"/>
          <p:cNvSpPr txBox="1"/>
          <p:nvPr/>
        </p:nvSpPr>
        <p:spPr>
          <a:xfrm>
            <a:off x="640080" y="6355080"/>
            <a:ext cx="10972800" cy="365760"/>
          </a:xfrm>
          <a:prstGeom prst="rect">
            <a:avLst/>
          </a:prstGeom>
          <a:noFill/>
        </p:spPr>
        <p:txBody>
          <a:bodyPr wrap="square" anchor="t">
            <a:spAutoFit/>
          </a:bodyPr>
          <a:lstStyle/>
          <a:p>
            <a:pPr algn="l">
              <a:lnSpc>
                <a:spcPct val="100000"/>
              </a:lnSpc>
            </a:pPr>
            <a:r>
              <a:rPr sz="1000" b="0">
                <a:solidFill>
                  <a:srgbClr val="5A6474"/>
                </a:solidFill>
                <a:latin typeface="Courier New"/>
              </a:rPr>
              <a:t>Good Code, Good Vibes · TECHIE 1121 · Cornell Tech · Summer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94560"/>
            <a:ext cx="10515600" cy="548640"/>
          </a:xfrm>
          <a:prstGeom prst="rect">
            <a:avLst/>
          </a:prstGeom>
          <a:noFill/>
        </p:spPr>
        <p:txBody>
          <a:bodyPr wrap="square" anchor="t">
            <a:spAutoFit/>
          </a:bodyPr>
          <a:lstStyle/>
          <a:p>
            <a:pPr algn="l">
              <a:lnSpc>
                <a:spcPct val="100000"/>
              </a:lnSpc>
            </a:pPr>
            <a:r>
              <a:rPr sz="1800" b="1">
                <a:solidFill>
                  <a:srgbClr val="FF4D4D"/>
                </a:solidFill>
                <a:latin typeface="Courier New"/>
              </a:rPr>
              <a:t>⚠  ACT 1 · THE PROBLEM</a:t>
            </a:r>
          </a:p>
        </p:txBody>
      </p:sp>
      <p:sp>
        <p:nvSpPr>
          <p:cNvPr id="4" name="TextBox 3"/>
          <p:cNvSpPr txBox="1"/>
          <p:nvPr/>
        </p:nvSpPr>
        <p:spPr>
          <a:xfrm>
            <a:off x="804672" y="2743200"/>
            <a:ext cx="10515600" cy="1554480"/>
          </a:xfrm>
          <a:prstGeom prst="rect">
            <a:avLst/>
          </a:prstGeom>
          <a:noFill/>
        </p:spPr>
        <p:txBody>
          <a:bodyPr wrap="square" anchor="t">
            <a:spAutoFit/>
          </a:bodyPr>
          <a:lstStyle/>
          <a:p>
            <a:pPr algn="l">
              <a:lnSpc>
                <a:spcPct val="100000"/>
              </a:lnSpc>
            </a:pPr>
            <a:r>
              <a:rPr sz="4800" b="1">
                <a:solidFill>
                  <a:srgbClr val="F5F7FA"/>
                </a:solidFill>
                <a:latin typeface="Arial"/>
              </a:rPr>
              <a:t>How AI is unethical</a:t>
            </a:r>
          </a:p>
        </p:txBody>
      </p:sp>
      <p:sp>
        <p:nvSpPr>
          <p:cNvPr id="5" name="TextBox 4"/>
          <p:cNvSpPr txBox="1"/>
          <p:nvPr/>
        </p:nvSpPr>
        <p:spPr>
          <a:xfrm>
            <a:off x="841248" y="4297680"/>
            <a:ext cx="10058400" cy="640080"/>
          </a:xfrm>
          <a:prstGeom prst="rect">
            <a:avLst/>
          </a:prstGeom>
          <a:noFill/>
        </p:spPr>
        <p:txBody>
          <a:bodyPr wrap="square" anchor="t">
            <a:spAutoFit/>
          </a:bodyPr>
          <a:lstStyle/>
          <a:p>
            <a:pPr algn="l">
              <a:lnSpc>
                <a:spcPct val="100000"/>
              </a:lnSpc>
            </a:pPr>
            <a:r>
              <a:rPr sz="1900" b="0">
                <a:solidFill>
                  <a:srgbClr val="8A94A6"/>
                </a:solidFill>
                <a:latin typeface="Arial"/>
              </a:rPr>
              <a:t>A map of the values AI puts under threat — then the receipts.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extBox 1"/>
          <p:cNvSpPr txBox="1"/>
          <p:nvPr/>
        </p:nvSpPr>
        <p:spPr>
          <a:xfrm>
            <a:off x="640080" y="502920"/>
            <a:ext cx="10058400" cy="365760"/>
          </a:xfrm>
          <a:prstGeom prst="rect">
            <a:avLst/>
          </a:prstGeom>
          <a:noFill/>
        </p:spPr>
        <p:txBody>
          <a:bodyPr wrap="square" anchor="t">
            <a:spAutoFit/>
          </a:bodyPr>
          <a:lstStyle/>
          <a:p>
            <a:pPr algn="l">
              <a:lnSpc>
                <a:spcPct val="100000"/>
              </a:lnSpc>
            </a:pPr>
            <a:r>
              <a:rPr sz="1300" b="1">
                <a:solidFill>
                  <a:srgbClr val="FF4D4D"/>
                </a:solidFill>
                <a:latin typeface="Courier New"/>
              </a:rPr>
              <a:t>THE MAP · VALUES UNDER THREAT</a:t>
            </a:r>
          </a:p>
        </p:txBody>
      </p:sp>
      <p:sp>
        <p:nvSpPr>
          <p:cNvPr id="3" name="Rectangle 2"/>
          <p:cNvSpPr/>
          <p:nvPr/>
        </p:nvSpPr>
        <p:spPr>
          <a:xfrm>
            <a:off x="640080" y="932688"/>
            <a:ext cx="822960" cy="73152"/>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24128"/>
            <a:ext cx="10972800" cy="822960"/>
          </a:xfrm>
          <a:prstGeom prst="rect">
            <a:avLst/>
          </a:prstGeom>
          <a:noFill/>
        </p:spPr>
        <p:txBody>
          <a:bodyPr wrap="square" anchor="t">
            <a:spAutoFit/>
          </a:bodyPr>
          <a:lstStyle/>
          <a:p>
            <a:pPr algn="l">
              <a:lnSpc>
                <a:spcPct val="100000"/>
              </a:lnSpc>
            </a:pPr>
            <a:r>
              <a:rPr sz="3000" b="1">
                <a:solidFill>
                  <a:srgbClr val="F5F7FA"/>
                </a:solidFill>
                <a:latin typeface="Arial"/>
              </a:rPr>
              <a:t>What AI puts at risk</a:t>
            </a:r>
          </a:p>
        </p:txBody>
      </p:sp>
      <p:sp>
        <p:nvSpPr>
          <p:cNvPr id="5" name="Rounded Rectangle 4"/>
          <p:cNvSpPr/>
          <p:nvPr/>
        </p:nvSpPr>
        <p:spPr>
          <a:xfrm>
            <a:off x="640080" y="2011680"/>
            <a:ext cx="2522143" cy="196596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011680"/>
            <a:ext cx="82296" cy="196596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231136"/>
            <a:ext cx="2010079" cy="777240"/>
          </a:xfrm>
          <a:prstGeom prst="rect">
            <a:avLst/>
          </a:prstGeom>
          <a:noFill/>
        </p:spPr>
        <p:txBody>
          <a:bodyPr wrap="square" anchor="t">
            <a:spAutoFit/>
          </a:bodyPr>
          <a:lstStyle/>
          <a:p>
            <a:pPr algn="l">
              <a:lnSpc>
                <a:spcPct val="102000"/>
              </a:lnSpc>
            </a:pPr>
            <a:r>
              <a:rPr sz="1900" b="0">
                <a:solidFill>
                  <a:srgbClr val="F5F7FA"/>
                </a:solidFill>
                <a:latin typeface="Arial"/>
              </a:rPr>
              <a:t>⚖️  </a:t>
            </a:r>
            <a:r>
              <a:rPr sz="1600" b="1">
                <a:solidFill>
                  <a:srgbClr val="F5F7FA"/>
                </a:solidFill>
                <a:latin typeface="Arial"/>
              </a:rPr>
              <a:t>Fairness &amp; Justice</a:t>
            </a:r>
          </a:p>
        </p:txBody>
      </p:sp>
      <p:sp>
        <p:nvSpPr>
          <p:cNvPr id="8" name="TextBox 7"/>
          <p:cNvSpPr txBox="1"/>
          <p:nvPr/>
        </p:nvSpPr>
        <p:spPr>
          <a:xfrm>
            <a:off x="896112" y="3182112"/>
            <a:ext cx="2010079" cy="594360"/>
          </a:xfrm>
          <a:prstGeom prst="rect">
            <a:avLst/>
          </a:prstGeom>
          <a:noFill/>
        </p:spPr>
        <p:txBody>
          <a:bodyPr wrap="square" anchor="t">
            <a:spAutoFit/>
          </a:bodyPr>
          <a:lstStyle/>
          <a:p>
            <a:pPr algn="l">
              <a:lnSpc>
                <a:spcPct val="108000"/>
              </a:lnSpc>
            </a:pPr>
            <a:r>
              <a:rPr sz="1250" b="0">
                <a:solidFill>
                  <a:srgbClr val="8A94A6"/>
                </a:solidFill>
                <a:latin typeface="Arial"/>
              </a:rPr>
              <a:t>Bias encoded and amplified — unequal calls in hiring, lending, policing, and healthcare.</a:t>
            </a:r>
          </a:p>
        </p:txBody>
      </p:sp>
      <p:sp>
        <p:nvSpPr>
          <p:cNvPr id="9" name="Rounded Rectangle 8"/>
          <p:cNvSpPr/>
          <p:nvPr/>
        </p:nvSpPr>
        <p:spPr>
          <a:xfrm>
            <a:off x="3436543" y="2011680"/>
            <a:ext cx="2522143" cy="196596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36543" y="2011680"/>
            <a:ext cx="82296" cy="196596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92575" y="2231136"/>
            <a:ext cx="2010079" cy="777240"/>
          </a:xfrm>
          <a:prstGeom prst="rect">
            <a:avLst/>
          </a:prstGeom>
          <a:noFill/>
        </p:spPr>
        <p:txBody>
          <a:bodyPr wrap="square" anchor="t">
            <a:spAutoFit/>
          </a:bodyPr>
          <a:lstStyle/>
          <a:p>
            <a:pPr algn="l">
              <a:lnSpc>
                <a:spcPct val="102000"/>
              </a:lnSpc>
            </a:pPr>
            <a:r>
              <a:rPr sz="1900" b="0">
                <a:solidFill>
                  <a:srgbClr val="F5F7FA"/>
                </a:solidFill>
                <a:latin typeface="Arial"/>
              </a:rPr>
              <a:t>🔒  </a:t>
            </a:r>
            <a:r>
              <a:rPr sz="1600" b="1">
                <a:solidFill>
                  <a:srgbClr val="F5F7FA"/>
                </a:solidFill>
                <a:latin typeface="Arial"/>
              </a:rPr>
              <a:t>Privacy &amp; Surveillance</a:t>
            </a:r>
          </a:p>
        </p:txBody>
      </p:sp>
      <p:sp>
        <p:nvSpPr>
          <p:cNvPr id="12" name="TextBox 11"/>
          <p:cNvSpPr txBox="1"/>
          <p:nvPr/>
        </p:nvSpPr>
        <p:spPr>
          <a:xfrm>
            <a:off x="3692575" y="3182112"/>
            <a:ext cx="2010079" cy="594360"/>
          </a:xfrm>
          <a:prstGeom prst="rect">
            <a:avLst/>
          </a:prstGeom>
          <a:noFill/>
        </p:spPr>
        <p:txBody>
          <a:bodyPr wrap="square" anchor="t">
            <a:spAutoFit/>
          </a:bodyPr>
          <a:lstStyle/>
          <a:p>
            <a:pPr algn="l">
              <a:lnSpc>
                <a:spcPct val="108000"/>
              </a:lnSpc>
            </a:pPr>
            <a:r>
              <a:rPr sz="1250" b="0">
                <a:solidFill>
                  <a:srgbClr val="8A94A6"/>
                </a:solidFill>
                <a:latin typeface="Arial"/>
              </a:rPr>
              <a:t>Personal data scraped and memorized; biometric tracking and mass surveillance.</a:t>
            </a:r>
          </a:p>
        </p:txBody>
      </p:sp>
      <p:sp>
        <p:nvSpPr>
          <p:cNvPr id="13" name="Rounded Rectangle 12"/>
          <p:cNvSpPr/>
          <p:nvPr/>
        </p:nvSpPr>
        <p:spPr>
          <a:xfrm>
            <a:off x="6233006" y="2011680"/>
            <a:ext cx="2522143" cy="196596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33006" y="2011680"/>
            <a:ext cx="82296" cy="196596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9038" y="2231136"/>
            <a:ext cx="2010079" cy="777240"/>
          </a:xfrm>
          <a:prstGeom prst="rect">
            <a:avLst/>
          </a:prstGeom>
          <a:noFill/>
        </p:spPr>
        <p:txBody>
          <a:bodyPr wrap="square" anchor="t">
            <a:spAutoFit/>
          </a:bodyPr>
          <a:lstStyle/>
          <a:p>
            <a:pPr algn="l">
              <a:lnSpc>
                <a:spcPct val="102000"/>
              </a:lnSpc>
            </a:pPr>
            <a:r>
              <a:rPr sz="1900" b="0">
                <a:solidFill>
                  <a:srgbClr val="F5F7FA"/>
                </a:solidFill>
                <a:latin typeface="Arial"/>
              </a:rPr>
              <a:t>📰  </a:t>
            </a:r>
            <a:r>
              <a:rPr sz="1600" b="1">
                <a:solidFill>
                  <a:srgbClr val="F5F7FA"/>
                </a:solidFill>
                <a:latin typeface="Arial"/>
              </a:rPr>
              <a:t>Truth &amp; Democracy</a:t>
            </a:r>
          </a:p>
        </p:txBody>
      </p:sp>
      <p:sp>
        <p:nvSpPr>
          <p:cNvPr id="16" name="TextBox 15"/>
          <p:cNvSpPr txBox="1"/>
          <p:nvPr/>
        </p:nvSpPr>
        <p:spPr>
          <a:xfrm>
            <a:off x="6489038" y="3182112"/>
            <a:ext cx="2010079" cy="594360"/>
          </a:xfrm>
          <a:prstGeom prst="rect">
            <a:avLst/>
          </a:prstGeom>
          <a:noFill/>
        </p:spPr>
        <p:txBody>
          <a:bodyPr wrap="square" anchor="t">
            <a:spAutoFit/>
          </a:bodyPr>
          <a:lstStyle/>
          <a:p>
            <a:pPr algn="l">
              <a:lnSpc>
                <a:spcPct val="108000"/>
              </a:lnSpc>
            </a:pPr>
            <a:r>
              <a:rPr sz="1250" b="0">
                <a:solidFill>
                  <a:srgbClr val="8A94A6"/>
                </a:solidFill>
                <a:latin typeface="Arial"/>
              </a:rPr>
              <a:t>Fluent falsehoods and cheap propaganda erode shared facts and fair elections.</a:t>
            </a:r>
          </a:p>
        </p:txBody>
      </p:sp>
      <p:sp>
        <p:nvSpPr>
          <p:cNvPr id="17" name="Rounded Rectangle 16"/>
          <p:cNvSpPr/>
          <p:nvPr/>
        </p:nvSpPr>
        <p:spPr>
          <a:xfrm>
            <a:off x="9029469" y="2011680"/>
            <a:ext cx="2522143" cy="196596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29469" y="2011680"/>
            <a:ext cx="82296" cy="196596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85501" y="2231136"/>
            <a:ext cx="2010079" cy="777240"/>
          </a:xfrm>
          <a:prstGeom prst="rect">
            <a:avLst/>
          </a:prstGeom>
          <a:noFill/>
        </p:spPr>
        <p:txBody>
          <a:bodyPr wrap="square" anchor="t">
            <a:spAutoFit/>
          </a:bodyPr>
          <a:lstStyle/>
          <a:p>
            <a:pPr algn="l">
              <a:lnSpc>
                <a:spcPct val="102000"/>
              </a:lnSpc>
            </a:pPr>
            <a:r>
              <a:rPr sz="1900" b="0">
                <a:solidFill>
                  <a:srgbClr val="F5F7FA"/>
                </a:solidFill>
                <a:latin typeface="Arial"/>
              </a:rPr>
              <a:t>🧠  </a:t>
            </a:r>
            <a:r>
              <a:rPr sz="1600" b="1">
                <a:solidFill>
                  <a:srgbClr val="F5F7FA"/>
                </a:solidFill>
                <a:latin typeface="Arial"/>
              </a:rPr>
              <a:t>Autonomy &amp; Dignity</a:t>
            </a:r>
          </a:p>
        </p:txBody>
      </p:sp>
      <p:sp>
        <p:nvSpPr>
          <p:cNvPr id="20" name="TextBox 19"/>
          <p:cNvSpPr txBox="1"/>
          <p:nvPr/>
        </p:nvSpPr>
        <p:spPr>
          <a:xfrm>
            <a:off x="9285501" y="3182112"/>
            <a:ext cx="2010079" cy="594360"/>
          </a:xfrm>
          <a:prstGeom prst="rect">
            <a:avLst/>
          </a:prstGeom>
          <a:noFill/>
        </p:spPr>
        <p:txBody>
          <a:bodyPr wrap="square" anchor="t">
            <a:spAutoFit/>
          </a:bodyPr>
          <a:lstStyle/>
          <a:p>
            <a:pPr algn="l">
              <a:lnSpc>
                <a:spcPct val="108000"/>
              </a:lnSpc>
            </a:pPr>
            <a:r>
              <a:rPr sz="1250" b="0">
                <a:solidFill>
                  <a:srgbClr val="8A94A6"/>
                </a:solidFill>
                <a:latin typeface="Arial"/>
              </a:rPr>
              <a:t>Manipulative, addictive design and social scoring strip human agency.</a:t>
            </a:r>
          </a:p>
        </p:txBody>
      </p:sp>
      <p:sp>
        <p:nvSpPr>
          <p:cNvPr id="21" name="Rounded Rectangle 20"/>
          <p:cNvSpPr/>
          <p:nvPr/>
        </p:nvSpPr>
        <p:spPr>
          <a:xfrm>
            <a:off x="640080" y="4251960"/>
            <a:ext cx="2522143" cy="196596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4251960"/>
            <a:ext cx="82296" cy="196596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471416"/>
            <a:ext cx="2010079" cy="777240"/>
          </a:xfrm>
          <a:prstGeom prst="rect">
            <a:avLst/>
          </a:prstGeom>
          <a:noFill/>
        </p:spPr>
        <p:txBody>
          <a:bodyPr wrap="square" anchor="t">
            <a:spAutoFit/>
          </a:bodyPr>
          <a:lstStyle/>
          <a:p>
            <a:pPr algn="l">
              <a:lnSpc>
                <a:spcPct val="102000"/>
              </a:lnSpc>
            </a:pPr>
            <a:r>
              <a:rPr sz="1900" b="0">
                <a:solidFill>
                  <a:srgbClr val="F5F7FA"/>
                </a:solidFill>
                <a:latin typeface="Arial"/>
              </a:rPr>
              <a:t>⚠️  </a:t>
            </a:r>
            <a:r>
              <a:rPr sz="1600" b="1">
                <a:solidFill>
                  <a:srgbClr val="F5F7FA"/>
                </a:solidFill>
                <a:latin typeface="Arial"/>
              </a:rPr>
              <a:t>Safety</a:t>
            </a:r>
          </a:p>
        </p:txBody>
      </p:sp>
      <p:sp>
        <p:nvSpPr>
          <p:cNvPr id="24" name="TextBox 23"/>
          <p:cNvSpPr txBox="1"/>
          <p:nvPr/>
        </p:nvSpPr>
        <p:spPr>
          <a:xfrm>
            <a:off x="896112" y="5422392"/>
            <a:ext cx="2010079" cy="594360"/>
          </a:xfrm>
          <a:prstGeom prst="rect">
            <a:avLst/>
          </a:prstGeom>
          <a:noFill/>
        </p:spPr>
        <p:txBody>
          <a:bodyPr wrap="square" anchor="t">
            <a:spAutoFit/>
          </a:bodyPr>
          <a:lstStyle/>
          <a:p>
            <a:pPr algn="l">
              <a:lnSpc>
                <a:spcPct val="108000"/>
              </a:lnSpc>
            </a:pPr>
            <a:r>
              <a:rPr sz="1250" b="0">
                <a:solidFill>
                  <a:srgbClr val="8A94A6"/>
                </a:solidFill>
                <a:latin typeface="Arial"/>
              </a:rPr>
              <a:t>Malicious use, deepfakes, voice-clone fraud, and companion-bot harm.</a:t>
            </a:r>
          </a:p>
        </p:txBody>
      </p:sp>
      <p:sp>
        <p:nvSpPr>
          <p:cNvPr id="25" name="Rounded Rectangle 24"/>
          <p:cNvSpPr/>
          <p:nvPr/>
        </p:nvSpPr>
        <p:spPr>
          <a:xfrm>
            <a:off x="3436543" y="4251960"/>
            <a:ext cx="2522143" cy="196596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436543" y="4251960"/>
            <a:ext cx="82296" cy="196596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92575" y="4471416"/>
            <a:ext cx="2010079" cy="777240"/>
          </a:xfrm>
          <a:prstGeom prst="rect">
            <a:avLst/>
          </a:prstGeom>
          <a:noFill/>
        </p:spPr>
        <p:txBody>
          <a:bodyPr wrap="square" anchor="t">
            <a:spAutoFit/>
          </a:bodyPr>
          <a:lstStyle/>
          <a:p>
            <a:pPr algn="l">
              <a:lnSpc>
                <a:spcPct val="102000"/>
              </a:lnSpc>
            </a:pPr>
            <a:r>
              <a:rPr sz="1900" b="0">
                <a:solidFill>
                  <a:srgbClr val="F5F7FA"/>
                </a:solidFill>
                <a:latin typeface="Arial"/>
              </a:rPr>
              <a:t>🌍  </a:t>
            </a:r>
            <a:r>
              <a:rPr sz="1600" b="1">
                <a:solidFill>
                  <a:srgbClr val="F5F7FA"/>
                </a:solidFill>
                <a:latin typeface="Arial"/>
              </a:rPr>
              <a:t>Labor &amp; Environment</a:t>
            </a:r>
          </a:p>
        </p:txBody>
      </p:sp>
      <p:sp>
        <p:nvSpPr>
          <p:cNvPr id="28" name="TextBox 27"/>
          <p:cNvSpPr txBox="1"/>
          <p:nvPr/>
        </p:nvSpPr>
        <p:spPr>
          <a:xfrm>
            <a:off x="3692575" y="5422392"/>
            <a:ext cx="2010079" cy="594360"/>
          </a:xfrm>
          <a:prstGeom prst="rect">
            <a:avLst/>
          </a:prstGeom>
          <a:noFill/>
        </p:spPr>
        <p:txBody>
          <a:bodyPr wrap="square" anchor="t">
            <a:spAutoFit/>
          </a:bodyPr>
          <a:lstStyle/>
          <a:p>
            <a:pPr algn="l">
              <a:lnSpc>
                <a:spcPct val="108000"/>
              </a:lnSpc>
            </a:pPr>
            <a:r>
              <a:rPr sz="1250" b="0">
                <a:solidFill>
                  <a:srgbClr val="8A94A6"/>
                </a:solidFill>
                <a:latin typeface="Arial"/>
              </a:rPr>
              <a:t>Jobs displaced onto low-paid ‘ghost work’; energy and freshwater burned.</a:t>
            </a:r>
          </a:p>
        </p:txBody>
      </p:sp>
      <p:sp>
        <p:nvSpPr>
          <p:cNvPr id="29" name="Rounded Rectangle 28"/>
          <p:cNvSpPr/>
          <p:nvPr/>
        </p:nvSpPr>
        <p:spPr>
          <a:xfrm>
            <a:off x="6233006" y="4251960"/>
            <a:ext cx="2522143" cy="196596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3006" y="4251960"/>
            <a:ext cx="82296" cy="1965960"/>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89038" y="4471416"/>
            <a:ext cx="2010079" cy="777240"/>
          </a:xfrm>
          <a:prstGeom prst="rect">
            <a:avLst/>
          </a:prstGeom>
          <a:noFill/>
        </p:spPr>
        <p:txBody>
          <a:bodyPr wrap="square" anchor="t">
            <a:spAutoFit/>
          </a:bodyPr>
          <a:lstStyle/>
          <a:p>
            <a:pPr algn="l">
              <a:lnSpc>
                <a:spcPct val="102000"/>
              </a:lnSpc>
            </a:pPr>
            <a:r>
              <a:rPr sz="1900" b="0">
                <a:solidFill>
                  <a:srgbClr val="F5F7FA"/>
                </a:solidFill>
                <a:latin typeface="Arial"/>
              </a:rPr>
              <a:t>🎭  </a:t>
            </a:r>
            <a:r>
              <a:rPr sz="1600" b="1">
                <a:solidFill>
                  <a:srgbClr val="F5F7FA"/>
                </a:solidFill>
                <a:latin typeface="Arial"/>
              </a:rPr>
              <a:t>Accountability &amp; Authenticity</a:t>
            </a:r>
          </a:p>
        </p:txBody>
      </p:sp>
      <p:sp>
        <p:nvSpPr>
          <p:cNvPr id="32" name="TextBox 31"/>
          <p:cNvSpPr txBox="1"/>
          <p:nvPr/>
        </p:nvSpPr>
        <p:spPr>
          <a:xfrm>
            <a:off x="6489038" y="5422392"/>
            <a:ext cx="2010079" cy="594360"/>
          </a:xfrm>
          <a:prstGeom prst="rect">
            <a:avLst/>
          </a:prstGeom>
          <a:noFill/>
        </p:spPr>
        <p:txBody>
          <a:bodyPr wrap="square" anchor="t">
            <a:spAutoFit/>
          </a:bodyPr>
          <a:lstStyle/>
          <a:p>
            <a:pPr algn="l">
              <a:lnSpc>
                <a:spcPct val="108000"/>
              </a:lnSpc>
            </a:pPr>
            <a:r>
              <a:rPr sz="1250" b="0">
                <a:solidFill>
                  <a:srgbClr val="8A94A6"/>
                </a:solidFill>
                <a:latin typeface="Arial"/>
              </a:rPr>
              <a:t>Opaque decisions with no redress; synthetic media and style theft.</a:t>
            </a:r>
          </a:p>
        </p:txBody>
      </p:sp>
      <p:sp>
        <p:nvSpPr>
          <p:cNvPr id="33" name="TextBox 32"/>
          <p:cNvSpPr txBox="1"/>
          <p:nvPr/>
        </p:nvSpPr>
        <p:spPr>
          <a:xfrm>
            <a:off x="640080" y="6355080"/>
            <a:ext cx="10972800" cy="365760"/>
          </a:xfrm>
          <a:prstGeom prst="rect">
            <a:avLst/>
          </a:prstGeom>
          <a:noFill/>
        </p:spPr>
        <p:txBody>
          <a:bodyPr wrap="square" anchor="t">
            <a:spAutoFit/>
          </a:bodyPr>
          <a:lstStyle/>
          <a:p>
            <a:pPr algn="l">
              <a:lnSpc>
                <a:spcPct val="100000"/>
              </a:lnSpc>
            </a:pPr>
            <a:r>
              <a:rPr sz="1000" b="0">
                <a:solidFill>
                  <a:srgbClr val="5A6474"/>
                </a:solidFill>
                <a:latin typeface="Courier New"/>
              </a:rPr>
              <a:t>Good Code, Good Vibes · TECHIE 1121 · Cornell Tech · Summer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extBox 1"/>
          <p:cNvSpPr txBox="1"/>
          <p:nvPr/>
        </p:nvSpPr>
        <p:spPr>
          <a:xfrm>
            <a:off x="640080" y="502920"/>
            <a:ext cx="10058400" cy="365760"/>
          </a:xfrm>
          <a:prstGeom prst="rect">
            <a:avLst/>
          </a:prstGeom>
          <a:noFill/>
        </p:spPr>
        <p:txBody>
          <a:bodyPr wrap="square" anchor="t">
            <a:spAutoFit/>
          </a:bodyPr>
          <a:lstStyle/>
          <a:p>
            <a:pPr algn="l">
              <a:lnSpc>
                <a:spcPct val="100000"/>
              </a:lnSpc>
            </a:pPr>
            <a:r>
              <a:rPr sz="1300" b="1">
                <a:solidFill>
                  <a:srgbClr val="FF4D4D"/>
                </a:solidFill>
                <a:latin typeface="Courier New"/>
              </a:rPr>
              <a:t>NOT HYPOTHETICAL · 1</a:t>
            </a:r>
          </a:p>
        </p:txBody>
      </p:sp>
      <p:sp>
        <p:nvSpPr>
          <p:cNvPr id="3" name="Rectangle 2"/>
          <p:cNvSpPr/>
          <p:nvPr/>
        </p:nvSpPr>
        <p:spPr>
          <a:xfrm>
            <a:off x="640080" y="932688"/>
            <a:ext cx="822960" cy="73152"/>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72800" cy="914400"/>
          </a:xfrm>
          <a:prstGeom prst="rect">
            <a:avLst/>
          </a:prstGeom>
          <a:noFill/>
        </p:spPr>
        <p:txBody>
          <a:bodyPr wrap="square" anchor="t">
            <a:spAutoFit/>
          </a:bodyPr>
          <a:lstStyle/>
          <a:p>
            <a:pPr algn="l">
              <a:lnSpc>
                <a:spcPct val="100000"/>
              </a:lnSpc>
            </a:pPr>
            <a:r>
              <a:rPr sz="3200" b="1">
                <a:solidFill>
                  <a:srgbClr val="F5F7FA"/>
                </a:solidFill>
                <a:latin typeface="Arial"/>
              </a:rPr>
              <a:t>It’s already happening</a:t>
            </a:r>
          </a:p>
        </p:txBody>
      </p:sp>
      <p:sp>
        <p:nvSpPr>
          <p:cNvPr id="5" name="Rounded Rectangle 4"/>
          <p:cNvSpPr/>
          <p:nvPr/>
        </p:nvSpPr>
        <p:spPr>
          <a:xfrm>
            <a:off x="640080" y="2468880"/>
            <a:ext cx="3393338" cy="338328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468880"/>
            <a:ext cx="3393338" cy="82296"/>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88920"/>
            <a:ext cx="2844698" cy="457200"/>
          </a:xfrm>
          <a:prstGeom prst="rect">
            <a:avLst/>
          </a:prstGeom>
          <a:noFill/>
        </p:spPr>
        <p:txBody>
          <a:bodyPr wrap="square" anchor="t">
            <a:spAutoFit/>
          </a:bodyPr>
          <a:lstStyle/>
          <a:p>
            <a:pPr algn="l">
              <a:lnSpc>
                <a:spcPct val="100000"/>
              </a:lnSpc>
            </a:pPr>
            <a:r>
              <a:rPr sz="1200" b="1">
                <a:solidFill>
                  <a:srgbClr val="FF4D4D"/>
                </a:solidFill>
                <a:latin typeface="Courier New"/>
              </a:rPr>
              <a:t>DIGNITY</a:t>
            </a:r>
          </a:p>
        </p:txBody>
      </p:sp>
      <p:sp>
        <p:nvSpPr>
          <p:cNvPr id="8" name="TextBox 7"/>
          <p:cNvSpPr txBox="1"/>
          <p:nvPr/>
        </p:nvSpPr>
        <p:spPr>
          <a:xfrm>
            <a:off x="914400" y="3246120"/>
            <a:ext cx="2844698" cy="822960"/>
          </a:xfrm>
          <a:prstGeom prst="rect">
            <a:avLst/>
          </a:prstGeom>
          <a:noFill/>
        </p:spPr>
        <p:txBody>
          <a:bodyPr wrap="square" anchor="t">
            <a:spAutoFit/>
          </a:bodyPr>
          <a:lstStyle/>
          <a:p>
            <a:pPr algn="l">
              <a:lnSpc>
                <a:spcPct val="100000"/>
              </a:lnSpc>
            </a:pPr>
            <a:r>
              <a:rPr sz="2000" b="1">
                <a:solidFill>
                  <a:srgbClr val="F5F7FA"/>
                </a:solidFill>
                <a:latin typeface="Arial"/>
              </a:rPr>
              <a:t>Deepfakes</a:t>
            </a:r>
          </a:p>
        </p:txBody>
      </p:sp>
      <p:sp>
        <p:nvSpPr>
          <p:cNvPr id="9" name="TextBox 8"/>
          <p:cNvSpPr txBox="1"/>
          <p:nvPr/>
        </p:nvSpPr>
        <p:spPr>
          <a:xfrm>
            <a:off x="914400" y="4114800"/>
            <a:ext cx="2844698" cy="1554480"/>
          </a:xfrm>
          <a:prstGeom prst="rect">
            <a:avLst/>
          </a:prstGeom>
          <a:noFill/>
        </p:spPr>
        <p:txBody>
          <a:bodyPr wrap="square" anchor="t">
            <a:spAutoFit/>
          </a:bodyPr>
          <a:lstStyle/>
          <a:p>
            <a:pPr algn="l">
              <a:lnSpc>
                <a:spcPct val="110000"/>
              </a:lnSpc>
            </a:pPr>
            <a:r>
              <a:rPr sz="1500" b="0">
                <a:solidFill>
                  <a:srgbClr val="8A94A6"/>
                </a:solidFill>
                <a:latin typeface="Arial"/>
              </a:rPr>
              <a:t>Explicit AI images of Taylor Swift hit ~47M views on X (Jan 2024); 30+ girls targeted at one NJ high school.</a:t>
            </a:r>
          </a:p>
        </p:txBody>
      </p:sp>
      <p:sp>
        <p:nvSpPr>
          <p:cNvPr id="10" name="Rounded Rectangle 9"/>
          <p:cNvSpPr/>
          <p:nvPr/>
        </p:nvSpPr>
        <p:spPr>
          <a:xfrm>
            <a:off x="4399178" y="2468880"/>
            <a:ext cx="3393338" cy="338328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9178" y="2468880"/>
            <a:ext cx="3393338" cy="82296"/>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73498" y="2788920"/>
            <a:ext cx="2844698" cy="457200"/>
          </a:xfrm>
          <a:prstGeom prst="rect">
            <a:avLst/>
          </a:prstGeom>
          <a:noFill/>
        </p:spPr>
        <p:txBody>
          <a:bodyPr wrap="square" anchor="t">
            <a:spAutoFit/>
          </a:bodyPr>
          <a:lstStyle/>
          <a:p>
            <a:pPr algn="l">
              <a:lnSpc>
                <a:spcPct val="100000"/>
              </a:lnSpc>
            </a:pPr>
            <a:r>
              <a:rPr sz="1200" b="1">
                <a:solidFill>
                  <a:srgbClr val="FF4D4D"/>
                </a:solidFill>
                <a:latin typeface="Courier New"/>
              </a:rPr>
              <a:t>DEMOCRACY</a:t>
            </a:r>
          </a:p>
        </p:txBody>
      </p:sp>
      <p:sp>
        <p:nvSpPr>
          <p:cNvPr id="13" name="TextBox 12"/>
          <p:cNvSpPr txBox="1"/>
          <p:nvPr/>
        </p:nvSpPr>
        <p:spPr>
          <a:xfrm>
            <a:off x="4673498" y="3246120"/>
            <a:ext cx="2844698" cy="822960"/>
          </a:xfrm>
          <a:prstGeom prst="rect">
            <a:avLst/>
          </a:prstGeom>
          <a:noFill/>
        </p:spPr>
        <p:txBody>
          <a:bodyPr wrap="square" anchor="t">
            <a:spAutoFit/>
          </a:bodyPr>
          <a:lstStyle/>
          <a:p>
            <a:pPr algn="l">
              <a:lnSpc>
                <a:spcPct val="100000"/>
              </a:lnSpc>
            </a:pPr>
            <a:r>
              <a:rPr sz="2000" b="1">
                <a:solidFill>
                  <a:srgbClr val="F5F7FA"/>
                </a:solidFill>
                <a:latin typeface="Arial"/>
              </a:rPr>
              <a:t>Election fakes</a:t>
            </a:r>
          </a:p>
        </p:txBody>
      </p:sp>
      <p:sp>
        <p:nvSpPr>
          <p:cNvPr id="14" name="TextBox 13"/>
          <p:cNvSpPr txBox="1"/>
          <p:nvPr/>
        </p:nvSpPr>
        <p:spPr>
          <a:xfrm>
            <a:off x="4673498" y="4114800"/>
            <a:ext cx="2844698" cy="1554480"/>
          </a:xfrm>
          <a:prstGeom prst="rect">
            <a:avLst/>
          </a:prstGeom>
          <a:noFill/>
        </p:spPr>
        <p:txBody>
          <a:bodyPr wrap="square" anchor="t">
            <a:spAutoFit/>
          </a:bodyPr>
          <a:lstStyle/>
          <a:p>
            <a:pPr algn="l">
              <a:lnSpc>
                <a:spcPct val="110000"/>
              </a:lnSpc>
            </a:pPr>
            <a:r>
              <a:rPr sz="1500" b="0">
                <a:solidFill>
                  <a:srgbClr val="8A94A6"/>
                </a:solidFill>
                <a:latin typeface="Arial"/>
              </a:rPr>
              <a:t>An AI-cloned “Biden” robocall told NH voters to stay home — $6M FCC fine (2024).</a:t>
            </a:r>
          </a:p>
        </p:txBody>
      </p:sp>
      <p:sp>
        <p:nvSpPr>
          <p:cNvPr id="15" name="Rounded Rectangle 14"/>
          <p:cNvSpPr/>
          <p:nvPr/>
        </p:nvSpPr>
        <p:spPr>
          <a:xfrm>
            <a:off x="8158276" y="2468880"/>
            <a:ext cx="3393338" cy="338328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58276" y="2468880"/>
            <a:ext cx="3393338" cy="82296"/>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2596" y="2788920"/>
            <a:ext cx="2844698" cy="457200"/>
          </a:xfrm>
          <a:prstGeom prst="rect">
            <a:avLst/>
          </a:prstGeom>
          <a:noFill/>
        </p:spPr>
        <p:txBody>
          <a:bodyPr wrap="square" anchor="t">
            <a:spAutoFit/>
          </a:bodyPr>
          <a:lstStyle/>
          <a:p>
            <a:pPr algn="l">
              <a:lnSpc>
                <a:spcPct val="100000"/>
              </a:lnSpc>
            </a:pPr>
            <a:r>
              <a:rPr sz="1200" b="1">
                <a:solidFill>
                  <a:srgbClr val="FF4D4D"/>
                </a:solidFill>
                <a:latin typeface="Courier New"/>
              </a:rPr>
              <a:t>SECURITY</a:t>
            </a:r>
          </a:p>
        </p:txBody>
      </p:sp>
      <p:sp>
        <p:nvSpPr>
          <p:cNvPr id="18" name="TextBox 17"/>
          <p:cNvSpPr txBox="1"/>
          <p:nvPr/>
        </p:nvSpPr>
        <p:spPr>
          <a:xfrm>
            <a:off x="8432596" y="3246120"/>
            <a:ext cx="2844698" cy="822960"/>
          </a:xfrm>
          <a:prstGeom prst="rect">
            <a:avLst/>
          </a:prstGeom>
          <a:noFill/>
        </p:spPr>
        <p:txBody>
          <a:bodyPr wrap="square" anchor="t">
            <a:spAutoFit/>
          </a:bodyPr>
          <a:lstStyle/>
          <a:p>
            <a:pPr algn="l">
              <a:lnSpc>
                <a:spcPct val="100000"/>
              </a:lnSpc>
            </a:pPr>
            <a:r>
              <a:rPr sz="2000" b="1">
                <a:solidFill>
                  <a:srgbClr val="F5F7FA"/>
                </a:solidFill>
                <a:latin typeface="Arial"/>
              </a:rPr>
              <a:t>Fraud</a:t>
            </a:r>
          </a:p>
        </p:txBody>
      </p:sp>
      <p:sp>
        <p:nvSpPr>
          <p:cNvPr id="19" name="TextBox 18"/>
          <p:cNvSpPr txBox="1"/>
          <p:nvPr/>
        </p:nvSpPr>
        <p:spPr>
          <a:xfrm>
            <a:off x="8432596" y="4114800"/>
            <a:ext cx="2844698" cy="1554480"/>
          </a:xfrm>
          <a:prstGeom prst="rect">
            <a:avLst/>
          </a:prstGeom>
          <a:noFill/>
        </p:spPr>
        <p:txBody>
          <a:bodyPr wrap="square" anchor="t">
            <a:spAutoFit/>
          </a:bodyPr>
          <a:lstStyle/>
          <a:p>
            <a:pPr algn="l">
              <a:lnSpc>
                <a:spcPct val="110000"/>
              </a:lnSpc>
            </a:pPr>
            <a:r>
              <a:rPr sz="1500" b="0">
                <a:solidFill>
                  <a:srgbClr val="8A94A6"/>
                </a:solidFill>
                <a:latin typeface="Arial"/>
              </a:rPr>
              <a:t>A deepfake “CFO” on a video call cost engineering firm Arup $25M in transfers (2024).</a:t>
            </a:r>
          </a:p>
        </p:txBody>
      </p:sp>
      <p:sp>
        <p:nvSpPr>
          <p:cNvPr id="20" name="TextBox 19"/>
          <p:cNvSpPr txBox="1"/>
          <p:nvPr/>
        </p:nvSpPr>
        <p:spPr>
          <a:xfrm>
            <a:off x="640080" y="6355080"/>
            <a:ext cx="10972800" cy="365760"/>
          </a:xfrm>
          <a:prstGeom prst="rect">
            <a:avLst/>
          </a:prstGeom>
          <a:noFill/>
        </p:spPr>
        <p:txBody>
          <a:bodyPr wrap="square" anchor="t">
            <a:spAutoFit/>
          </a:bodyPr>
          <a:lstStyle/>
          <a:p>
            <a:pPr algn="l">
              <a:lnSpc>
                <a:spcPct val="100000"/>
              </a:lnSpc>
            </a:pPr>
            <a:r>
              <a:rPr sz="1000" b="0">
                <a:solidFill>
                  <a:srgbClr val="5A6474"/>
                </a:solidFill>
                <a:latin typeface="Courier New"/>
              </a:rPr>
              <a:t>Good Code, Good Vibes · TECHIE 1121 · Cornell Tech · Summer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extBox 1"/>
          <p:cNvSpPr txBox="1"/>
          <p:nvPr/>
        </p:nvSpPr>
        <p:spPr>
          <a:xfrm>
            <a:off x="640080" y="502920"/>
            <a:ext cx="10058400" cy="365760"/>
          </a:xfrm>
          <a:prstGeom prst="rect">
            <a:avLst/>
          </a:prstGeom>
          <a:noFill/>
        </p:spPr>
        <p:txBody>
          <a:bodyPr wrap="square" anchor="t">
            <a:spAutoFit/>
          </a:bodyPr>
          <a:lstStyle/>
          <a:p>
            <a:pPr algn="l">
              <a:lnSpc>
                <a:spcPct val="100000"/>
              </a:lnSpc>
            </a:pPr>
            <a:r>
              <a:rPr sz="1300" b="1">
                <a:solidFill>
                  <a:srgbClr val="FF4D4D"/>
                </a:solidFill>
                <a:latin typeface="Courier New"/>
              </a:rPr>
              <a:t>NOT HYPOTHETICAL · 2</a:t>
            </a:r>
          </a:p>
        </p:txBody>
      </p:sp>
      <p:sp>
        <p:nvSpPr>
          <p:cNvPr id="3" name="Rectangle 2"/>
          <p:cNvSpPr/>
          <p:nvPr/>
        </p:nvSpPr>
        <p:spPr>
          <a:xfrm>
            <a:off x="640080" y="932688"/>
            <a:ext cx="822960" cy="73152"/>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72800" cy="914400"/>
          </a:xfrm>
          <a:prstGeom prst="rect">
            <a:avLst/>
          </a:prstGeom>
          <a:noFill/>
        </p:spPr>
        <p:txBody>
          <a:bodyPr wrap="square" anchor="t">
            <a:spAutoFit/>
          </a:bodyPr>
          <a:lstStyle/>
          <a:p>
            <a:pPr algn="l">
              <a:lnSpc>
                <a:spcPct val="100000"/>
              </a:lnSpc>
            </a:pPr>
            <a:r>
              <a:rPr sz="3200" b="1">
                <a:solidFill>
                  <a:srgbClr val="F5F7FA"/>
                </a:solidFill>
                <a:latin typeface="Arial"/>
              </a:rPr>
              <a:t>The quieter harms</a:t>
            </a:r>
          </a:p>
        </p:txBody>
      </p:sp>
      <p:sp>
        <p:nvSpPr>
          <p:cNvPr id="5" name="Rounded Rectangle 4"/>
          <p:cNvSpPr/>
          <p:nvPr/>
        </p:nvSpPr>
        <p:spPr>
          <a:xfrm>
            <a:off x="640080" y="2468880"/>
            <a:ext cx="3393338" cy="338328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468880"/>
            <a:ext cx="3393338" cy="82296"/>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88920"/>
            <a:ext cx="2844698" cy="457200"/>
          </a:xfrm>
          <a:prstGeom prst="rect">
            <a:avLst/>
          </a:prstGeom>
          <a:noFill/>
        </p:spPr>
        <p:txBody>
          <a:bodyPr wrap="square" anchor="t">
            <a:spAutoFit/>
          </a:bodyPr>
          <a:lstStyle/>
          <a:p>
            <a:pPr algn="l">
              <a:lnSpc>
                <a:spcPct val="100000"/>
              </a:lnSpc>
            </a:pPr>
            <a:r>
              <a:rPr sz="1200" b="1">
                <a:solidFill>
                  <a:srgbClr val="FF4D4D"/>
                </a:solidFill>
                <a:latin typeface="Courier New"/>
              </a:rPr>
              <a:t>SAFETY</a:t>
            </a:r>
          </a:p>
        </p:txBody>
      </p:sp>
      <p:sp>
        <p:nvSpPr>
          <p:cNvPr id="8" name="TextBox 7"/>
          <p:cNvSpPr txBox="1"/>
          <p:nvPr/>
        </p:nvSpPr>
        <p:spPr>
          <a:xfrm>
            <a:off x="914400" y="3246120"/>
            <a:ext cx="2844698" cy="822960"/>
          </a:xfrm>
          <a:prstGeom prst="rect">
            <a:avLst/>
          </a:prstGeom>
          <a:noFill/>
        </p:spPr>
        <p:txBody>
          <a:bodyPr wrap="square" anchor="t">
            <a:spAutoFit/>
          </a:bodyPr>
          <a:lstStyle/>
          <a:p>
            <a:pPr algn="l">
              <a:lnSpc>
                <a:spcPct val="100000"/>
              </a:lnSpc>
            </a:pPr>
            <a:r>
              <a:rPr sz="2000" b="1">
                <a:solidFill>
                  <a:srgbClr val="F5F7FA"/>
                </a:solidFill>
                <a:latin typeface="Arial"/>
              </a:rPr>
              <a:t>Companion bots</a:t>
            </a:r>
          </a:p>
        </p:txBody>
      </p:sp>
      <p:sp>
        <p:nvSpPr>
          <p:cNvPr id="9" name="TextBox 8"/>
          <p:cNvSpPr txBox="1"/>
          <p:nvPr/>
        </p:nvSpPr>
        <p:spPr>
          <a:xfrm>
            <a:off x="914400" y="4114800"/>
            <a:ext cx="2844698" cy="1554480"/>
          </a:xfrm>
          <a:prstGeom prst="rect">
            <a:avLst/>
          </a:prstGeom>
          <a:noFill/>
        </p:spPr>
        <p:txBody>
          <a:bodyPr wrap="square" anchor="t">
            <a:spAutoFit/>
          </a:bodyPr>
          <a:lstStyle/>
          <a:p>
            <a:pPr algn="l">
              <a:lnSpc>
                <a:spcPct val="110000"/>
              </a:lnSpc>
            </a:pPr>
            <a:r>
              <a:rPr sz="1500" b="0">
                <a:solidFill>
                  <a:srgbClr val="8A94A6"/>
                </a:solidFill>
                <a:latin typeface="Arial"/>
              </a:rPr>
              <a:t>Character.AI settled after 14-year-old Sewell Setzer’s suicide (2024; landmark settlement 2026).</a:t>
            </a:r>
          </a:p>
        </p:txBody>
      </p:sp>
      <p:sp>
        <p:nvSpPr>
          <p:cNvPr id="10" name="Rounded Rectangle 9"/>
          <p:cNvSpPr/>
          <p:nvPr/>
        </p:nvSpPr>
        <p:spPr>
          <a:xfrm>
            <a:off x="4399178" y="2468880"/>
            <a:ext cx="3393338" cy="338328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9178" y="2468880"/>
            <a:ext cx="3393338" cy="82296"/>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73498" y="2788920"/>
            <a:ext cx="2844698" cy="457200"/>
          </a:xfrm>
          <a:prstGeom prst="rect">
            <a:avLst/>
          </a:prstGeom>
          <a:noFill/>
        </p:spPr>
        <p:txBody>
          <a:bodyPr wrap="square" anchor="t">
            <a:spAutoFit/>
          </a:bodyPr>
          <a:lstStyle/>
          <a:p>
            <a:pPr algn="l">
              <a:lnSpc>
                <a:spcPct val="100000"/>
              </a:lnSpc>
            </a:pPr>
            <a:r>
              <a:rPr sz="1200" b="1">
                <a:solidFill>
                  <a:srgbClr val="FF4D4D"/>
                </a:solidFill>
                <a:latin typeface="Courier New"/>
              </a:rPr>
              <a:t>FAIRNESS</a:t>
            </a:r>
          </a:p>
        </p:txBody>
      </p:sp>
      <p:sp>
        <p:nvSpPr>
          <p:cNvPr id="13" name="TextBox 12"/>
          <p:cNvSpPr txBox="1"/>
          <p:nvPr/>
        </p:nvSpPr>
        <p:spPr>
          <a:xfrm>
            <a:off x="4673498" y="3246120"/>
            <a:ext cx="2844698" cy="822960"/>
          </a:xfrm>
          <a:prstGeom prst="rect">
            <a:avLst/>
          </a:prstGeom>
          <a:noFill/>
        </p:spPr>
        <p:txBody>
          <a:bodyPr wrap="square" anchor="t">
            <a:spAutoFit/>
          </a:bodyPr>
          <a:lstStyle/>
          <a:p>
            <a:pPr algn="l">
              <a:lnSpc>
                <a:spcPct val="100000"/>
              </a:lnSpc>
            </a:pPr>
            <a:r>
              <a:rPr sz="2000" b="1">
                <a:solidFill>
                  <a:srgbClr val="F5F7FA"/>
                </a:solidFill>
                <a:latin typeface="Arial"/>
              </a:rPr>
              <a:t>Biased decisions</a:t>
            </a:r>
          </a:p>
        </p:txBody>
      </p:sp>
      <p:sp>
        <p:nvSpPr>
          <p:cNvPr id="14" name="TextBox 13"/>
          <p:cNvSpPr txBox="1"/>
          <p:nvPr/>
        </p:nvSpPr>
        <p:spPr>
          <a:xfrm>
            <a:off x="4673498" y="4114800"/>
            <a:ext cx="2844698" cy="1554480"/>
          </a:xfrm>
          <a:prstGeom prst="rect">
            <a:avLst/>
          </a:prstGeom>
          <a:noFill/>
        </p:spPr>
        <p:txBody>
          <a:bodyPr wrap="square" anchor="t">
            <a:spAutoFit/>
          </a:bodyPr>
          <a:lstStyle/>
          <a:p>
            <a:pPr algn="l">
              <a:lnSpc>
                <a:spcPct val="110000"/>
              </a:lnSpc>
            </a:pPr>
            <a:r>
              <a:rPr sz="1500" b="0">
                <a:solidFill>
                  <a:srgbClr val="8A94A6"/>
                </a:solidFill>
                <a:latin typeface="Arial"/>
              </a:rPr>
              <a:t>A Dutch benefits algorithm falsely branded ~26,000 families fraudsters — the government fell (2021).</a:t>
            </a:r>
          </a:p>
        </p:txBody>
      </p:sp>
      <p:sp>
        <p:nvSpPr>
          <p:cNvPr id="15" name="Rounded Rectangle 14"/>
          <p:cNvSpPr/>
          <p:nvPr/>
        </p:nvSpPr>
        <p:spPr>
          <a:xfrm>
            <a:off x="8158276" y="2468880"/>
            <a:ext cx="3393338" cy="338328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58276" y="2468880"/>
            <a:ext cx="3393338" cy="82296"/>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2596" y="2788920"/>
            <a:ext cx="2844698" cy="457200"/>
          </a:xfrm>
          <a:prstGeom prst="rect">
            <a:avLst/>
          </a:prstGeom>
          <a:noFill/>
        </p:spPr>
        <p:txBody>
          <a:bodyPr wrap="square" anchor="t">
            <a:spAutoFit/>
          </a:bodyPr>
          <a:lstStyle/>
          <a:p>
            <a:pPr algn="l">
              <a:lnSpc>
                <a:spcPct val="100000"/>
              </a:lnSpc>
            </a:pPr>
            <a:r>
              <a:rPr sz="1200" b="1">
                <a:solidFill>
                  <a:srgbClr val="FF4D4D"/>
                </a:solidFill>
                <a:latin typeface="Courier New"/>
              </a:rPr>
              <a:t>PRIVACY</a:t>
            </a:r>
          </a:p>
        </p:txBody>
      </p:sp>
      <p:sp>
        <p:nvSpPr>
          <p:cNvPr id="18" name="TextBox 17"/>
          <p:cNvSpPr txBox="1"/>
          <p:nvPr/>
        </p:nvSpPr>
        <p:spPr>
          <a:xfrm>
            <a:off x="8432596" y="3246120"/>
            <a:ext cx="2844698" cy="822960"/>
          </a:xfrm>
          <a:prstGeom prst="rect">
            <a:avLst/>
          </a:prstGeom>
          <a:noFill/>
        </p:spPr>
        <p:txBody>
          <a:bodyPr wrap="square" anchor="t">
            <a:spAutoFit/>
          </a:bodyPr>
          <a:lstStyle/>
          <a:p>
            <a:pPr algn="l">
              <a:lnSpc>
                <a:spcPct val="100000"/>
              </a:lnSpc>
            </a:pPr>
            <a:r>
              <a:rPr sz="2000" b="1">
                <a:solidFill>
                  <a:srgbClr val="F5F7FA"/>
                </a:solidFill>
                <a:latin typeface="Arial"/>
              </a:rPr>
              <a:t>Surveillance</a:t>
            </a:r>
          </a:p>
        </p:txBody>
      </p:sp>
      <p:sp>
        <p:nvSpPr>
          <p:cNvPr id="19" name="TextBox 18"/>
          <p:cNvSpPr txBox="1"/>
          <p:nvPr/>
        </p:nvSpPr>
        <p:spPr>
          <a:xfrm>
            <a:off x="8432596" y="4114800"/>
            <a:ext cx="2844698" cy="1554480"/>
          </a:xfrm>
          <a:prstGeom prst="rect">
            <a:avLst/>
          </a:prstGeom>
          <a:noFill/>
        </p:spPr>
        <p:txBody>
          <a:bodyPr wrap="square" anchor="t">
            <a:spAutoFit/>
          </a:bodyPr>
          <a:lstStyle/>
          <a:p>
            <a:pPr algn="l">
              <a:lnSpc>
                <a:spcPct val="110000"/>
              </a:lnSpc>
            </a:pPr>
            <a:r>
              <a:rPr sz="1500" b="0">
                <a:solidFill>
                  <a:srgbClr val="8A94A6"/>
                </a:solidFill>
                <a:latin typeface="Arial"/>
              </a:rPr>
              <a:t>Clearview scraped 3B+ faces; at least four Black men were wrongly arrested on false matches.</a:t>
            </a:r>
          </a:p>
        </p:txBody>
      </p:sp>
      <p:sp>
        <p:nvSpPr>
          <p:cNvPr id="20" name="TextBox 19"/>
          <p:cNvSpPr txBox="1"/>
          <p:nvPr/>
        </p:nvSpPr>
        <p:spPr>
          <a:xfrm>
            <a:off x="640080" y="6355080"/>
            <a:ext cx="10972800" cy="365760"/>
          </a:xfrm>
          <a:prstGeom prst="rect">
            <a:avLst/>
          </a:prstGeom>
          <a:noFill/>
        </p:spPr>
        <p:txBody>
          <a:bodyPr wrap="square" anchor="t">
            <a:spAutoFit/>
          </a:bodyPr>
          <a:lstStyle/>
          <a:p>
            <a:pPr algn="l">
              <a:lnSpc>
                <a:spcPct val="100000"/>
              </a:lnSpc>
            </a:pPr>
            <a:r>
              <a:rPr sz="1000" b="0">
                <a:solidFill>
                  <a:srgbClr val="5A6474"/>
                </a:solidFill>
                <a:latin typeface="Courier New"/>
              </a:rPr>
              <a:t>Good Code, Good Vibes · TECHIE 1121 · Cornell Tech · Summer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extBox 1"/>
          <p:cNvSpPr txBox="1"/>
          <p:nvPr/>
        </p:nvSpPr>
        <p:spPr>
          <a:xfrm>
            <a:off x="640080" y="502920"/>
            <a:ext cx="10058400" cy="365760"/>
          </a:xfrm>
          <a:prstGeom prst="rect">
            <a:avLst/>
          </a:prstGeom>
          <a:noFill/>
        </p:spPr>
        <p:txBody>
          <a:bodyPr wrap="square" anchor="t">
            <a:spAutoFit/>
          </a:bodyPr>
          <a:lstStyle/>
          <a:p>
            <a:pPr algn="l">
              <a:lnSpc>
                <a:spcPct val="100000"/>
              </a:lnSpc>
            </a:pPr>
            <a:r>
              <a:rPr sz="1300" b="1">
                <a:solidFill>
                  <a:srgbClr val="FF4D4D"/>
                </a:solidFill>
                <a:latin typeface="Courier New"/>
              </a:rPr>
              <a:t>NOT HYPOTHETICAL · 3</a:t>
            </a:r>
          </a:p>
        </p:txBody>
      </p:sp>
      <p:sp>
        <p:nvSpPr>
          <p:cNvPr id="3" name="Rectangle 2"/>
          <p:cNvSpPr/>
          <p:nvPr/>
        </p:nvSpPr>
        <p:spPr>
          <a:xfrm>
            <a:off x="640080" y="932688"/>
            <a:ext cx="822960" cy="73152"/>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72800" cy="914400"/>
          </a:xfrm>
          <a:prstGeom prst="rect">
            <a:avLst/>
          </a:prstGeom>
          <a:noFill/>
        </p:spPr>
        <p:txBody>
          <a:bodyPr wrap="square" anchor="t">
            <a:spAutoFit/>
          </a:bodyPr>
          <a:lstStyle/>
          <a:p>
            <a:pPr algn="l">
              <a:lnSpc>
                <a:spcPct val="100000"/>
              </a:lnSpc>
            </a:pPr>
            <a:r>
              <a:rPr sz="3200" b="1">
                <a:solidFill>
                  <a:srgbClr val="F5F7FA"/>
                </a:solidFill>
                <a:latin typeface="Arial"/>
              </a:rPr>
              <a:t>The hidden costs</a:t>
            </a:r>
          </a:p>
        </p:txBody>
      </p:sp>
      <p:sp>
        <p:nvSpPr>
          <p:cNvPr id="5" name="Rounded Rectangle 4"/>
          <p:cNvSpPr/>
          <p:nvPr/>
        </p:nvSpPr>
        <p:spPr>
          <a:xfrm>
            <a:off x="640080" y="2468880"/>
            <a:ext cx="3393338" cy="338328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468880"/>
            <a:ext cx="3393338" cy="82296"/>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88920"/>
            <a:ext cx="2844698" cy="457200"/>
          </a:xfrm>
          <a:prstGeom prst="rect">
            <a:avLst/>
          </a:prstGeom>
          <a:noFill/>
        </p:spPr>
        <p:txBody>
          <a:bodyPr wrap="square" anchor="t">
            <a:spAutoFit/>
          </a:bodyPr>
          <a:lstStyle/>
          <a:p>
            <a:pPr algn="l">
              <a:lnSpc>
                <a:spcPct val="100000"/>
              </a:lnSpc>
            </a:pPr>
            <a:r>
              <a:rPr sz="1200" b="1">
                <a:solidFill>
                  <a:srgbClr val="FF4D4D"/>
                </a:solidFill>
                <a:latin typeface="Courier New"/>
              </a:rPr>
              <a:t>LABOR</a:t>
            </a:r>
          </a:p>
        </p:txBody>
      </p:sp>
      <p:sp>
        <p:nvSpPr>
          <p:cNvPr id="8" name="TextBox 7"/>
          <p:cNvSpPr txBox="1"/>
          <p:nvPr/>
        </p:nvSpPr>
        <p:spPr>
          <a:xfrm>
            <a:off x="914400" y="3246120"/>
            <a:ext cx="2844698" cy="822960"/>
          </a:xfrm>
          <a:prstGeom prst="rect">
            <a:avLst/>
          </a:prstGeom>
          <a:noFill/>
        </p:spPr>
        <p:txBody>
          <a:bodyPr wrap="square" anchor="t">
            <a:spAutoFit/>
          </a:bodyPr>
          <a:lstStyle/>
          <a:p>
            <a:pPr algn="l">
              <a:lnSpc>
                <a:spcPct val="100000"/>
              </a:lnSpc>
            </a:pPr>
            <a:r>
              <a:rPr sz="2000" b="1">
                <a:solidFill>
                  <a:srgbClr val="F5F7FA"/>
                </a:solidFill>
                <a:latin typeface="Arial"/>
              </a:rPr>
              <a:t>Ghost work</a:t>
            </a:r>
          </a:p>
        </p:txBody>
      </p:sp>
      <p:sp>
        <p:nvSpPr>
          <p:cNvPr id="9" name="TextBox 8"/>
          <p:cNvSpPr txBox="1"/>
          <p:nvPr/>
        </p:nvSpPr>
        <p:spPr>
          <a:xfrm>
            <a:off x="914400" y="4114800"/>
            <a:ext cx="2844698" cy="1554480"/>
          </a:xfrm>
          <a:prstGeom prst="rect">
            <a:avLst/>
          </a:prstGeom>
          <a:noFill/>
        </p:spPr>
        <p:txBody>
          <a:bodyPr wrap="square" anchor="t">
            <a:spAutoFit/>
          </a:bodyPr>
          <a:lstStyle/>
          <a:p>
            <a:pPr algn="l">
              <a:lnSpc>
                <a:spcPct val="110000"/>
              </a:lnSpc>
            </a:pPr>
            <a:r>
              <a:rPr sz="1500" b="0">
                <a:solidFill>
                  <a:srgbClr val="8A94A6"/>
                </a:solidFill>
                <a:latin typeface="Arial"/>
              </a:rPr>
              <a:t>Kenyan workers paid ~$2/hr labeled graphic toxic content to build ChatGPT’s filter (2023).</a:t>
            </a:r>
          </a:p>
        </p:txBody>
      </p:sp>
      <p:sp>
        <p:nvSpPr>
          <p:cNvPr id="10" name="Rounded Rectangle 9"/>
          <p:cNvSpPr/>
          <p:nvPr/>
        </p:nvSpPr>
        <p:spPr>
          <a:xfrm>
            <a:off x="4399178" y="2468880"/>
            <a:ext cx="3393338" cy="338328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9178" y="2468880"/>
            <a:ext cx="3393338" cy="82296"/>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73498" y="2788920"/>
            <a:ext cx="2844698" cy="457200"/>
          </a:xfrm>
          <a:prstGeom prst="rect">
            <a:avLst/>
          </a:prstGeom>
          <a:noFill/>
        </p:spPr>
        <p:txBody>
          <a:bodyPr wrap="square" anchor="t">
            <a:spAutoFit/>
          </a:bodyPr>
          <a:lstStyle/>
          <a:p>
            <a:pPr algn="l">
              <a:lnSpc>
                <a:spcPct val="100000"/>
              </a:lnSpc>
            </a:pPr>
            <a:r>
              <a:rPr sz="1200" b="1">
                <a:solidFill>
                  <a:srgbClr val="FF4D4D"/>
                </a:solidFill>
                <a:latin typeface="Courier New"/>
              </a:rPr>
              <a:t>ENVIRONMENT</a:t>
            </a:r>
          </a:p>
        </p:txBody>
      </p:sp>
      <p:sp>
        <p:nvSpPr>
          <p:cNvPr id="13" name="TextBox 12"/>
          <p:cNvSpPr txBox="1"/>
          <p:nvPr/>
        </p:nvSpPr>
        <p:spPr>
          <a:xfrm>
            <a:off x="4673498" y="3246120"/>
            <a:ext cx="2844698" cy="822960"/>
          </a:xfrm>
          <a:prstGeom prst="rect">
            <a:avLst/>
          </a:prstGeom>
          <a:noFill/>
        </p:spPr>
        <p:txBody>
          <a:bodyPr wrap="square" anchor="t">
            <a:spAutoFit/>
          </a:bodyPr>
          <a:lstStyle/>
          <a:p>
            <a:pPr algn="l">
              <a:lnSpc>
                <a:spcPct val="100000"/>
              </a:lnSpc>
            </a:pPr>
            <a:r>
              <a:rPr sz="2000" b="1">
                <a:solidFill>
                  <a:srgbClr val="F5F7FA"/>
                </a:solidFill>
                <a:latin typeface="Arial"/>
              </a:rPr>
              <a:t>Thirsty AI</a:t>
            </a:r>
          </a:p>
        </p:txBody>
      </p:sp>
      <p:sp>
        <p:nvSpPr>
          <p:cNvPr id="14" name="TextBox 13"/>
          <p:cNvSpPr txBox="1"/>
          <p:nvPr/>
        </p:nvSpPr>
        <p:spPr>
          <a:xfrm>
            <a:off x="4673498" y="4114800"/>
            <a:ext cx="2844698" cy="1554480"/>
          </a:xfrm>
          <a:prstGeom prst="rect">
            <a:avLst/>
          </a:prstGeom>
          <a:noFill/>
        </p:spPr>
        <p:txBody>
          <a:bodyPr wrap="square" anchor="t">
            <a:spAutoFit/>
          </a:bodyPr>
          <a:lstStyle/>
          <a:p>
            <a:pPr algn="l">
              <a:lnSpc>
                <a:spcPct val="110000"/>
              </a:lnSpc>
            </a:pPr>
            <a:r>
              <a:rPr sz="1500" b="0">
                <a:solidFill>
                  <a:srgbClr val="8A94A6"/>
                </a:solidFill>
                <a:latin typeface="Arial"/>
              </a:rPr>
              <a:t>~700,000 L of freshwater to train GPT-3; datacenter emissions spiking (Google +48% vs 2019).</a:t>
            </a:r>
          </a:p>
        </p:txBody>
      </p:sp>
      <p:sp>
        <p:nvSpPr>
          <p:cNvPr id="15" name="Rounded Rectangle 14"/>
          <p:cNvSpPr/>
          <p:nvPr/>
        </p:nvSpPr>
        <p:spPr>
          <a:xfrm>
            <a:off x="8158276" y="2468880"/>
            <a:ext cx="3393338" cy="338328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58276" y="2468880"/>
            <a:ext cx="3393338" cy="82296"/>
          </a:xfrm>
          <a:prstGeom prst="rect">
            <a:avLst/>
          </a:prstGeom>
          <a:solidFill>
            <a:srgbClr val="FF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2596" y="2788920"/>
            <a:ext cx="2844698" cy="457200"/>
          </a:xfrm>
          <a:prstGeom prst="rect">
            <a:avLst/>
          </a:prstGeom>
          <a:noFill/>
        </p:spPr>
        <p:txBody>
          <a:bodyPr wrap="square" anchor="t">
            <a:spAutoFit/>
          </a:bodyPr>
          <a:lstStyle/>
          <a:p>
            <a:pPr algn="l">
              <a:lnSpc>
                <a:spcPct val="100000"/>
              </a:lnSpc>
            </a:pPr>
            <a:r>
              <a:rPr sz="1200" b="1">
                <a:solidFill>
                  <a:srgbClr val="FF4D4D"/>
                </a:solidFill>
                <a:latin typeface="Courier New"/>
              </a:rPr>
              <a:t>OWNERSHIP</a:t>
            </a:r>
          </a:p>
        </p:txBody>
      </p:sp>
      <p:sp>
        <p:nvSpPr>
          <p:cNvPr id="18" name="TextBox 17"/>
          <p:cNvSpPr txBox="1"/>
          <p:nvPr/>
        </p:nvSpPr>
        <p:spPr>
          <a:xfrm>
            <a:off x="8432596" y="3246120"/>
            <a:ext cx="2844698" cy="822960"/>
          </a:xfrm>
          <a:prstGeom prst="rect">
            <a:avLst/>
          </a:prstGeom>
          <a:noFill/>
        </p:spPr>
        <p:txBody>
          <a:bodyPr wrap="square" anchor="t">
            <a:spAutoFit/>
          </a:bodyPr>
          <a:lstStyle/>
          <a:p>
            <a:pPr algn="l">
              <a:lnSpc>
                <a:spcPct val="100000"/>
              </a:lnSpc>
            </a:pPr>
            <a:r>
              <a:rPr sz="2000" b="1">
                <a:solidFill>
                  <a:srgbClr val="F5F7FA"/>
                </a:solidFill>
                <a:latin typeface="Arial"/>
              </a:rPr>
              <a:t>Style &amp; text theft</a:t>
            </a:r>
          </a:p>
        </p:txBody>
      </p:sp>
      <p:sp>
        <p:nvSpPr>
          <p:cNvPr id="19" name="TextBox 18"/>
          <p:cNvSpPr txBox="1"/>
          <p:nvPr/>
        </p:nvSpPr>
        <p:spPr>
          <a:xfrm>
            <a:off x="8432596" y="4114800"/>
            <a:ext cx="2844698" cy="1554480"/>
          </a:xfrm>
          <a:prstGeom prst="rect">
            <a:avLst/>
          </a:prstGeom>
          <a:noFill/>
        </p:spPr>
        <p:txBody>
          <a:bodyPr wrap="square" anchor="t">
            <a:spAutoFit/>
          </a:bodyPr>
          <a:lstStyle/>
          <a:p>
            <a:pPr algn="l">
              <a:lnSpc>
                <a:spcPct val="110000"/>
              </a:lnSpc>
            </a:pPr>
            <a:r>
              <a:rPr sz="1500" b="0">
                <a:solidFill>
                  <a:srgbClr val="8A94A6"/>
                </a:solidFill>
                <a:latin typeface="Arial"/>
              </a:rPr>
              <a:t>Anthropic settled with authors for ~$1.5B over training on pirated books (2025).</a:t>
            </a:r>
          </a:p>
        </p:txBody>
      </p:sp>
      <p:sp>
        <p:nvSpPr>
          <p:cNvPr id="20" name="TextBox 19"/>
          <p:cNvSpPr txBox="1"/>
          <p:nvPr/>
        </p:nvSpPr>
        <p:spPr>
          <a:xfrm>
            <a:off x="640080" y="6355080"/>
            <a:ext cx="10972800" cy="365760"/>
          </a:xfrm>
          <a:prstGeom prst="rect">
            <a:avLst/>
          </a:prstGeom>
          <a:noFill/>
        </p:spPr>
        <p:txBody>
          <a:bodyPr wrap="square" anchor="t">
            <a:spAutoFit/>
          </a:bodyPr>
          <a:lstStyle/>
          <a:p>
            <a:pPr algn="l">
              <a:lnSpc>
                <a:spcPct val="100000"/>
              </a:lnSpc>
            </a:pPr>
            <a:r>
              <a:rPr sz="1000" b="0">
                <a:solidFill>
                  <a:srgbClr val="5A6474"/>
                </a:solidFill>
                <a:latin typeface="Courier New"/>
              </a:rPr>
              <a:t>Good Code, Good Vibes · TECHIE 1121 · Cornell Tech · Summer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extBox 1"/>
          <p:cNvSpPr txBox="1"/>
          <p:nvPr/>
        </p:nvSpPr>
        <p:spPr>
          <a:xfrm>
            <a:off x="640080" y="502920"/>
            <a:ext cx="10058400" cy="365760"/>
          </a:xfrm>
          <a:prstGeom prst="rect">
            <a:avLst/>
          </a:prstGeom>
          <a:noFill/>
        </p:spPr>
        <p:txBody>
          <a:bodyPr wrap="square" anchor="t">
            <a:spAutoFit/>
          </a:bodyPr>
          <a:lstStyle/>
          <a:p>
            <a:pPr algn="l">
              <a:lnSpc>
                <a:spcPct val="100000"/>
              </a:lnSpc>
            </a:pPr>
            <a:r>
              <a:rPr sz="1300" b="1">
                <a:solidFill>
                  <a:srgbClr val="00FF41"/>
                </a:solidFill>
                <a:latin typeface="Courier New"/>
              </a:rPr>
              <a:t>THE TURN</a:t>
            </a:r>
          </a:p>
        </p:txBody>
      </p:sp>
      <p:sp>
        <p:nvSpPr>
          <p:cNvPr id="3" name="TextBox 2"/>
          <p:cNvSpPr txBox="1"/>
          <p:nvPr/>
        </p:nvSpPr>
        <p:spPr>
          <a:xfrm>
            <a:off x="914400" y="1554480"/>
            <a:ext cx="1280160" cy="1280160"/>
          </a:xfrm>
          <a:prstGeom prst="rect">
            <a:avLst/>
          </a:prstGeom>
          <a:noFill/>
        </p:spPr>
        <p:txBody>
          <a:bodyPr wrap="square" anchor="t">
            <a:spAutoFit/>
          </a:bodyPr>
          <a:lstStyle/>
          <a:p>
            <a:pPr algn="l">
              <a:lnSpc>
                <a:spcPct val="100000"/>
              </a:lnSpc>
            </a:pPr>
            <a:r>
              <a:rPr sz="9000" b="1">
                <a:solidFill>
                  <a:srgbClr val="00FF41"/>
                </a:solidFill>
                <a:latin typeface="Arial"/>
              </a:rPr>
              <a:t>“</a:t>
            </a:r>
          </a:p>
        </p:txBody>
      </p:sp>
      <p:sp>
        <p:nvSpPr>
          <p:cNvPr id="4" name="TextBox 3"/>
          <p:cNvSpPr txBox="1"/>
          <p:nvPr/>
        </p:nvSpPr>
        <p:spPr>
          <a:xfrm>
            <a:off x="1188720" y="2194560"/>
            <a:ext cx="9784080" cy="2011680"/>
          </a:xfrm>
          <a:prstGeom prst="rect">
            <a:avLst/>
          </a:prstGeom>
          <a:noFill/>
        </p:spPr>
        <p:txBody>
          <a:bodyPr wrap="square" anchor="t">
            <a:spAutoFit/>
          </a:bodyPr>
          <a:lstStyle/>
          <a:p>
            <a:pPr algn="l">
              <a:lnSpc>
                <a:spcPct val="112000"/>
              </a:lnSpc>
            </a:pPr>
            <a:r>
              <a:rPr sz="3000" b="1">
                <a:solidFill>
                  <a:srgbClr val="F5F7FA"/>
                </a:solidFill>
                <a:latin typeface="Arial"/>
              </a:rPr>
              <a:t>You have a right to protect your personal narrative as AI companies vacuum up the internet.</a:t>
            </a:r>
          </a:p>
        </p:txBody>
      </p:sp>
      <p:sp>
        <p:nvSpPr>
          <p:cNvPr id="5" name="TextBox 4"/>
          <p:cNvSpPr txBox="1"/>
          <p:nvPr/>
        </p:nvSpPr>
        <p:spPr>
          <a:xfrm>
            <a:off x="1234440" y="4297680"/>
            <a:ext cx="9601200" cy="457200"/>
          </a:xfrm>
          <a:prstGeom prst="rect">
            <a:avLst/>
          </a:prstGeom>
          <a:noFill/>
        </p:spPr>
        <p:txBody>
          <a:bodyPr wrap="square" anchor="t">
            <a:spAutoFit/>
          </a:bodyPr>
          <a:lstStyle/>
          <a:p>
            <a:pPr algn="l">
              <a:lnSpc>
                <a:spcPct val="100000"/>
              </a:lnSpc>
            </a:pPr>
            <a:r>
              <a:rPr sz="1600" b="0">
                <a:solidFill>
                  <a:srgbClr val="8A94A6"/>
                </a:solidFill>
                <a:latin typeface="Arial"/>
              </a:rPr>
              <a:t>— after Brunton &amp; Nissenbaum, Obfuscation</a:t>
            </a:r>
          </a:p>
        </p:txBody>
      </p:sp>
      <p:sp>
        <p:nvSpPr>
          <p:cNvPr id="6" name="Rounded Rectangle 5"/>
          <p:cNvSpPr/>
          <p:nvPr/>
        </p:nvSpPr>
        <p:spPr>
          <a:xfrm>
            <a:off x="1188720" y="4937760"/>
            <a:ext cx="9784080" cy="914400"/>
          </a:xfrm>
          <a:prstGeom prst="roundRect">
            <a:avLst/>
          </a:prstGeom>
          <a:solidFill>
            <a:srgbClr val="151B26"/>
          </a:solidFill>
          <a:ln w="12700">
            <a:solidFill>
              <a:srgbClr val="00FF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0" y="5074920"/>
            <a:ext cx="9235440" cy="731520"/>
          </a:xfrm>
          <a:prstGeom prst="rect">
            <a:avLst/>
          </a:prstGeom>
          <a:noFill/>
        </p:spPr>
        <p:txBody>
          <a:bodyPr wrap="square" anchor="ctr">
            <a:spAutoFit/>
          </a:bodyPr>
          <a:lstStyle/>
          <a:p>
            <a:pPr algn="l">
              <a:lnSpc>
                <a:spcPct val="100000"/>
              </a:lnSpc>
            </a:pPr>
            <a:r>
              <a:rPr sz="1800" b="0">
                <a:solidFill>
                  <a:srgbClr val="F5F7FA"/>
                </a:solidFill>
                <a:latin typeface="Arial"/>
              </a:rPr>
              <a:t>For every harm on that map — is there a defense?</a:t>
            </a:r>
          </a:p>
        </p:txBody>
      </p:sp>
      <p:sp>
        <p:nvSpPr>
          <p:cNvPr id="8" name="TextBox 7"/>
          <p:cNvSpPr txBox="1"/>
          <p:nvPr/>
        </p:nvSpPr>
        <p:spPr>
          <a:xfrm>
            <a:off x="640080" y="6355080"/>
            <a:ext cx="10972800" cy="365760"/>
          </a:xfrm>
          <a:prstGeom prst="rect">
            <a:avLst/>
          </a:prstGeom>
          <a:noFill/>
        </p:spPr>
        <p:txBody>
          <a:bodyPr wrap="square" anchor="t">
            <a:spAutoFit/>
          </a:bodyPr>
          <a:lstStyle/>
          <a:p>
            <a:pPr algn="l">
              <a:lnSpc>
                <a:spcPct val="100000"/>
              </a:lnSpc>
            </a:pPr>
            <a:r>
              <a:rPr sz="1000" b="0">
                <a:solidFill>
                  <a:srgbClr val="5A6474"/>
                </a:solidFill>
                <a:latin typeface="Courier New"/>
              </a:rPr>
              <a:t>Good Code, Good Vibes · TECHIE 1121 · Cornell Tech · Summer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00FF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94560"/>
            <a:ext cx="10515600" cy="548640"/>
          </a:xfrm>
          <a:prstGeom prst="rect">
            <a:avLst/>
          </a:prstGeom>
          <a:noFill/>
        </p:spPr>
        <p:txBody>
          <a:bodyPr wrap="square" anchor="t">
            <a:spAutoFit/>
          </a:bodyPr>
          <a:lstStyle/>
          <a:p>
            <a:pPr algn="l">
              <a:lnSpc>
                <a:spcPct val="100000"/>
              </a:lnSpc>
            </a:pPr>
            <a:r>
              <a:rPr sz="1800" b="1">
                <a:solidFill>
                  <a:srgbClr val="00FF41"/>
                </a:solidFill>
                <a:latin typeface="Courier New"/>
              </a:rPr>
              <a:t>✓  ACT 2 · THE DEFENSE</a:t>
            </a:r>
          </a:p>
        </p:txBody>
      </p:sp>
      <p:sp>
        <p:nvSpPr>
          <p:cNvPr id="4" name="TextBox 3"/>
          <p:cNvSpPr txBox="1"/>
          <p:nvPr/>
        </p:nvSpPr>
        <p:spPr>
          <a:xfrm>
            <a:off x="804672" y="2743200"/>
            <a:ext cx="10515600" cy="1554480"/>
          </a:xfrm>
          <a:prstGeom prst="rect">
            <a:avLst/>
          </a:prstGeom>
          <a:noFill/>
        </p:spPr>
        <p:txBody>
          <a:bodyPr wrap="square" anchor="t">
            <a:spAutoFit/>
          </a:bodyPr>
          <a:lstStyle/>
          <a:p>
            <a:pPr algn="l">
              <a:lnSpc>
                <a:spcPct val="100000"/>
              </a:lnSpc>
            </a:pPr>
            <a:r>
              <a:rPr sz="4800" b="1">
                <a:solidFill>
                  <a:srgbClr val="F5F7FA"/>
                </a:solidFill>
                <a:latin typeface="Arial"/>
              </a:rPr>
              <a:t>AI against AI</a:t>
            </a:r>
          </a:p>
        </p:txBody>
      </p:sp>
      <p:sp>
        <p:nvSpPr>
          <p:cNvPr id="5" name="TextBox 4"/>
          <p:cNvSpPr txBox="1"/>
          <p:nvPr/>
        </p:nvSpPr>
        <p:spPr>
          <a:xfrm>
            <a:off x="841248" y="4297680"/>
            <a:ext cx="10058400" cy="640080"/>
          </a:xfrm>
          <a:prstGeom prst="rect">
            <a:avLst/>
          </a:prstGeom>
          <a:noFill/>
        </p:spPr>
        <p:txBody>
          <a:bodyPr wrap="square" anchor="t">
            <a:spAutoFit/>
          </a:bodyPr>
          <a:lstStyle/>
          <a:p>
            <a:pPr algn="l">
              <a:lnSpc>
                <a:spcPct val="100000"/>
              </a:lnSpc>
            </a:pPr>
            <a:r>
              <a:rPr sz="1900" b="0">
                <a:solidFill>
                  <a:srgbClr val="8A94A6"/>
                </a:solidFill>
                <a:latin typeface="Arial"/>
              </a:rPr>
              <a:t>Turn the same tools back around — to protect instead of extract.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extBox 1"/>
          <p:cNvSpPr txBox="1"/>
          <p:nvPr/>
        </p:nvSpPr>
        <p:spPr>
          <a:xfrm>
            <a:off x="640080" y="502920"/>
            <a:ext cx="10058400" cy="365760"/>
          </a:xfrm>
          <a:prstGeom prst="rect">
            <a:avLst/>
          </a:prstGeom>
          <a:noFill/>
        </p:spPr>
        <p:txBody>
          <a:bodyPr wrap="square" anchor="t">
            <a:spAutoFit/>
          </a:bodyPr>
          <a:lstStyle/>
          <a:p>
            <a:pPr algn="l">
              <a:lnSpc>
                <a:spcPct val="100000"/>
              </a:lnSpc>
            </a:pPr>
            <a:r>
              <a:rPr sz="1300" b="1">
                <a:solidFill>
                  <a:srgbClr val="00FF41"/>
                </a:solidFill>
                <a:latin typeface="Courier New"/>
              </a:rPr>
              <a:t>THE COUNTER-MAP · DEFENSES</a:t>
            </a:r>
          </a:p>
        </p:txBody>
      </p:sp>
      <p:sp>
        <p:nvSpPr>
          <p:cNvPr id="3" name="Rectangle 2"/>
          <p:cNvSpPr/>
          <p:nvPr/>
        </p:nvSpPr>
        <p:spPr>
          <a:xfrm>
            <a:off x="640080" y="932688"/>
            <a:ext cx="822960" cy="73152"/>
          </a:xfrm>
          <a:prstGeom prst="rect">
            <a:avLst/>
          </a:prstGeom>
          <a:solidFill>
            <a:srgbClr val="00FF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24128"/>
            <a:ext cx="10972800" cy="822960"/>
          </a:xfrm>
          <a:prstGeom prst="rect">
            <a:avLst/>
          </a:prstGeom>
          <a:noFill/>
        </p:spPr>
        <p:txBody>
          <a:bodyPr wrap="square" anchor="t">
            <a:spAutoFit/>
          </a:bodyPr>
          <a:lstStyle/>
          <a:p>
            <a:pPr algn="l">
              <a:lnSpc>
                <a:spcPct val="100000"/>
              </a:lnSpc>
            </a:pPr>
            <a:r>
              <a:rPr sz="3000" b="1">
                <a:solidFill>
                  <a:srgbClr val="F5F7FA"/>
                </a:solidFill>
                <a:latin typeface="Arial"/>
              </a:rPr>
              <a:t>Turning AI against AI</a:t>
            </a:r>
          </a:p>
        </p:txBody>
      </p:sp>
      <p:sp>
        <p:nvSpPr>
          <p:cNvPr id="5" name="Rounded Rectangle 4"/>
          <p:cNvSpPr/>
          <p:nvPr/>
        </p:nvSpPr>
        <p:spPr>
          <a:xfrm>
            <a:off x="640080" y="2011680"/>
            <a:ext cx="2522143" cy="196596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011680"/>
            <a:ext cx="82296" cy="1965960"/>
          </a:xfrm>
          <a:prstGeom prst="rect">
            <a:avLst/>
          </a:prstGeom>
          <a:solidFill>
            <a:srgbClr val="00FF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231136"/>
            <a:ext cx="2010079" cy="777240"/>
          </a:xfrm>
          <a:prstGeom prst="rect">
            <a:avLst/>
          </a:prstGeom>
          <a:noFill/>
        </p:spPr>
        <p:txBody>
          <a:bodyPr wrap="square" anchor="t">
            <a:spAutoFit/>
          </a:bodyPr>
          <a:lstStyle/>
          <a:p>
            <a:pPr algn="l">
              <a:lnSpc>
                <a:spcPct val="102000"/>
              </a:lnSpc>
            </a:pPr>
            <a:r>
              <a:rPr sz="1900" b="0">
                <a:solidFill>
                  <a:srgbClr val="F5F7FA"/>
                </a:solidFill>
                <a:latin typeface="Arial"/>
              </a:rPr>
              <a:t>⚖️  </a:t>
            </a:r>
            <a:r>
              <a:rPr sz="1600" b="1">
                <a:solidFill>
                  <a:srgbClr val="F5F7FA"/>
                </a:solidFill>
                <a:latin typeface="Arial"/>
              </a:rPr>
              <a:t>Fairness</a:t>
            </a:r>
          </a:p>
        </p:txBody>
      </p:sp>
      <p:sp>
        <p:nvSpPr>
          <p:cNvPr id="8" name="TextBox 7"/>
          <p:cNvSpPr txBox="1"/>
          <p:nvPr/>
        </p:nvSpPr>
        <p:spPr>
          <a:xfrm>
            <a:off x="896112" y="3182112"/>
            <a:ext cx="2010079" cy="594360"/>
          </a:xfrm>
          <a:prstGeom prst="rect">
            <a:avLst/>
          </a:prstGeom>
          <a:noFill/>
        </p:spPr>
        <p:txBody>
          <a:bodyPr wrap="square" anchor="t">
            <a:spAutoFit/>
          </a:bodyPr>
          <a:lstStyle/>
          <a:p>
            <a:pPr algn="l">
              <a:lnSpc>
                <a:spcPct val="108000"/>
              </a:lnSpc>
            </a:pPr>
            <a:r>
              <a:rPr sz="1250" b="0">
                <a:solidFill>
                  <a:srgbClr val="8A94A6"/>
                </a:solidFill>
                <a:latin typeface="Arial"/>
              </a:rPr>
              <a:t>Bias audits &amp; adversarial fairness testing — red-team the model before it ships.</a:t>
            </a:r>
          </a:p>
        </p:txBody>
      </p:sp>
      <p:sp>
        <p:nvSpPr>
          <p:cNvPr id="9" name="Rounded Rectangle 8"/>
          <p:cNvSpPr/>
          <p:nvPr/>
        </p:nvSpPr>
        <p:spPr>
          <a:xfrm>
            <a:off x="3436543" y="2011680"/>
            <a:ext cx="2522143" cy="196596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36543" y="2011680"/>
            <a:ext cx="82296" cy="1965960"/>
          </a:xfrm>
          <a:prstGeom prst="rect">
            <a:avLst/>
          </a:prstGeom>
          <a:solidFill>
            <a:srgbClr val="00FF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92575" y="2231136"/>
            <a:ext cx="2010079" cy="777240"/>
          </a:xfrm>
          <a:prstGeom prst="rect">
            <a:avLst/>
          </a:prstGeom>
          <a:noFill/>
        </p:spPr>
        <p:txBody>
          <a:bodyPr wrap="square" anchor="t">
            <a:spAutoFit/>
          </a:bodyPr>
          <a:lstStyle/>
          <a:p>
            <a:pPr algn="l">
              <a:lnSpc>
                <a:spcPct val="102000"/>
              </a:lnSpc>
            </a:pPr>
            <a:r>
              <a:rPr sz="1900" b="0">
                <a:solidFill>
                  <a:srgbClr val="F5F7FA"/>
                </a:solidFill>
                <a:latin typeface="Arial"/>
              </a:rPr>
              <a:t>🔒  </a:t>
            </a:r>
            <a:r>
              <a:rPr sz="1600" b="1">
                <a:solidFill>
                  <a:srgbClr val="F5F7FA"/>
                </a:solidFill>
                <a:latin typeface="Arial"/>
              </a:rPr>
              <a:t>Privacy</a:t>
            </a:r>
          </a:p>
        </p:txBody>
      </p:sp>
      <p:sp>
        <p:nvSpPr>
          <p:cNvPr id="12" name="TextBox 11"/>
          <p:cNvSpPr txBox="1"/>
          <p:nvPr/>
        </p:nvSpPr>
        <p:spPr>
          <a:xfrm>
            <a:off x="3692575" y="3182112"/>
            <a:ext cx="2010079" cy="594360"/>
          </a:xfrm>
          <a:prstGeom prst="rect">
            <a:avLst/>
          </a:prstGeom>
          <a:noFill/>
        </p:spPr>
        <p:txBody>
          <a:bodyPr wrap="square" anchor="t">
            <a:spAutoFit/>
          </a:bodyPr>
          <a:lstStyle/>
          <a:p>
            <a:pPr algn="l">
              <a:lnSpc>
                <a:spcPct val="108000"/>
              </a:lnSpc>
            </a:pPr>
            <a:r>
              <a:rPr sz="1250" b="0">
                <a:solidFill>
                  <a:srgbClr val="8A94A6"/>
                </a:solidFill>
                <a:latin typeface="Arial"/>
              </a:rPr>
              <a:t>Obfuscation, scraper-poisoning, Glaze/Nightshade cloaking — poison the training set.</a:t>
            </a:r>
          </a:p>
        </p:txBody>
      </p:sp>
      <p:sp>
        <p:nvSpPr>
          <p:cNvPr id="13" name="Rounded Rectangle 12"/>
          <p:cNvSpPr/>
          <p:nvPr/>
        </p:nvSpPr>
        <p:spPr>
          <a:xfrm>
            <a:off x="6233006" y="2011680"/>
            <a:ext cx="2522143" cy="196596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33006" y="2011680"/>
            <a:ext cx="82296" cy="1965960"/>
          </a:xfrm>
          <a:prstGeom prst="rect">
            <a:avLst/>
          </a:prstGeom>
          <a:solidFill>
            <a:srgbClr val="00FF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9038" y="2231136"/>
            <a:ext cx="2010079" cy="777240"/>
          </a:xfrm>
          <a:prstGeom prst="rect">
            <a:avLst/>
          </a:prstGeom>
          <a:noFill/>
        </p:spPr>
        <p:txBody>
          <a:bodyPr wrap="square" anchor="t">
            <a:spAutoFit/>
          </a:bodyPr>
          <a:lstStyle/>
          <a:p>
            <a:pPr algn="l">
              <a:lnSpc>
                <a:spcPct val="102000"/>
              </a:lnSpc>
            </a:pPr>
            <a:r>
              <a:rPr sz="1900" b="0">
                <a:solidFill>
                  <a:srgbClr val="F5F7FA"/>
                </a:solidFill>
                <a:latin typeface="Arial"/>
              </a:rPr>
              <a:t>📰  </a:t>
            </a:r>
            <a:r>
              <a:rPr sz="1600" b="1">
                <a:solidFill>
                  <a:srgbClr val="F5F7FA"/>
                </a:solidFill>
                <a:latin typeface="Arial"/>
              </a:rPr>
              <a:t>Truth</a:t>
            </a:r>
          </a:p>
        </p:txBody>
      </p:sp>
      <p:sp>
        <p:nvSpPr>
          <p:cNvPr id="16" name="TextBox 15"/>
          <p:cNvSpPr txBox="1"/>
          <p:nvPr/>
        </p:nvSpPr>
        <p:spPr>
          <a:xfrm>
            <a:off x="6489038" y="3182112"/>
            <a:ext cx="2010079" cy="594360"/>
          </a:xfrm>
          <a:prstGeom prst="rect">
            <a:avLst/>
          </a:prstGeom>
          <a:noFill/>
        </p:spPr>
        <p:txBody>
          <a:bodyPr wrap="square" anchor="t">
            <a:spAutoFit/>
          </a:bodyPr>
          <a:lstStyle/>
          <a:p>
            <a:pPr algn="l">
              <a:lnSpc>
                <a:spcPct val="108000"/>
              </a:lnSpc>
            </a:pPr>
            <a:r>
              <a:rPr sz="1250" b="0">
                <a:solidFill>
                  <a:srgbClr val="8A94A6"/>
                </a:solidFill>
                <a:latin typeface="Arial"/>
              </a:rPr>
              <a:t>Provenance &amp; watermarking (C2PA), deepfake &amp; AI-text detectors.</a:t>
            </a:r>
          </a:p>
        </p:txBody>
      </p:sp>
      <p:sp>
        <p:nvSpPr>
          <p:cNvPr id="17" name="Rounded Rectangle 16"/>
          <p:cNvSpPr/>
          <p:nvPr/>
        </p:nvSpPr>
        <p:spPr>
          <a:xfrm>
            <a:off x="9029469" y="2011680"/>
            <a:ext cx="2522143" cy="196596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29469" y="2011680"/>
            <a:ext cx="82296" cy="1965960"/>
          </a:xfrm>
          <a:prstGeom prst="rect">
            <a:avLst/>
          </a:prstGeom>
          <a:solidFill>
            <a:srgbClr val="00FF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85501" y="2231136"/>
            <a:ext cx="2010079" cy="777240"/>
          </a:xfrm>
          <a:prstGeom prst="rect">
            <a:avLst/>
          </a:prstGeom>
          <a:noFill/>
        </p:spPr>
        <p:txBody>
          <a:bodyPr wrap="square" anchor="t">
            <a:spAutoFit/>
          </a:bodyPr>
          <a:lstStyle/>
          <a:p>
            <a:pPr algn="l">
              <a:lnSpc>
                <a:spcPct val="102000"/>
              </a:lnSpc>
            </a:pPr>
            <a:r>
              <a:rPr sz="1900" b="0">
                <a:solidFill>
                  <a:srgbClr val="F5F7FA"/>
                </a:solidFill>
                <a:latin typeface="Arial"/>
              </a:rPr>
              <a:t>🧠  </a:t>
            </a:r>
            <a:r>
              <a:rPr sz="1600" b="1">
                <a:solidFill>
                  <a:srgbClr val="F5F7FA"/>
                </a:solidFill>
                <a:latin typeface="Arial"/>
              </a:rPr>
              <a:t>Autonomy</a:t>
            </a:r>
          </a:p>
        </p:txBody>
      </p:sp>
      <p:sp>
        <p:nvSpPr>
          <p:cNvPr id="20" name="TextBox 19"/>
          <p:cNvSpPr txBox="1"/>
          <p:nvPr/>
        </p:nvSpPr>
        <p:spPr>
          <a:xfrm>
            <a:off x="9285501" y="3182112"/>
            <a:ext cx="2010079" cy="594360"/>
          </a:xfrm>
          <a:prstGeom prst="rect">
            <a:avLst/>
          </a:prstGeom>
          <a:noFill/>
        </p:spPr>
        <p:txBody>
          <a:bodyPr wrap="square" anchor="t">
            <a:spAutoFit/>
          </a:bodyPr>
          <a:lstStyle/>
          <a:p>
            <a:pPr algn="l">
              <a:lnSpc>
                <a:spcPct val="108000"/>
              </a:lnSpc>
            </a:pPr>
            <a:r>
              <a:rPr sz="1250" b="0">
                <a:solidFill>
                  <a:srgbClr val="8A94A6"/>
                </a:solidFill>
                <a:latin typeface="Arial"/>
              </a:rPr>
              <a:t>Bright patterns &amp; dark-pattern detectors that hand control back to the user.</a:t>
            </a:r>
          </a:p>
        </p:txBody>
      </p:sp>
      <p:sp>
        <p:nvSpPr>
          <p:cNvPr id="21" name="Rounded Rectangle 20"/>
          <p:cNvSpPr/>
          <p:nvPr/>
        </p:nvSpPr>
        <p:spPr>
          <a:xfrm>
            <a:off x="640080" y="4251960"/>
            <a:ext cx="2522143" cy="196596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4251960"/>
            <a:ext cx="82296" cy="1965960"/>
          </a:xfrm>
          <a:prstGeom prst="rect">
            <a:avLst/>
          </a:prstGeom>
          <a:solidFill>
            <a:srgbClr val="00FF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4471416"/>
            <a:ext cx="2010079" cy="777240"/>
          </a:xfrm>
          <a:prstGeom prst="rect">
            <a:avLst/>
          </a:prstGeom>
          <a:noFill/>
        </p:spPr>
        <p:txBody>
          <a:bodyPr wrap="square" anchor="t">
            <a:spAutoFit/>
          </a:bodyPr>
          <a:lstStyle/>
          <a:p>
            <a:pPr algn="l">
              <a:lnSpc>
                <a:spcPct val="102000"/>
              </a:lnSpc>
            </a:pPr>
            <a:r>
              <a:rPr sz="1900" b="0">
                <a:solidFill>
                  <a:srgbClr val="F5F7FA"/>
                </a:solidFill>
                <a:latin typeface="Arial"/>
              </a:rPr>
              <a:t>⚠️  </a:t>
            </a:r>
            <a:r>
              <a:rPr sz="1600" b="1">
                <a:solidFill>
                  <a:srgbClr val="F5F7FA"/>
                </a:solidFill>
                <a:latin typeface="Arial"/>
              </a:rPr>
              <a:t>Safety</a:t>
            </a:r>
          </a:p>
        </p:txBody>
      </p:sp>
      <p:sp>
        <p:nvSpPr>
          <p:cNvPr id="24" name="TextBox 23"/>
          <p:cNvSpPr txBox="1"/>
          <p:nvPr/>
        </p:nvSpPr>
        <p:spPr>
          <a:xfrm>
            <a:off x="896112" y="5422392"/>
            <a:ext cx="2010079" cy="594360"/>
          </a:xfrm>
          <a:prstGeom prst="rect">
            <a:avLst/>
          </a:prstGeom>
          <a:noFill/>
        </p:spPr>
        <p:txBody>
          <a:bodyPr wrap="square" anchor="t">
            <a:spAutoFit/>
          </a:bodyPr>
          <a:lstStyle/>
          <a:p>
            <a:pPr algn="l">
              <a:lnSpc>
                <a:spcPct val="108000"/>
              </a:lnSpc>
            </a:pPr>
            <a:r>
              <a:rPr sz="1250" b="0">
                <a:solidFill>
                  <a:srgbClr val="8A94A6"/>
                </a:solidFill>
                <a:latin typeface="Arial"/>
              </a:rPr>
              <a:t>Scam &amp; voice-clone detectors; guardrail red-teaming; hash-matching.</a:t>
            </a:r>
          </a:p>
        </p:txBody>
      </p:sp>
      <p:sp>
        <p:nvSpPr>
          <p:cNvPr id="25" name="Rounded Rectangle 24"/>
          <p:cNvSpPr/>
          <p:nvPr/>
        </p:nvSpPr>
        <p:spPr>
          <a:xfrm>
            <a:off x="3436543" y="4251960"/>
            <a:ext cx="2522143" cy="196596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436543" y="4251960"/>
            <a:ext cx="82296" cy="1965960"/>
          </a:xfrm>
          <a:prstGeom prst="rect">
            <a:avLst/>
          </a:prstGeom>
          <a:solidFill>
            <a:srgbClr val="00FF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92575" y="4471416"/>
            <a:ext cx="2010079" cy="777240"/>
          </a:xfrm>
          <a:prstGeom prst="rect">
            <a:avLst/>
          </a:prstGeom>
          <a:noFill/>
        </p:spPr>
        <p:txBody>
          <a:bodyPr wrap="square" anchor="t">
            <a:spAutoFit/>
          </a:bodyPr>
          <a:lstStyle/>
          <a:p>
            <a:pPr algn="l">
              <a:lnSpc>
                <a:spcPct val="102000"/>
              </a:lnSpc>
            </a:pPr>
            <a:r>
              <a:rPr sz="1900" b="0">
                <a:solidFill>
                  <a:srgbClr val="F5F7FA"/>
                </a:solidFill>
                <a:latin typeface="Arial"/>
              </a:rPr>
              <a:t>🌍  </a:t>
            </a:r>
            <a:r>
              <a:rPr sz="1600" b="1">
                <a:solidFill>
                  <a:srgbClr val="F5F7FA"/>
                </a:solidFill>
                <a:latin typeface="Arial"/>
              </a:rPr>
              <a:t>Labor</a:t>
            </a:r>
          </a:p>
        </p:txBody>
      </p:sp>
      <p:sp>
        <p:nvSpPr>
          <p:cNvPr id="28" name="TextBox 27"/>
          <p:cNvSpPr txBox="1"/>
          <p:nvPr/>
        </p:nvSpPr>
        <p:spPr>
          <a:xfrm>
            <a:off x="3692575" y="5422392"/>
            <a:ext cx="2010079" cy="594360"/>
          </a:xfrm>
          <a:prstGeom prst="rect">
            <a:avLst/>
          </a:prstGeom>
          <a:noFill/>
        </p:spPr>
        <p:txBody>
          <a:bodyPr wrap="square" anchor="t">
            <a:spAutoFit/>
          </a:bodyPr>
          <a:lstStyle/>
          <a:p>
            <a:pPr algn="l">
              <a:lnSpc>
                <a:spcPct val="108000"/>
              </a:lnSpc>
            </a:pPr>
            <a:r>
              <a:rPr sz="1250" b="0">
                <a:solidFill>
                  <a:srgbClr val="8A94A6"/>
                </a:solidFill>
                <a:latin typeface="Arial"/>
              </a:rPr>
              <a:t>Withhold your tacit skill from capture; carbon/water dashboards for models.</a:t>
            </a:r>
          </a:p>
        </p:txBody>
      </p:sp>
      <p:sp>
        <p:nvSpPr>
          <p:cNvPr id="29" name="Rounded Rectangle 28"/>
          <p:cNvSpPr/>
          <p:nvPr/>
        </p:nvSpPr>
        <p:spPr>
          <a:xfrm>
            <a:off x="6233006" y="4251960"/>
            <a:ext cx="2522143" cy="1965960"/>
          </a:xfrm>
          <a:prstGeom prst="roundRect">
            <a:avLst/>
          </a:prstGeom>
          <a:solidFill>
            <a:srgbClr val="15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3006" y="4251960"/>
            <a:ext cx="82296" cy="1965960"/>
          </a:xfrm>
          <a:prstGeom prst="rect">
            <a:avLst/>
          </a:prstGeom>
          <a:solidFill>
            <a:srgbClr val="00FF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89038" y="4471416"/>
            <a:ext cx="2010079" cy="777240"/>
          </a:xfrm>
          <a:prstGeom prst="rect">
            <a:avLst/>
          </a:prstGeom>
          <a:noFill/>
        </p:spPr>
        <p:txBody>
          <a:bodyPr wrap="square" anchor="t">
            <a:spAutoFit/>
          </a:bodyPr>
          <a:lstStyle/>
          <a:p>
            <a:pPr algn="l">
              <a:lnSpc>
                <a:spcPct val="102000"/>
              </a:lnSpc>
            </a:pPr>
            <a:r>
              <a:rPr sz="1900" b="0">
                <a:solidFill>
                  <a:srgbClr val="F5F7FA"/>
                </a:solidFill>
                <a:latin typeface="Arial"/>
              </a:rPr>
              <a:t>🎭  </a:t>
            </a:r>
            <a:r>
              <a:rPr sz="1600" b="1">
                <a:solidFill>
                  <a:srgbClr val="F5F7FA"/>
                </a:solidFill>
                <a:latin typeface="Arial"/>
              </a:rPr>
              <a:t>Authenticity</a:t>
            </a:r>
          </a:p>
        </p:txBody>
      </p:sp>
      <p:sp>
        <p:nvSpPr>
          <p:cNvPr id="32" name="TextBox 31"/>
          <p:cNvSpPr txBox="1"/>
          <p:nvPr/>
        </p:nvSpPr>
        <p:spPr>
          <a:xfrm>
            <a:off x="6489038" y="5422392"/>
            <a:ext cx="2010079" cy="594360"/>
          </a:xfrm>
          <a:prstGeom prst="rect">
            <a:avLst/>
          </a:prstGeom>
          <a:noFill/>
        </p:spPr>
        <p:txBody>
          <a:bodyPr wrap="square" anchor="t">
            <a:spAutoFit/>
          </a:bodyPr>
          <a:lstStyle/>
          <a:p>
            <a:pPr algn="l">
              <a:lnSpc>
                <a:spcPct val="108000"/>
              </a:lnSpc>
            </a:pPr>
            <a:r>
              <a:rPr sz="1250" b="0">
                <a:solidFill>
                  <a:srgbClr val="8A94A6"/>
                </a:solidFill>
                <a:latin typeface="Arial"/>
              </a:rPr>
              <a:t>Content credentials, model cards, audit logs — make provenance legible.</a:t>
            </a:r>
          </a:p>
        </p:txBody>
      </p:sp>
      <p:sp>
        <p:nvSpPr>
          <p:cNvPr id="33" name="TextBox 32"/>
          <p:cNvSpPr txBox="1"/>
          <p:nvPr/>
        </p:nvSpPr>
        <p:spPr>
          <a:xfrm>
            <a:off x="640080" y="6355080"/>
            <a:ext cx="10972800" cy="365760"/>
          </a:xfrm>
          <a:prstGeom prst="rect">
            <a:avLst/>
          </a:prstGeom>
          <a:noFill/>
        </p:spPr>
        <p:txBody>
          <a:bodyPr wrap="square" anchor="t">
            <a:spAutoFit/>
          </a:bodyPr>
          <a:lstStyle/>
          <a:p>
            <a:pPr algn="l">
              <a:lnSpc>
                <a:spcPct val="100000"/>
              </a:lnSpc>
            </a:pPr>
            <a:r>
              <a:rPr sz="1000" b="0">
                <a:solidFill>
                  <a:srgbClr val="5A6474"/>
                </a:solidFill>
                <a:latin typeface="Courier New"/>
              </a:rPr>
              <a:t>Good Code, Good Vibes · TECHIE 1121 · Cornell Tech · Summer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extBox 1"/>
          <p:cNvSpPr txBox="1"/>
          <p:nvPr/>
        </p:nvSpPr>
        <p:spPr>
          <a:xfrm>
            <a:off x="640080" y="502920"/>
            <a:ext cx="10058400" cy="365760"/>
          </a:xfrm>
          <a:prstGeom prst="rect">
            <a:avLst/>
          </a:prstGeom>
          <a:noFill/>
        </p:spPr>
        <p:txBody>
          <a:bodyPr wrap="square" anchor="t">
            <a:spAutoFit/>
          </a:bodyPr>
          <a:lstStyle/>
          <a:p>
            <a:pPr algn="l">
              <a:lnSpc>
                <a:spcPct val="100000"/>
              </a:lnSpc>
            </a:pPr>
            <a:r>
              <a:rPr sz="1300" b="1">
                <a:solidFill>
                  <a:srgbClr val="00FF41"/>
                </a:solidFill>
                <a:latin typeface="Courier New"/>
              </a:rPr>
              <a:t>DEEP DIVE · PRIVACY</a:t>
            </a:r>
          </a:p>
        </p:txBody>
      </p:sp>
      <p:sp>
        <p:nvSpPr>
          <p:cNvPr id="3" name="Rectangle 2"/>
          <p:cNvSpPr/>
          <p:nvPr/>
        </p:nvSpPr>
        <p:spPr>
          <a:xfrm>
            <a:off x="640080" y="932688"/>
            <a:ext cx="822960" cy="73152"/>
          </a:xfrm>
          <a:prstGeom prst="rect">
            <a:avLst/>
          </a:prstGeom>
          <a:solidFill>
            <a:srgbClr val="00FF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72800" cy="1097280"/>
          </a:xfrm>
          <a:prstGeom prst="rect">
            <a:avLst/>
          </a:prstGeom>
          <a:noFill/>
        </p:spPr>
        <p:txBody>
          <a:bodyPr wrap="square" anchor="t">
            <a:spAutoFit/>
          </a:bodyPr>
          <a:lstStyle/>
          <a:p>
            <a:pPr algn="l">
              <a:lnSpc>
                <a:spcPct val="100000"/>
              </a:lnSpc>
            </a:pPr>
            <a:r>
              <a:rPr sz="3400" b="1">
                <a:solidFill>
                  <a:srgbClr val="F5F7FA"/>
                </a:solidFill>
                <a:latin typeface="Arial"/>
              </a:rPr>
              <a:t>Poison the scraper (this is Part A)</a:t>
            </a:r>
          </a:p>
        </p:txBody>
      </p:sp>
      <p:sp>
        <p:nvSpPr>
          <p:cNvPr id="5" name="TextBox 4"/>
          <p:cNvSpPr txBox="1"/>
          <p:nvPr/>
        </p:nvSpPr>
        <p:spPr>
          <a:xfrm>
            <a:off x="658368" y="2286000"/>
            <a:ext cx="10881360" cy="3657600"/>
          </a:xfrm>
          <a:prstGeom prst="rect">
            <a:avLst/>
          </a:prstGeom>
          <a:noFill/>
        </p:spPr>
        <p:txBody>
          <a:bodyPr wrap="square" anchor="t">
            <a:spAutoFit/>
          </a:bodyPr>
          <a:lstStyle/>
          <a:p>
            <a:pPr algn="l">
              <a:lnSpc>
                <a:spcPct val="112000"/>
              </a:lnSpc>
            </a:pPr>
            <a:r>
              <a:rPr sz="2200" b="0">
                <a:solidFill>
                  <a:srgbClr val="F5F7FA"/>
                </a:solidFill>
                <a:latin typeface="Arial"/>
              </a:rPr>
              <a:t>Inject plausible but </a:t>
            </a:r>
            <a:r>
              <a:rPr sz="2000" b="1">
                <a:solidFill>
                  <a:srgbClr val="00FF41"/>
                </a:solidFill>
                <a:latin typeface="Arial"/>
              </a:rPr>
              <a:t>fabricated</a:t>
            </a:r>
            <a:r>
              <a:rPr sz="2200" b="0">
                <a:solidFill>
                  <a:srgbClr val="F5F7FA"/>
                </a:solidFill>
                <a:latin typeface="Arial"/>
              </a:rPr>
              <a:t> facts into your own site — invisible to humans, visible to AI scrapers. Obfuscation as self-defense.</a:t>
            </a:r>
          </a:p>
          <a:p>
            <a:pPr algn="l">
              <a:lnSpc>
                <a:spcPct val="112000"/>
              </a:lnSpc>
            </a:pPr>
            <a:r>
              <a:rPr sz="2000" b="0">
                <a:solidFill>
                  <a:srgbClr val="F5F7FA"/>
                </a:solidFill>
                <a:latin typeface="Arial"/>
              </a:rPr>
              <a:t/>
            </a:r>
          </a:p>
          <a:p>
            <a:pPr algn="l">
              <a:lnSpc>
                <a:spcPct val="112000"/>
              </a:lnSpc>
            </a:pPr>
            <a:r>
              <a:rPr sz="1800" b="0">
                <a:solidFill>
                  <a:srgbClr val="00FF41"/>
                </a:solidFill>
                <a:latin typeface="Courier New"/>
              </a:rPr>
              <a:t>clip: rect(0,0,0,0)</a:t>
            </a:r>
            <a:r>
              <a:rPr sz="1800" b="0">
                <a:solidFill>
                  <a:srgbClr val="8A94A6"/>
                </a:solidFill>
                <a:latin typeface="Arial"/>
              </a:rPr>
              <a:t> keeps the text in the render tree but trims it to 0px — the scraper ingests your decoy; the human sees nothing.</a:t>
            </a:r>
          </a:p>
        </p:txBody>
      </p:sp>
      <p:sp>
        <p:nvSpPr>
          <p:cNvPr id="6" name="TextBox 5"/>
          <p:cNvSpPr txBox="1"/>
          <p:nvPr/>
        </p:nvSpPr>
        <p:spPr>
          <a:xfrm>
            <a:off x="640080" y="6355080"/>
            <a:ext cx="10972800" cy="365760"/>
          </a:xfrm>
          <a:prstGeom prst="rect">
            <a:avLst/>
          </a:prstGeom>
          <a:noFill/>
        </p:spPr>
        <p:txBody>
          <a:bodyPr wrap="square" anchor="t">
            <a:spAutoFit/>
          </a:bodyPr>
          <a:lstStyle/>
          <a:p>
            <a:pPr algn="l">
              <a:lnSpc>
                <a:spcPct val="100000"/>
              </a:lnSpc>
            </a:pPr>
            <a:r>
              <a:rPr sz="1000" b="0">
                <a:solidFill>
                  <a:srgbClr val="5A6474"/>
                </a:solidFill>
                <a:latin typeface="Courier New"/>
              </a:rPr>
              <a:t>Good Code, Good Vibes · TECHIE 1121 · Cornell Tech · Summer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extBox 1"/>
          <p:cNvSpPr txBox="1"/>
          <p:nvPr/>
        </p:nvSpPr>
        <p:spPr>
          <a:xfrm>
            <a:off x="640080" y="502920"/>
            <a:ext cx="10058400" cy="365760"/>
          </a:xfrm>
          <a:prstGeom prst="rect">
            <a:avLst/>
          </a:prstGeom>
          <a:noFill/>
        </p:spPr>
        <p:txBody>
          <a:bodyPr wrap="square" anchor="t">
            <a:spAutoFit/>
          </a:bodyPr>
          <a:lstStyle/>
          <a:p>
            <a:pPr algn="l">
              <a:lnSpc>
                <a:spcPct val="100000"/>
              </a:lnSpc>
            </a:pPr>
            <a:r>
              <a:rPr sz="1300" b="1">
                <a:solidFill>
                  <a:srgbClr val="00FF41"/>
                </a:solidFill>
                <a:latin typeface="Courier New"/>
              </a:rPr>
              <a:t>DEEP DIVE · PRIVACY</a:t>
            </a:r>
          </a:p>
        </p:txBody>
      </p:sp>
      <p:sp>
        <p:nvSpPr>
          <p:cNvPr id="3" name="Rectangle 2"/>
          <p:cNvSpPr/>
          <p:nvPr/>
        </p:nvSpPr>
        <p:spPr>
          <a:xfrm>
            <a:off x="640080" y="932688"/>
            <a:ext cx="822960" cy="73152"/>
          </a:xfrm>
          <a:prstGeom prst="rect">
            <a:avLst/>
          </a:prstGeom>
          <a:solidFill>
            <a:srgbClr val="00FF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72800" cy="914400"/>
          </a:xfrm>
          <a:prstGeom prst="rect">
            <a:avLst/>
          </a:prstGeom>
          <a:noFill/>
        </p:spPr>
        <p:txBody>
          <a:bodyPr wrap="square" anchor="t">
            <a:spAutoFit/>
          </a:bodyPr>
          <a:lstStyle/>
          <a:p>
            <a:pPr algn="l">
              <a:lnSpc>
                <a:spcPct val="100000"/>
              </a:lnSpc>
            </a:pPr>
            <a:r>
              <a:rPr sz="3000" b="1">
                <a:solidFill>
                  <a:srgbClr val="F5F7FA"/>
                </a:solidFill>
                <a:latin typeface="Arial"/>
              </a:rPr>
              <a:t>Prompt injection as obfuscation</a:t>
            </a:r>
          </a:p>
        </p:txBody>
      </p:sp>
      <p:sp>
        <p:nvSpPr>
          <p:cNvPr id="5" name="Rounded Rectangle 4"/>
          <p:cNvSpPr/>
          <p:nvPr/>
        </p:nvSpPr>
        <p:spPr>
          <a:xfrm>
            <a:off x="2194560" y="2331720"/>
            <a:ext cx="7772400" cy="3566160"/>
          </a:xfrm>
          <a:prstGeom prst="roundRect">
            <a:avLst/>
          </a:prstGeom>
          <a:solidFill>
            <a:srgbClr val="151B26"/>
          </a:solidFill>
          <a:ln w="19050">
            <a:solidFill>
              <a:srgbClr val="00FF4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0" y="3383280"/>
            <a:ext cx="7772400" cy="731520"/>
          </a:xfrm>
          <a:prstGeom prst="rect">
            <a:avLst/>
          </a:prstGeom>
          <a:noFill/>
        </p:spPr>
        <p:txBody>
          <a:bodyPr wrap="square" anchor="t">
            <a:spAutoFit/>
          </a:bodyPr>
          <a:lstStyle/>
          <a:p>
            <a:pPr algn="ctr">
              <a:lnSpc>
                <a:spcPct val="100000"/>
              </a:lnSpc>
            </a:pPr>
            <a:r>
              <a:rPr sz="2200" b="1">
                <a:solidFill>
                  <a:srgbClr val="00FF41"/>
                </a:solidFill>
                <a:latin typeface="Courier New"/>
              </a:rPr>
              <a:t>🎤 Hauke’s slide</a:t>
            </a:r>
          </a:p>
        </p:txBody>
      </p:sp>
      <p:sp>
        <p:nvSpPr>
          <p:cNvPr id="7" name="TextBox 6"/>
          <p:cNvSpPr txBox="1"/>
          <p:nvPr/>
        </p:nvSpPr>
        <p:spPr>
          <a:xfrm>
            <a:off x="2194560" y="4114800"/>
            <a:ext cx="7772400" cy="731520"/>
          </a:xfrm>
          <a:prstGeom prst="rect">
            <a:avLst/>
          </a:prstGeom>
          <a:noFill/>
        </p:spPr>
        <p:txBody>
          <a:bodyPr wrap="square" anchor="t">
            <a:spAutoFit/>
          </a:bodyPr>
          <a:lstStyle/>
          <a:p>
            <a:pPr algn="ctr">
              <a:lnSpc>
                <a:spcPct val="100000"/>
              </a:lnSpc>
            </a:pPr>
            <a:r>
              <a:rPr sz="1400" b="0">
                <a:solidFill>
                  <a:srgbClr val="8A94A6"/>
                </a:solidFill>
                <a:latin typeface="Arial"/>
              </a:rPr>
              <a:t>Drop in the prompt-injection-as-obfuscation material here (hidden instructions that redirect a scraping agent).</a:t>
            </a:r>
          </a:p>
        </p:txBody>
      </p:sp>
      <p:sp>
        <p:nvSpPr>
          <p:cNvPr id="8" name="TextBox 7"/>
          <p:cNvSpPr txBox="1"/>
          <p:nvPr/>
        </p:nvSpPr>
        <p:spPr>
          <a:xfrm>
            <a:off x="640080" y="6355080"/>
            <a:ext cx="10972800" cy="365760"/>
          </a:xfrm>
          <a:prstGeom prst="rect">
            <a:avLst/>
          </a:prstGeom>
          <a:noFill/>
        </p:spPr>
        <p:txBody>
          <a:bodyPr wrap="square" anchor="t">
            <a:spAutoFit/>
          </a:bodyPr>
          <a:lstStyle/>
          <a:p>
            <a:pPr algn="l">
              <a:lnSpc>
                <a:spcPct val="100000"/>
              </a:lnSpc>
            </a:pPr>
            <a:r>
              <a:rPr sz="1000" b="0">
                <a:solidFill>
                  <a:srgbClr val="5A6474"/>
                </a:solidFill>
                <a:latin typeface="Courier New"/>
              </a:rPr>
              <a:t>Good Code, Good Vibes · TECHIE 1121 · Cornell Tech · Summer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extBox 1"/>
          <p:cNvSpPr txBox="1"/>
          <p:nvPr/>
        </p:nvSpPr>
        <p:spPr>
          <a:xfrm>
            <a:off x="640080" y="502920"/>
            <a:ext cx="10058400" cy="365760"/>
          </a:xfrm>
          <a:prstGeom prst="rect">
            <a:avLst/>
          </a:prstGeom>
          <a:noFill/>
        </p:spPr>
        <p:txBody>
          <a:bodyPr wrap="square" anchor="t">
            <a:spAutoFit/>
          </a:bodyPr>
          <a:lstStyle/>
          <a:p>
            <a:pPr algn="l">
              <a:lnSpc>
                <a:spcPct val="100000"/>
              </a:lnSpc>
            </a:pPr>
            <a:r>
              <a:rPr sz="1300" b="1">
                <a:solidFill>
                  <a:srgbClr val="00FF41"/>
                </a:solidFill>
                <a:latin typeface="Courier New"/>
              </a:rPr>
              <a:t>DEEP DIVE · LABOR</a:t>
            </a:r>
          </a:p>
        </p:txBody>
      </p:sp>
      <p:sp>
        <p:nvSpPr>
          <p:cNvPr id="3" name="Rectangle 2"/>
          <p:cNvSpPr/>
          <p:nvPr/>
        </p:nvSpPr>
        <p:spPr>
          <a:xfrm>
            <a:off x="640080" y="932688"/>
            <a:ext cx="822960" cy="73152"/>
          </a:xfrm>
          <a:prstGeom prst="rect">
            <a:avLst/>
          </a:prstGeom>
          <a:solidFill>
            <a:srgbClr val="00FF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72800" cy="1097280"/>
          </a:xfrm>
          <a:prstGeom prst="rect">
            <a:avLst/>
          </a:prstGeom>
          <a:noFill/>
        </p:spPr>
        <p:txBody>
          <a:bodyPr wrap="square" anchor="t">
            <a:spAutoFit/>
          </a:bodyPr>
          <a:lstStyle/>
          <a:p>
            <a:pPr algn="l">
              <a:lnSpc>
                <a:spcPct val="100000"/>
              </a:lnSpc>
            </a:pPr>
            <a:r>
              <a:rPr sz="3400" b="1">
                <a:solidFill>
                  <a:srgbClr val="F5F7FA"/>
                </a:solidFill>
                <a:latin typeface="Arial"/>
              </a:rPr>
              <a:t>Hide your knowledge from the machine</a:t>
            </a:r>
          </a:p>
        </p:txBody>
      </p:sp>
      <p:sp>
        <p:nvSpPr>
          <p:cNvPr id="5" name="TextBox 4"/>
          <p:cNvSpPr txBox="1"/>
          <p:nvPr/>
        </p:nvSpPr>
        <p:spPr>
          <a:xfrm>
            <a:off x="658368" y="2286000"/>
            <a:ext cx="10881360" cy="3657600"/>
          </a:xfrm>
          <a:prstGeom prst="rect">
            <a:avLst/>
          </a:prstGeom>
          <a:noFill/>
        </p:spPr>
        <p:txBody>
          <a:bodyPr wrap="square" anchor="t">
            <a:spAutoFit/>
          </a:bodyPr>
          <a:lstStyle/>
          <a:p>
            <a:pPr algn="l">
              <a:lnSpc>
                <a:spcPct val="112000"/>
              </a:lnSpc>
            </a:pPr>
            <a:r>
              <a:rPr sz="2100" b="0">
                <a:solidFill>
                  <a:srgbClr val="F5F7FA"/>
                </a:solidFill>
                <a:latin typeface="Arial"/>
              </a:rPr>
              <a:t>In China, workers build </a:t>
            </a:r>
            <a:r>
              <a:rPr sz="2100" b="0">
                <a:solidFill>
                  <a:srgbClr val="00FF41"/>
                </a:solidFill>
                <a:latin typeface="Courier New"/>
              </a:rPr>
              <a:t>colleague.skill</a:t>
            </a:r>
            <a:r>
              <a:rPr sz="2100" b="0">
                <a:solidFill>
                  <a:srgbClr val="F5F7FA"/>
                </a:solidFill>
                <a:latin typeface="Arial"/>
              </a:rPr>
              <a:t> files — AI replicas of a coworker’s know-how — to make each other redundant.</a:t>
            </a:r>
          </a:p>
          <a:p>
            <a:pPr algn="l">
              <a:lnSpc>
                <a:spcPct val="112000"/>
              </a:lnSpc>
            </a:pPr>
            <a:r>
              <a:rPr sz="2000" b="0">
                <a:solidFill>
                  <a:srgbClr val="F5F7FA"/>
                </a:solidFill>
                <a:latin typeface="Arial"/>
              </a:rPr>
              <a:t/>
            </a:r>
          </a:p>
          <a:p>
            <a:pPr algn="l">
              <a:lnSpc>
                <a:spcPct val="112000"/>
              </a:lnSpc>
            </a:pPr>
            <a:r>
              <a:rPr sz="2100" b="0">
                <a:solidFill>
                  <a:srgbClr val="F5F7FA"/>
                </a:solidFill>
                <a:latin typeface="Arial"/>
              </a:rPr>
              <a:t>The counter-move: </a:t>
            </a:r>
            <a:r>
              <a:rPr sz="2100" b="0">
                <a:solidFill>
                  <a:srgbClr val="00FF41"/>
                </a:solidFill>
                <a:latin typeface="Courier New"/>
              </a:rPr>
              <a:t>anti-distillation.skill</a:t>
            </a:r>
            <a:r>
              <a:rPr sz="2100" b="0">
                <a:solidFill>
                  <a:srgbClr val="F5F7FA"/>
                </a:solidFill>
                <a:latin typeface="Arial"/>
              </a:rPr>
              <a:t> — strip your tacit knowledge before it’s captured. “Nobody wants to be turned into a skill file and lose their job.”</a:t>
            </a:r>
          </a:p>
        </p:txBody>
      </p:sp>
      <p:sp>
        <p:nvSpPr>
          <p:cNvPr id="6" name="TextBox 5"/>
          <p:cNvSpPr txBox="1"/>
          <p:nvPr/>
        </p:nvSpPr>
        <p:spPr>
          <a:xfrm>
            <a:off x="640080" y="6355080"/>
            <a:ext cx="10972800" cy="365760"/>
          </a:xfrm>
          <a:prstGeom prst="rect">
            <a:avLst/>
          </a:prstGeom>
          <a:noFill/>
        </p:spPr>
        <p:txBody>
          <a:bodyPr wrap="square" anchor="t">
            <a:spAutoFit/>
          </a:bodyPr>
          <a:lstStyle/>
          <a:p>
            <a:pPr algn="l">
              <a:lnSpc>
                <a:spcPct val="100000"/>
              </a:lnSpc>
            </a:pPr>
            <a:r>
              <a:rPr sz="1000" b="0">
                <a:solidFill>
                  <a:srgbClr val="5A6474"/>
                </a:solidFill>
                <a:latin typeface="Courier New"/>
              </a:rPr>
              <a:t>Good Code, Good Vibes · TECHIE 1121 · Cornell Tech · Summer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extBox 1"/>
          <p:cNvSpPr txBox="1"/>
          <p:nvPr/>
        </p:nvSpPr>
        <p:spPr>
          <a:xfrm>
            <a:off x="640080" y="502920"/>
            <a:ext cx="10058400" cy="365760"/>
          </a:xfrm>
          <a:prstGeom prst="rect">
            <a:avLst/>
          </a:prstGeom>
          <a:noFill/>
        </p:spPr>
        <p:txBody>
          <a:bodyPr wrap="square" anchor="t">
            <a:spAutoFit/>
          </a:bodyPr>
          <a:lstStyle/>
          <a:p>
            <a:pPr algn="l">
              <a:lnSpc>
                <a:spcPct val="100000"/>
              </a:lnSpc>
            </a:pPr>
            <a:r>
              <a:rPr sz="1300" b="1">
                <a:solidFill>
                  <a:srgbClr val="00FF41"/>
                </a:solidFill>
                <a:latin typeface="Courier New"/>
              </a:rPr>
              <a:t>DEEP DIVE · PRIVACY OF GROUPS</a:t>
            </a:r>
          </a:p>
        </p:txBody>
      </p:sp>
      <p:sp>
        <p:nvSpPr>
          <p:cNvPr id="3" name="Rectangle 2"/>
          <p:cNvSpPr/>
          <p:nvPr/>
        </p:nvSpPr>
        <p:spPr>
          <a:xfrm>
            <a:off x="640080" y="932688"/>
            <a:ext cx="822960" cy="73152"/>
          </a:xfrm>
          <a:prstGeom prst="rect">
            <a:avLst/>
          </a:prstGeom>
          <a:solidFill>
            <a:srgbClr val="00FF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72800" cy="1097280"/>
          </a:xfrm>
          <a:prstGeom prst="rect">
            <a:avLst/>
          </a:prstGeom>
          <a:noFill/>
        </p:spPr>
        <p:txBody>
          <a:bodyPr wrap="square" anchor="t">
            <a:spAutoFit/>
          </a:bodyPr>
          <a:lstStyle/>
          <a:p>
            <a:pPr algn="l">
              <a:lnSpc>
                <a:spcPct val="100000"/>
              </a:lnSpc>
            </a:pPr>
            <a:r>
              <a:rPr sz="3400" b="1">
                <a:solidFill>
                  <a:srgbClr val="F5F7FA"/>
                </a:solidFill>
                <a:latin typeface="Arial"/>
              </a:rPr>
              <a:t>When blurring isn’t enough (Franchi, Sandhaus et al.)</a:t>
            </a:r>
          </a:p>
        </p:txBody>
      </p:sp>
      <p:sp>
        <p:nvSpPr>
          <p:cNvPr id="5" name="TextBox 4"/>
          <p:cNvSpPr txBox="1"/>
          <p:nvPr/>
        </p:nvSpPr>
        <p:spPr>
          <a:xfrm>
            <a:off x="658368" y="2286000"/>
            <a:ext cx="10881360" cy="3657600"/>
          </a:xfrm>
          <a:prstGeom prst="rect">
            <a:avLst/>
          </a:prstGeom>
          <a:noFill/>
        </p:spPr>
        <p:txBody>
          <a:bodyPr wrap="square" anchor="t">
            <a:spAutoFit/>
          </a:bodyPr>
          <a:lstStyle/>
          <a:p>
            <a:pPr algn="l">
              <a:lnSpc>
                <a:spcPct val="112000"/>
              </a:lnSpc>
            </a:pPr>
            <a:r>
              <a:rPr sz="2000" b="0">
                <a:solidFill>
                  <a:srgbClr val="F5F7FA"/>
                </a:solidFill>
                <a:latin typeface="Arial"/>
              </a:rPr>
              <a:t>Dense Street Imagery: ~3 trillion photos of public streets (dashcams, Waymo, Lyft). Faces and plates are blurred.</a:t>
            </a:r>
          </a:p>
          <a:p>
            <a:pPr algn="l">
              <a:lnSpc>
                <a:spcPct val="112000"/>
              </a:lnSpc>
            </a:pPr>
            <a:r>
              <a:rPr sz="2000" b="0">
                <a:solidFill>
                  <a:srgbClr val="F5F7FA"/>
                </a:solidFill>
                <a:latin typeface="Arial"/>
              </a:rPr>
              <a:t/>
            </a:r>
          </a:p>
          <a:p>
            <a:pPr algn="l">
              <a:lnSpc>
                <a:spcPct val="112000"/>
              </a:lnSpc>
            </a:pPr>
            <a:r>
              <a:rPr sz="2000" b="1">
                <a:solidFill>
                  <a:srgbClr val="00FF41"/>
                </a:solidFill>
                <a:latin typeface="Arial"/>
              </a:rPr>
              <a:t>The finding: </a:t>
            </a:r>
            <a:r>
              <a:rPr sz="2000" b="0">
                <a:solidFill>
                  <a:srgbClr val="F5F7FA"/>
                </a:solidFill>
                <a:latin typeface="Arial"/>
              </a:rPr>
              <a:t>AI can still infer sensitive GROUP membership from ‘anonymized’ people. The paper red-teams the blur — then maps who’s exposed and how to protect them.</a:t>
            </a:r>
          </a:p>
        </p:txBody>
      </p:sp>
      <p:sp>
        <p:nvSpPr>
          <p:cNvPr id="6" name="TextBox 5"/>
          <p:cNvSpPr txBox="1"/>
          <p:nvPr/>
        </p:nvSpPr>
        <p:spPr>
          <a:xfrm>
            <a:off x="640080" y="6355080"/>
            <a:ext cx="10972800" cy="365760"/>
          </a:xfrm>
          <a:prstGeom prst="rect">
            <a:avLst/>
          </a:prstGeom>
          <a:noFill/>
        </p:spPr>
        <p:txBody>
          <a:bodyPr wrap="square" anchor="t">
            <a:spAutoFit/>
          </a:bodyPr>
          <a:lstStyle/>
          <a:p>
            <a:pPr algn="l">
              <a:lnSpc>
                <a:spcPct val="100000"/>
              </a:lnSpc>
            </a:pPr>
            <a:r>
              <a:rPr sz="1000" b="0">
                <a:solidFill>
                  <a:srgbClr val="5A6474"/>
                </a:solidFill>
                <a:latin typeface="Courier New"/>
              </a:rPr>
              <a:t>Good Code, Good Vibes · TECHIE 1121 · Cornell Tech · Summer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extBox 1"/>
          <p:cNvSpPr txBox="1"/>
          <p:nvPr/>
        </p:nvSpPr>
        <p:spPr>
          <a:xfrm>
            <a:off x="640080" y="502920"/>
            <a:ext cx="10058400" cy="365760"/>
          </a:xfrm>
          <a:prstGeom prst="rect">
            <a:avLst/>
          </a:prstGeom>
          <a:noFill/>
        </p:spPr>
        <p:txBody>
          <a:bodyPr wrap="square" anchor="t">
            <a:spAutoFit/>
          </a:bodyPr>
          <a:lstStyle/>
          <a:p>
            <a:pPr algn="l">
              <a:lnSpc>
                <a:spcPct val="100000"/>
              </a:lnSpc>
            </a:pPr>
            <a:r>
              <a:rPr sz="1300" b="1">
                <a:solidFill>
                  <a:srgbClr val="00FF41"/>
                </a:solidFill>
                <a:latin typeface="Courier New"/>
              </a:rPr>
              <a:t>YOUR TURN · 5 MIN</a:t>
            </a:r>
          </a:p>
        </p:txBody>
      </p:sp>
      <p:sp>
        <p:nvSpPr>
          <p:cNvPr id="3" name="TextBox 2"/>
          <p:cNvSpPr txBox="1"/>
          <p:nvPr/>
        </p:nvSpPr>
        <p:spPr>
          <a:xfrm>
            <a:off x="1097280" y="548640"/>
            <a:ext cx="2743200" cy="1828800"/>
          </a:xfrm>
          <a:prstGeom prst="rect">
            <a:avLst/>
          </a:prstGeom>
          <a:noFill/>
        </p:spPr>
        <p:txBody>
          <a:bodyPr wrap="square" anchor="t">
            <a:spAutoFit/>
          </a:bodyPr>
          <a:lstStyle/>
          <a:p>
            <a:pPr algn="l">
              <a:lnSpc>
                <a:spcPct val="100000"/>
              </a:lnSpc>
            </a:pPr>
            <a:r>
              <a:rPr sz="12000" b="1">
                <a:solidFill>
                  <a:srgbClr val="00FF41"/>
                </a:solidFill>
                <a:latin typeface="Arial"/>
              </a:rPr>
              <a:t>?</a:t>
            </a:r>
          </a:p>
        </p:txBody>
      </p:sp>
      <p:sp>
        <p:nvSpPr>
          <p:cNvPr id="4" name="TextBox 3"/>
          <p:cNvSpPr txBox="1"/>
          <p:nvPr/>
        </p:nvSpPr>
        <p:spPr>
          <a:xfrm>
            <a:off x="1097280" y="2743200"/>
            <a:ext cx="10058400" cy="3108960"/>
          </a:xfrm>
          <a:prstGeom prst="rect">
            <a:avLst/>
          </a:prstGeom>
          <a:noFill/>
        </p:spPr>
        <p:txBody>
          <a:bodyPr wrap="square" anchor="t">
            <a:spAutoFit/>
          </a:bodyPr>
          <a:lstStyle/>
          <a:p>
            <a:pPr algn="l">
              <a:lnSpc>
                <a:spcPct val="112000"/>
              </a:lnSpc>
            </a:pPr>
            <a:r>
              <a:rPr sz="3000" b="1">
                <a:solidFill>
                  <a:srgbClr val="F5F7FA"/>
                </a:solidFill>
                <a:latin typeface="Arial"/>
              </a:rPr>
              <a:t>What else could ‘AI against AI’ be?</a:t>
            </a:r>
          </a:p>
          <a:p>
            <a:pPr algn="l">
              <a:lnSpc>
                <a:spcPct val="112000"/>
              </a:lnSpc>
            </a:pPr>
            <a:r>
              <a:rPr sz="3000" b="1">
                <a:solidFill>
                  <a:srgbClr val="F5F7FA"/>
                </a:solidFill>
                <a:latin typeface="Arial"/>
              </a:rPr>
              <a:t>Pick a harm from the red map — invent its defense.</a:t>
            </a:r>
          </a:p>
        </p:txBody>
      </p:sp>
      <p:sp>
        <p:nvSpPr>
          <p:cNvPr id="5" name="TextBox 4"/>
          <p:cNvSpPr txBox="1"/>
          <p:nvPr/>
        </p:nvSpPr>
        <p:spPr>
          <a:xfrm>
            <a:off x="640080" y="6355080"/>
            <a:ext cx="10972800" cy="365760"/>
          </a:xfrm>
          <a:prstGeom prst="rect">
            <a:avLst/>
          </a:prstGeom>
          <a:noFill/>
        </p:spPr>
        <p:txBody>
          <a:bodyPr wrap="square" anchor="t">
            <a:spAutoFit/>
          </a:bodyPr>
          <a:lstStyle/>
          <a:p>
            <a:pPr algn="l">
              <a:lnSpc>
                <a:spcPct val="100000"/>
              </a:lnSpc>
            </a:pPr>
            <a:r>
              <a:rPr sz="1000" b="0">
                <a:solidFill>
                  <a:srgbClr val="5A6474"/>
                </a:solidFill>
                <a:latin typeface="Courier New"/>
              </a:rPr>
              <a:t>Good Code, Good Vibes · TECHIE 1121 · Cornell Tech · Summer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extBox 1"/>
          <p:cNvSpPr txBox="1"/>
          <p:nvPr/>
        </p:nvSpPr>
        <p:spPr>
          <a:xfrm>
            <a:off x="640080" y="502920"/>
            <a:ext cx="10058400" cy="365760"/>
          </a:xfrm>
          <a:prstGeom prst="rect">
            <a:avLst/>
          </a:prstGeom>
          <a:noFill/>
        </p:spPr>
        <p:txBody>
          <a:bodyPr wrap="square" anchor="t">
            <a:spAutoFit/>
          </a:bodyPr>
          <a:lstStyle/>
          <a:p>
            <a:pPr algn="l">
              <a:lnSpc>
                <a:spcPct val="100000"/>
              </a:lnSpc>
            </a:pPr>
            <a:r>
              <a:rPr sz="1300" b="1">
                <a:solidFill>
                  <a:srgbClr val="00FF41"/>
                </a:solidFill>
                <a:latin typeface="Courier New"/>
              </a:rPr>
              <a:t>DO IT · BOTH PARTS</a:t>
            </a:r>
          </a:p>
        </p:txBody>
      </p:sp>
      <p:sp>
        <p:nvSpPr>
          <p:cNvPr id="3" name="Rectangle 2"/>
          <p:cNvSpPr/>
          <p:nvPr/>
        </p:nvSpPr>
        <p:spPr>
          <a:xfrm>
            <a:off x="640080" y="932688"/>
            <a:ext cx="822960" cy="73152"/>
          </a:xfrm>
          <a:prstGeom prst="rect">
            <a:avLst/>
          </a:prstGeom>
          <a:solidFill>
            <a:srgbClr val="00FF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72800" cy="1097280"/>
          </a:xfrm>
          <a:prstGeom prst="rect">
            <a:avLst/>
          </a:prstGeom>
          <a:noFill/>
        </p:spPr>
        <p:txBody>
          <a:bodyPr wrap="square" anchor="t">
            <a:spAutoFit/>
          </a:bodyPr>
          <a:lstStyle/>
          <a:p>
            <a:pPr algn="l">
              <a:lnSpc>
                <a:spcPct val="100000"/>
              </a:lnSpc>
            </a:pPr>
            <a:r>
              <a:rPr sz="3400" b="1">
                <a:solidFill>
                  <a:srgbClr val="F5F7FA"/>
                </a:solidFill>
                <a:latin typeface="Arial"/>
              </a:rPr>
              <a:t>Today you build two things</a:t>
            </a:r>
          </a:p>
        </p:txBody>
      </p:sp>
      <p:sp>
        <p:nvSpPr>
          <p:cNvPr id="5" name="TextBox 4"/>
          <p:cNvSpPr txBox="1"/>
          <p:nvPr/>
        </p:nvSpPr>
        <p:spPr>
          <a:xfrm>
            <a:off x="658368" y="2286000"/>
            <a:ext cx="10881360" cy="3657600"/>
          </a:xfrm>
          <a:prstGeom prst="rect">
            <a:avLst/>
          </a:prstGeom>
          <a:noFill/>
        </p:spPr>
        <p:txBody>
          <a:bodyPr wrap="square" anchor="t">
            <a:spAutoFit/>
          </a:bodyPr>
          <a:lstStyle/>
          <a:p>
            <a:pPr algn="l">
              <a:lnSpc>
                <a:spcPct val="112000"/>
              </a:lnSpc>
            </a:pPr>
            <a:r>
              <a:rPr sz="2000" b="1">
                <a:solidFill>
                  <a:srgbClr val="00FF41"/>
                </a:solidFill>
                <a:latin typeface="Arial"/>
              </a:rPr>
              <a:t>•  </a:t>
            </a:r>
            <a:r>
              <a:rPr sz="2000" b="0">
                <a:solidFill>
                  <a:srgbClr val="F5F7FA"/>
                </a:solidFill>
                <a:latin typeface="Arial"/>
              </a:rPr>
              <a:t>Part A — poison your Week 1 site (obfuscation): fake facts via CSS clip + aria-hidden, verified with curl.</a:t>
            </a:r>
          </a:p>
          <a:p>
            <a:pPr algn="l">
              <a:lnSpc>
                <a:spcPct val="112000"/>
              </a:lnSpc>
            </a:pPr>
            <a:r>
              <a:rPr sz="2000" b="1">
                <a:solidFill>
                  <a:srgbClr val="00FF41"/>
                </a:solidFill>
                <a:latin typeface="Arial"/>
              </a:rPr>
              <a:t>•  </a:t>
            </a:r>
            <a:r>
              <a:rPr sz="2000" b="0">
                <a:solidFill>
                  <a:srgbClr val="F5F7FA"/>
                </a:solidFill>
                <a:latin typeface="Arial"/>
              </a:rPr>
              <a:t>Part B — a hosted AI-against-AI mini project of your own (the link is your submission).</a:t>
            </a:r>
          </a:p>
          <a:p>
            <a:pPr algn="l">
              <a:lnSpc>
                <a:spcPct val="112000"/>
              </a:lnSpc>
            </a:pPr>
            <a:r>
              <a:rPr sz="2000" b="1">
                <a:solidFill>
                  <a:srgbClr val="00FF41"/>
                </a:solidFill>
                <a:latin typeface="Arial"/>
              </a:rPr>
              <a:t>•  </a:t>
            </a:r>
            <a:r>
              <a:rPr sz="2000" b="0">
                <a:solidFill>
                  <a:srgbClr val="F5F7FA"/>
                </a:solidFill>
                <a:latin typeface="Arial"/>
              </a:rPr>
              <a:t>Options for B: style cloaking · privacy noise · block-the-bots · an AI-vs-AI detector · worker-autonomy tool.</a:t>
            </a:r>
          </a:p>
          <a:p>
            <a:pPr algn="l">
              <a:lnSpc>
                <a:spcPct val="112000"/>
              </a:lnSpc>
            </a:pPr>
            <a:r>
              <a:rPr sz="2000" b="1">
                <a:solidFill>
                  <a:srgbClr val="00FF41"/>
                </a:solidFill>
                <a:latin typeface="Arial"/>
              </a:rPr>
              <a:t>•  </a:t>
            </a:r>
            <a:r>
              <a:rPr sz="2000" b="0">
                <a:solidFill>
                  <a:srgbClr val="F5F7FA"/>
                </a:solidFill>
                <a:latin typeface="Arial"/>
              </a:rPr>
              <a:t>The report documents BOTH parts.</a:t>
            </a:r>
          </a:p>
        </p:txBody>
      </p:sp>
      <p:sp>
        <p:nvSpPr>
          <p:cNvPr id="6" name="TextBox 5"/>
          <p:cNvSpPr txBox="1"/>
          <p:nvPr/>
        </p:nvSpPr>
        <p:spPr>
          <a:xfrm>
            <a:off x="640080" y="6355080"/>
            <a:ext cx="10972800" cy="365760"/>
          </a:xfrm>
          <a:prstGeom prst="rect">
            <a:avLst/>
          </a:prstGeom>
          <a:noFill/>
        </p:spPr>
        <p:txBody>
          <a:bodyPr wrap="square" anchor="t">
            <a:spAutoFit/>
          </a:bodyPr>
          <a:lstStyle/>
          <a:p>
            <a:pPr algn="l">
              <a:lnSpc>
                <a:spcPct val="100000"/>
              </a:lnSpc>
            </a:pPr>
            <a:r>
              <a:rPr sz="1000" b="0">
                <a:solidFill>
                  <a:srgbClr val="5A6474"/>
                </a:solidFill>
                <a:latin typeface="Courier New"/>
              </a:rPr>
              <a:t>Good Code, Good Vibes · TECHIE 1121 · Cornell Tech · Summer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extBox 1"/>
          <p:cNvSpPr txBox="1"/>
          <p:nvPr/>
        </p:nvSpPr>
        <p:spPr>
          <a:xfrm>
            <a:off x="640080" y="502920"/>
            <a:ext cx="10058400" cy="365760"/>
          </a:xfrm>
          <a:prstGeom prst="rect">
            <a:avLst/>
          </a:prstGeom>
          <a:noFill/>
        </p:spPr>
        <p:txBody>
          <a:bodyPr wrap="square" anchor="t">
            <a:spAutoFit/>
          </a:bodyPr>
          <a:lstStyle/>
          <a:p>
            <a:pPr algn="l">
              <a:lnSpc>
                <a:spcPct val="100000"/>
              </a:lnSpc>
            </a:pPr>
            <a:r>
              <a:rPr sz="1300" b="1">
                <a:solidFill>
                  <a:srgbClr val="00FF41"/>
                </a:solidFill>
                <a:latin typeface="Courier New"/>
              </a:rPr>
              <a:t>THE ETHICS</a:t>
            </a:r>
          </a:p>
        </p:txBody>
      </p:sp>
      <p:sp>
        <p:nvSpPr>
          <p:cNvPr id="3" name="TextBox 2"/>
          <p:cNvSpPr txBox="1"/>
          <p:nvPr/>
        </p:nvSpPr>
        <p:spPr>
          <a:xfrm>
            <a:off x="1097280" y="548640"/>
            <a:ext cx="2743200" cy="1828800"/>
          </a:xfrm>
          <a:prstGeom prst="rect">
            <a:avLst/>
          </a:prstGeom>
          <a:noFill/>
        </p:spPr>
        <p:txBody>
          <a:bodyPr wrap="square" anchor="t">
            <a:spAutoFit/>
          </a:bodyPr>
          <a:lstStyle/>
          <a:p>
            <a:pPr algn="l">
              <a:lnSpc>
                <a:spcPct val="100000"/>
              </a:lnSpc>
            </a:pPr>
            <a:r>
              <a:rPr sz="12000" b="1">
                <a:solidFill>
                  <a:srgbClr val="00FF41"/>
                </a:solidFill>
                <a:latin typeface="Arial"/>
              </a:rPr>
              <a:t>?</a:t>
            </a:r>
          </a:p>
        </p:txBody>
      </p:sp>
      <p:sp>
        <p:nvSpPr>
          <p:cNvPr id="4" name="TextBox 3"/>
          <p:cNvSpPr txBox="1"/>
          <p:nvPr/>
        </p:nvSpPr>
        <p:spPr>
          <a:xfrm>
            <a:off x="1097280" y="2743200"/>
            <a:ext cx="10058400" cy="3108960"/>
          </a:xfrm>
          <a:prstGeom prst="rect">
            <a:avLst/>
          </a:prstGeom>
          <a:noFill/>
        </p:spPr>
        <p:txBody>
          <a:bodyPr wrap="square" anchor="t">
            <a:spAutoFit/>
          </a:bodyPr>
          <a:lstStyle/>
          <a:p>
            <a:pPr algn="l">
              <a:lnSpc>
                <a:spcPct val="112000"/>
              </a:lnSpc>
            </a:pPr>
            <a:r>
              <a:rPr sz="3000" b="1">
                <a:solidFill>
                  <a:srgbClr val="F5F7FA"/>
                </a:solidFill>
                <a:latin typeface="Arial"/>
              </a:rPr>
              <a:t>Defense vs. deception — where’s the line?</a:t>
            </a:r>
          </a:p>
          <a:p>
            <a:pPr algn="l">
              <a:lnSpc>
                <a:spcPct val="112000"/>
              </a:lnSpc>
            </a:pPr>
            <a:r>
              <a:rPr sz="3000" b="1">
                <a:solidFill>
                  <a:srgbClr val="F5F7FA"/>
                </a:solidFill>
                <a:latin typeface="Arial"/>
              </a:rPr>
              <a:t>Who could your technique harm, as well as protect?</a:t>
            </a:r>
          </a:p>
        </p:txBody>
      </p:sp>
      <p:sp>
        <p:nvSpPr>
          <p:cNvPr id="5" name="TextBox 4"/>
          <p:cNvSpPr txBox="1"/>
          <p:nvPr/>
        </p:nvSpPr>
        <p:spPr>
          <a:xfrm>
            <a:off x="640080" y="6355080"/>
            <a:ext cx="10972800" cy="365760"/>
          </a:xfrm>
          <a:prstGeom prst="rect">
            <a:avLst/>
          </a:prstGeom>
          <a:noFill/>
        </p:spPr>
        <p:txBody>
          <a:bodyPr wrap="square" anchor="t">
            <a:spAutoFit/>
          </a:bodyPr>
          <a:lstStyle/>
          <a:p>
            <a:pPr algn="l">
              <a:lnSpc>
                <a:spcPct val="100000"/>
              </a:lnSpc>
            </a:pPr>
            <a:r>
              <a:rPr sz="1000" b="0">
                <a:solidFill>
                  <a:srgbClr val="5A6474"/>
                </a:solidFill>
                <a:latin typeface="Courier New"/>
              </a:rPr>
              <a:t>Good Code, Good Vibes · TECHIE 1121 · Cornell Tech · Summer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extBox 1"/>
          <p:cNvSpPr txBox="1"/>
          <p:nvPr/>
        </p:nvSpPr>
        <p:spPr>
          <a:xfrm>
            <a:off x="640080" y="502920"/>
            <a:ext cx="10058400" cy="365760"/>
          </a:xfrm>
          <a:prstGeom prst="rect">
            <a:avLst/>
          </a:prstGeom>
          <a:noFill/>
        </p:spPr>
        <p:txBody>
          <a:bodyPr wrap="square" anchor="t">
            <a:spAutoFit/>
          </a:bodyPr>
          <a:lstStyle/>
          <a:p>
            <a:pPr algn="l">
              <a:lnSpc>
                <a:spcPct val="100000"/>
              </a:lnSpc>
            </a:pPr>
            <a:r>
              <a:rPr sz="1300" b="1">
                <a:solidFill>
                  <a:srgbClr val="00FF41"/>
                </a:solidFill>
                <a:latin typeface="Courier New"/>
              </a:rPr>
              <a:t>SOURCES</a:t>
            </a:r>
          </a:p>
        </p:txBody>
      </p:sp>
      <p:sp>
        <p:nvSpPr>
          <p:cNvPr id="3" name="Rectangle 2"/>
          <p:cNvSpPr/>
          <p:nvPr/>
        </p:nvSpPr>
        <p:spPr>
          <a:xfrm>
            <a:off x="640080" y="932688"/>
            <a:ext cx="822960" cy="73152"/>
          </a:xfrm>
          <a:prstGeom prst="rect">
            <a:avLst/>
          </a:prstGeom>
          <a:solidFill>
            <a:srgbClr val="00FF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72800" cy="1097280"/>
          </a:xfrm>
          <a:prstGeom prst="rect">
            <a:avLst/>
          </a:prstGeom>
          <a:noFill/>
        </p:spPr>
        <p:txBody>
          <a:bodyPr wrap="square" anchor="t">
            <a:spAutoFit/>
          </a:bodyPr>
          <a:lstStyle/>
          <a:p>
            <a:pPr algn="l">
              <a:lnSpc>
                <a:spcPct val="100000"/>
              </a:lnSpc>
            </a:pPr>
            <a:r>
              <a:rPr sz="3400" b="1">
                <a:solidFill>
                  <a:srgbClr val="F5F7FA"/>
                </a:solidFill>
                <a:latin typeface="Arial"/>
              </a:rPr>
              <a:t>Where the map comes from</a:t>
            </a:r>
          </a:p>
        </p:txBody>
      </p:sp>
      <p:sp>
        <p:nvSpPr>
          <p:cNvPr id="5" name="TextBox 4"/>
          <p:cNvSpPr txBox="1"/>
          <p:nvPr/>
        </p:nvSpPr>
        <p:spPr>
          <a:xfrm>
            <a:off x="658368" y="2286000"/>
            <a:ext cx="10881360" cy="3657600"/>
          </a:xfrm>
          <a:prstGeom prst="rect">
            <a:avLst/>
          </a:prstGeom>
          <a:noFill/>
        </p:spPr>
        <p:txBody>
          <a:bodyPr wrap="square" anchor="t">
            <a:spAutoFit/>
          </a:bodyPr>
          <a:lstStyle/>
          <a:p>
            <a:pPr algn="l">
              <a:lnSpc>
                <a:spcPct val="112000"/>
              </a:lnSpc>
            </a:pPr>
            <a:r>
              <a:rPr sz="2000" b="1">
                <a:solidFill>
                  <a:srgbClr val="00FF41"/>
                </a:solidFill>
                <a:latin typeface="Arial"/>
              </a:rPr>
              <a:t>•  </a:t>
            </a:r>
            <a:r>
              <a:rPr sz="2000" b="0">
                <a:solidFill>
                  <a:srgbClr val="F5F7FA"/>
                </a:solidFill>
                <a:latin typeface="Arial"/>
              </a:rPr>
              <a:t>Weidinger et al. 2022 — Taxonomy of Risks posed by Language Models (FAccT).</a:t>
            </a:r>
          </a:p>
          <a:p>
            <a:pPr algn="l">
              <a:lnSpc>
                <a:spcPct val="112000"/>
              </a:lnSpc>
            </a:pPr>
            <a:r>
              <a:rPr sz="2000" b="1">
                <a:solidFill>
                  <a:srgbClr val="00FF41"/>
                </a:solidFill>
                <a:latin typeface="Arial"/>
              </a:rPr>
              <a:t>•  </a:t>
            </a:r>
            <a:r>
              <a:rPr sz="2000" b="0">
                <a:solidFill>
                  <a:srgbClr val="F5F7FA"/>
                </a:solidFill>
                <a:latin typeface="Arial"/>
              </a:rPr>
              <a:t>Shelby et al. 2023 — Sociotechnical Harms of Algorithmic Systems (AIES).</a:t>
            </a:r>
          </a:p>
          <a:p>
            <a:pPr algn="l">
              <a:lnSpc>
                <a:spcPct val="112000"/>
              </a:lnSpc>
            </a:pPr>
            <a:r>
              <a:rPr sz="2000" b="1">
                <a:solidFill>
                  <a:srgbClr val="00FF41"/>
                </a:solidFill>
                <a:latin typeface="Arial"/>
              </a:rPr>
              <a:t>•  </a:t>
            </a:r>
            <a:r>
              <a:rPr sz="2000" b="0">
                <a:solidFill>
                  <a:srgbClr val="F5F7FA"/>
                </a:solidFill>
                <a:latin typeface="Arial"/>
              </a:rPr>
              <a:t>MIT AI Risk Repository (2024) · NIST AI Risk Management Framework (2023) · EU AI Act (2024).</a:t>
            </a:r>
          </a:p>
          <a:p>
            <a:pPr algn="l">
              <a:lnSpc>
                <a:spcPct val="112000"/>
              </a:lnSpc>
            </a:pPr>
            <a:r>
              <a:rPr sz="2000" b="1">
                <a:solidFill>
                  <a:srgbClr val="00FF41"/>
                </a:solidFill>
                <a:latin typeface="Arial"/>
              </a:rPr>
              <a:t>•  </a:t>
            </a:r>
            <a:r>
              <a:rPr sz="2000" b="0">
                <a:solidFill>
                  <a:srgbClr val="F5F7FA"/>
                </a:solidFill>
                <a:latin typeface="Arial"/>
              </a:rPr>
              <a:t>Incidents: NYT, CNN, NBC, NPR, TIME, CBS, Al Jazeera, Authors Guild; Li et al. 2023 (water).</a:t>
            </a:r>
          </a:p>
          <a:p>
            <a:pPr algn="l">
              <a:lnSpc>
                <a:spcPct val="112000"/>
              </a:lnSpc>
            </a:pPr>
            <a:r>
              <a:rPr sz="2000" b="1">
                <a:solidFill>
                  <a:srgbClr val="00FF41"/>
                </a:solidFill>
                <a:latin typeface="Arial"/>
              </a:rPr>
              <a:t>•  </a:t>
            </a:r>
            <a:r>
              <a:rPr sz="2000" b="0">
                <a:solidFill>
                  <a:srgbClr val="F5F7FA"/>
                </a:solidFill>
                <a:latin typeface="Arial"/>
              </a:rPr>
              <a:t>Defenses: Brunton &amp; Nissenbaum, Obfuscation · Franchi, Sandhaus et al. 2025 (DSI, FAccT).</a:t>
            </a:r>
          </a:p>
        </p:txBody>
      </p:sp>
      <p:sp>
        <p:nvSpPr>
          <p:cNvPr id="6" name="TextBox 5"/>
          <p:cNvSpPr txBox="1"/>
          <p:nvPr/>
        </p:nvSpPr>
        <p:spPr>
          <a:xfrm>
            <a:off x="640080" y="6355080"/>
            <a:ext cx="10972800" cy="365760"/>
          </a:xfrm>
          <a:prstGeom prst="rect">
            <a:avLst/>
          </a:prstGeom>
          <a:noFill/>
        </p:spPr>
        <p:txBody>
          <a:bodyPr wrap="square" anchor="t">
            <a:spAutoFit/>
          </a:bodyPr>
          <a:lstStyle/>
          <a:p>
            <a:pPr algn="l">
              <a:lnSpc>
                <a:spcPct val="100000"/>
              </a:lnSpc>
            </a:pPr>
            <a:r>
              <a:rPr sz="1000" b="0">
                <a:solidFill>
                  <a:srgbClr val="5A6474"/>
                </a:solidFill>
                <a:latin typeface="Courier New"/>
              </a:rPr>
              <a:t>Good Code, Good Vibes · TECHIE 1121 · Cornell Tech · Summer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