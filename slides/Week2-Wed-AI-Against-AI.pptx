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3-hour class. The whole deck is a split: RED = the problem (how AI harms), GREEN = the defense (AI against AI). Say that up front so the colors read as good/bad.</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 and visceral on purpose — pull from their own life, not the abstract. No wrong answers. We return to these ideas right before the build; the fightback becomes a candidate Part B project.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Convergent across the field: Weidinger et al. 2022 (FAccT), Shelby et al. 2023 (AIES), MIT AI Risk Repository, NIST AI RMF, EU AI Act all carve up roughly these categories. This is the general OVERVIEW; we go deep on the ones we can defend. Sources slide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Grounding slide: harms aren't one bug — they enter at data, training, AND deployment. This also previews WHERE defenses can intervene (poison the data, audit the model, detect the output).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Cited claims (source + date on each card), all verified. Sources: PBS/AP + NBC/CBS (Swift); NPR (NH robocall, FCC $6M); CNN Business (Arup, May 2024).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CBS/CNBC (Character.AI settlement, 2026); Al Jazeera (Dutch toeslagenaffaire, 2021); TechCrunch/Authors Guild (Bartz v. Anthropic ~$1.5B, 2025).</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NYT (Kashmir Hill, Clearview 2020); ACLU (Williams, Woodruff, Parks, Reid wrongful arrests). Image is a facial-recognition demo, CC BY 2.0 — illustrative, not the actual cases.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Sources: Li et al. arXiv:2304.03271 + UC Riverside (water — per-session framing, not 'a bottle per prompt'); NPR (emissions); TIME (Sama/Kenya, Jan 2023, &lt;$2/hr).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Forcing a single choice + pairing with someone who disagreed creates real engagement (a mini-debate, not a vague 'thoughts?'). The value they defend here becomes the lens for their Part 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Pivot from red to green. Not every harm has a clean technical fix — but some do, and that's where we go deep.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good/bad mirror: same 7 values, now the DEFENSE column. We go deep on three: obfuscation (privacy), the China labor case (labor), and the DSI paper (privacy of groups).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e.g. 'Co-founded a kombucha startup in 2019.' Verify with curl. Full walkthrough in the repo example (activity1_obfuscation-example).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PLACEHOLDER for Hauke's own slide on prompt injection as an obfuscation defense — replace this frame with your content after importing to Google Slides.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OfficeChai, 'China's workers are weaponizing AI…'. A vivid AI-against-AI case for LABOR autonomy: refusing to feed the model that would replace you. 60% of Chinese employees already use AI weekly.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Hauke's FAccT 2025 paper (paired reading). Uses inference (AI) to expose that individual anonymization fails at the GROUP level — a contextual-integrity argument. Refine framing to taste.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Glaze/Nightshade from the SAND Lab (UChicago); PhotoGuard from MIT. Defense for creative ownership + anti-deepfake. All student-buildable as conceptual demos. Ties back to the NYT/Getty/Anthropic harms.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C2PA content credentials (Adobe/BBC/etc.). The framing shift: 'proof of human' beats 'detect the machine' as detectors get worse. Detectors are probabilistic — teach students to state confidence, not certainty.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Intellectual honesty: cloaks get broken, detectors get evaded, poisoning gets filtered. And the DSI paper is the flip — inference used defensively (to prove anonymization fails) is the SAME tool an attacker uses. Defense is a posture, not a finish line.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Callback to the warm-up they held onto. This is the decision point — everyone leaves this slide with one buildable idea. Take a few out loud to seed the room. Hand-off into the activity.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A edits week1/7_13. Guided; the example project has the exact snippet. Keep it short so most of the session goes to Part B.</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B is the main event of the afternoon. Rotate who drives the AI. Template: vibe-report-template.md. Remind them: name who your tool could harm as well as protect.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Reading: Obfuscation, Ch. 1 (Brunton &amp; Nissenbaum). Every defense points a weapon somewhere — name where. The DSI paper is the cautionary flip: the same inference that defends can also expose.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incidents verified against these reputable sources. Caveats to state if asked: AI 'water per prompt' is per-session not per-prompt; 'X% of the web is AI' figures are single-vendor estimates — cite NewsGuard's tracked site counts instead.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286000"/>
            <a:ext cx="10515600" cy="457200"/>
          </a:xfrm>
          <a:prstGeom prst="rect">
            <a:avLst/>
          </a:prstGeom>
          <a:noFill/>
        </p:spPr>
        <p:txBody>
          <a:bodyPr wrap="square" anchor="t">
            <a:spAutoFit/>
          </a:bodyPr>
          <a:lstStyle/>
          <a:p>
            <a:pPr algn="l">
              <a:lnSpc>
                <a:spcPct val="100000"/>
              </a:lnSpc>
            </a:pPr>
            <a:r>
              <a:rPr sz="1600" b="1">
                <a:solidFill>
                  <a:srgbClr val="00FF41"/>
                </a:solidFill>
                <a:latin typeface="Courier New"/>
              </a:rPr>
              <a:t>WEEK 2 · WEDNESDAY</a:t>
            </a:r>
          </a:p>
        </p:txBody>
      </p:sp>
      <p:sp>
        <p:nvSpPr>
          <p:cNvPr id="4" name="TextBox 3"/>
          <p:cNvSpPr txBox="1"/>
          <p:nvPr/>
        </p:nvSpPr>
        <p:spPr>
          <a:xfrm>
            <a:off x="804672" y="2788920"/>
            <a:ext cx="10515600" cy="1463040"/>
          </a:xfrm>
          <a:prstGeom prst="rect">
            <a:avLst/>
          </a:prstGeom>
          <a:noFill/>
        </p:spPr>
        <p:txBody>
          <a:bodyPr wrap="square" anchor="t">
            <a:spAutoFit/>
          </a:bodyPr>
          <a:lstStyle/>
          <a:p>
            <a:pPr algn="l">
              <a:lnSpc>
                <a:spcPct val="100000"/>
              </a:lnSpc>
            </a:pPr>
            <a:r>
              <a:rPr sz="4600" b="1">
                <a:solidFill>
                  <a:srgbClr val="F5F7FA"/>
                </a:solidFill>
                <a:latin typeface="Arial"/>
              </a:rPr>
              <a:t>AI Against AI</a:t>
            </a:r>
          </a:p>
        </p:txBody>
      </p:sp>
      <p:sp>
        <p:nvSpPr>
          <p:cNvPr id="5" name="TextBox 4"/>
          <p:cNvSpPr txBox="1"/>
          <p:nvPr/>
        </p:nvSpPr>
        <p:spPr>
          <a:xfrm>
            <a:off x="841248" y="4160520"/>
            <a:ext cx="10058400" cy="457200"/>
          </a:xfrm>
          <a:prstGeom prst="rect">
            <a:avLst/>
          </a:prstGeom>
          <a:noFill/>
        </p:spPr>
        <p:txBody>
          <a:bodyPr wrap="square" anchor="t">
            <a:spAutoFit/>
          </a:bodyPr>
          <a:lstStyle/>
          <a:p>
            <a:pPr algn="l">
              <a:lnSpc>
                <a:spcPct val="100000"/>
              </a:lnSpc>
            </a:pPr>
            <a:r>
              <a:rPr sz="1500" b="0">
                <a:solidFill>
                  <a:srgbClr val="8A94A6"/>
                </a:solidFill>
                <a:latin typeface="Arial"/>
              </a:rPr>
              <a:t>Ethics — Doing the right thing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TODAY</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How is AI unethical —</a:t>
            </a:r>
          </a:p>
          <a:p>
            <a:pPr algn="l">
              <a:lnSpc>
                <a:spcPct val="112000"/>
              </a:lnSpc>
            </a:pPr>
            <a:r>
              <a:rPr sz="3000" b="1">
                <a:solidFill>
                  <a:srgbClr val="F5F7FA"/>
                </a:solidFill>
                <a:latin typeface="Arial"/>
              </a:rPr>
              <a:t>and can we fight back with it?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WARM-UP · 5 MIN</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25880"/>
            <a:ext cx="10972800" cy="1828800"/>
          </a:xfrm>
          <a:prstGeom prst="rect">
            <a:avLst/>
          </a:prstGeom>
          <a:noFill/>
        </p:spPr>
        <p:txBody>
          <a:bodyPr wrap="square" anchor="t">
            <a:spAutoFit/>
          </a:bodyPr>
          <a:lstStyle/>
          <a:p>
            <a:pPr algn="l">
              <a:lnSpc>
                <a:spcPct val="105000"/>
              </a:lnSpc>
            </a:pPr>
            <a:r>
              <a:rPr sz="3800" b="1">
                <a:solidFill>
                  <a:srgbClr val="F5F7FA"/>
                </a:solidFill>
                <a:latin typeface="Arial"/>
              </a:rPr>
              <a:t>When did AI last unsettle you?</a:t>
            </a:r>
          </a:p>
        </p:txBody>
      </p:sp>
      <p:sp>
        <p:nvSpPr>
          <p:cNvPr id="5" name="TextBox 4"/>
          <p:cNvSpPr txBox="1"/>
          <p:nvPr/>
        </p:nvSpPr>
        <p:spPr>
          <a:xfrm>
            <a:off x="658368" y="3611880"/>
            <a:ext cx="10972800" cy="1737360"/>
          </a:xfrm>
          <a:prstGeom prst="rect">
            <a:avLst/>
          </a:prstGeom>
          <a:noFill/>
        </p:spPr>
        <p:txBody>
          <a:bodyPr wrap="square" anchor="t">
            <a:spAutoFit/>
          </a:bodyPr>
          <a:lstStyle/>
          <a:p>
            <a:pPr algn="l">
              <a:lnSpc>
                <a:spcPct val="135000"/>
              </a:lnSpc>
            </a:pPr>
            <a:r>
              <a:rPr sz="1900" b="1">
                <a:solidFill>
                  <a:srgbClr val="FF4D4D"/>
                </a:solidFill>
                <a:latin typeface="Arial"/>
              </a:rPr>
              <a:t>→  </a:t>
            </a:r>
            <a:r>
              <a:rPr sz="1900" b="0">
                <a:solidFill>
                  <a:srgbClr val="8A94A6"/>
                </a:solidFill>
                <a:latin typeface="Arial"/>
              </a:rPr>
              <a:t>Creeped you out, cost someone a job, got a fact wrong that mattered, or felt unfair?</a:t>
            </a:r>
          </a:p>
          <a:p>
            <a:pPr algn="l">
              <a:lnSpc>
                <a:spcPct val="135000"/>
              </a:lnSpc>
            </a:pPr>
            <a:r>
              <a:rPr sz="1900" b="1">
                <a:solidFill>
                  <a:srgbClr val="FF4D4D"/>
                </a:solidFill>
                <a:latin typeface="Arial"/>
              </a:rPr>
              <a:t>→  </a:t>
            </a:r>
            <a:r>
              <a:rPr sz="1900" b="0">
                <a:solidFill>
                  <a:srgbClr val="8A94A6"/>
                </a:solidFill>
                <a:latin typeface="Arial"/>
              </a:rPr>
              <a:t>Jot ONE harm — and one way you’d fight back against it.</a:t>
            </a:r>
          </a:p>
        </p:txBody>
      </p:sp>
      <p:sp>
        <p:nvSpPr>
          <p:cNvPr id="6" name="Rounded Rectangle 5"/>
          <p:cNvSpPr/>
          <p:nvPr/>
        </p:nvSpPr>
        <p:spPr>
          <a:xfrm>
            <a:off x="640080" y="5532120"/>
            <a:ext cx="10911535" cy="658368"/>
          </a:xfrm>
          <a:prstGeom prst="roundRect">
            <a:avLst/>
          </a:prstGeom>
          <a:solidFill>
            <a:srgbClr val="151B26"/>
          </a:solidFill>
          <a:ln w="190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532120"/>
            <a:ext cx="10362895" cy="658368"/>
          </a:xfrm>
          <a:prstGeom prst="rect">
            <a:avLst/>
          </a:prstGeom>
          <a:noFill/>
        </p:spPr>
        <p:txBody>
          <a:bodyPr wrap="square" anchor="ctr">
            <a:spAutoFit/>
          </a:bodyPr>
          <a:lstStyle/>
          <a:p>
            <a:pPr algn="l">
              <a:lnSpc>
                <a:spcPct val="100000"/>
              </a:lnSpc>
            </a:pPr>
            <a:r>
              <a:rPr sz="1600" b="1">
                <a:solidFill>
                  <a:srgbClr val="FF4D4D"/>
                </a:solidFill>
                <a:latin typeface="Arial"/>
              </a:rPr>
              <a:t>▶  </a:t>
            </a:r>
            <a:r>
              <a:rPr sz="1600" b="1">
                <a:solidFill>
                  <a:srgbClr val="F5F7FA"/>
                </a:solidFill>
                <a:latin typeface="Arial"/>
              </a:rPr>
              <a:t>2 min solo, on paper. Keep your fightback idea — you may BUILD it as your Part B this afternoon.</a:t>
            </a:r>
          </a:p>
        </p:txBody>
      </p:sp>
      <p:sp>
        <p:nvSpPr>
          <p:cNvPr id="8" name="TextBox 7"/>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548640"/>
          </a:xfrm>
          <a:prstGeom prst="rect">
            <a:avLst/>
          </a:prstGeom>
          <a:noFill/>
        </p:spPr>
        <p:txBody>
          <a:bodyPr wrap="square" anchor="t">
            <a:spAutoFit/>
          </a:bodyPr>
          <a:lstStyle/>
          <a:p>
            <a:pPr algn="l">
              <a:lnSpc>
                <a:spcPct val="100000"/>
              </a:lnSpc>
            </a:pPr>
            <a:r>
              <a:rPr sz="1800" b="1">
                <a:solidFill>
                  <a:srgbClr val="FF4D4D"/>
                </a:solidFill>
                <a:latin typeface="Courier New"/>
              </a:rPr>
              <a:t>⚠  ACT 1 · THE PROBLEM</a:t>
            </a:r>
          </a:p>
        </p:txBody>
      </p:sp>
      <p:sp>
        <p:nvSpPr>
          <p:cNvPr id="4" name="TextBox 3"/>
          <p:cNvSpPr txBox="1"/>
          <p:nvPr/>
        </p:nvSpPr>
        <p:spPr>
          <a:xfrm>
            <a:off x="804672" y="2743200"/>
            <a:ext cx="10515600" cy="1554480"/>
          </a:xfrm>
          <a:prstGeom prst="rect">
            <a:avLst/>
          </a:prstGeom>
          <a:noFill/>
        </p:spPr>
        <p:txBody>
          <a:bodyPr wrap="square" anchor="t">
            <a:spAutoFit/>
          </a:bodyPr>
          <a:lstStyle/>
          <a:p>
            <a:pPr algn="l">
              <a:lnSpc>
                <a:spcPct val="100000"/>
              </a:lnSpc>
            </a:pPr>
            <a:r>
              <a:rPr sz="4800" b="1">
                <a:solidFill>
                  <a:srgbClr val="F5F7FA"/>
                </a:solidFill>
                <a:latin typeface="Arial"/>
              </a:rPr>
              <a:t>How AI is unethical</a:t>
            </a:r>
          </a:p>
        </p:txBody>
      </p:sp>
      <p:sp>
        <p:nvSpPr>
          <p:cNvPr id="5" name="TextBox 4"/>
          <p:cNvSpPr txBox="1"/>
          <p:nvPr/>
        </p:nvSpPr>
        <p:spPr>
          <a:xfrm>
            <a:off x="841248" y="4297680"/>
            <a:ext cx="10058400" cy="640080"/>
          </a:xfrm>
          <a:prstGeom prst="rect">
            <a:avLst/>
          </a:prstGeom>
          <a:noFill/>
        </p:spPr>
        <p:txBody>
          <a:bodyPr wrap="square" anchor="t">
            <a:spAutoFit/>
          </a:bodyPr>
          <a:lstStyle/>
          <a:p>
            <a:pPr algn="l">
              <a:lnSpc>
                <a:spcPct val="100000"/>
              </a:lnSpc>
            </a:pPr>
            <a:r>
              <a:rPr sz="1900" b="0">
                <a:solidFill>
                  <a:srgbClr val="8A94A6"/>
                </a:solidFill>
                <a:latin typeface="Arial"/>
              </a:rPr>
              <a:t>An overview of the seven values AI puts at risk — then the real cases.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OVERVIEW · SEVEN VALUES AT RISK</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What AI puts at risk</a:t>
            </a:r>
          </a:p>
        </p:txBody>
      </p:sp>
      <p:sp>
        <p:nvSpPr>
          <p:cNvPr id="5" name="Rounded Rectangle 4"/>
          <p:cNvSpPr/>
          <p:nvPr/>
        </p:nvSpPr>
        <p:spPr>
          <a:xfrm>
            <a:off x="640080"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Fairness &amp; Justice</a:t>
            </a:r>
          </a:p>
        </p:txBody>
      </p:sp>
      <p:sp>
        <p:nvSpPr>
          <p:cNvPr id="8" name="TextBox 7"/>
          <p:cNvSpPr txBox="1"/>
          <p:nvPr/>
        </p:nvSpPr>
        <p:spPr>
          <a:xfrm>
            <a:off x="896112"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Bias encoded and amplified — unequal calls in hiring, lending, policing, and healthcare.</a:t>
            </a:r>
          </a:p>
        </p:txBody>
      </p:sp>
      <p:sp>
        <p:nvSpPr>
          <p:cNvPr id="9" name="Rounded Rectangle 8"/>
          <p:cNvSpPr/>
          <p:nvPr/>
        </p:nvSpPr>
        <p:spPr>
          <a:xfrm>
            <a:off x="3436543"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36543"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2575"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Privacy &amp; Surveillance</a:t>
            </a:r>
          </a:p>
        </p:txBody>
      </p:sp>
      <p:sp>
        <p:nvSpPr>
          <p:cNvPr id="12" name="TextBox 11"/>
          <p:cNvSpPr txBox="1"/>
          <p:nvPr/>
        </p:nvSpPr>
        <p:spPr>
          <a:xfrm>
            <a:off x="3692575"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Personal data scraped and memorized; biometric tracking and mass surveillance.</a:t>
            </a:r>
          </a:p>
        </p:txBody>
      </p:sp>
      <p:sp>
        <p:nvSpPr>
          <p:cNvPr id="13" name="Rounded Rectangle 12"/>
          <p:cNvSpPr/>
          <p:nvPr/>
        </p:nvSpPr>
        <p:spPr>
          <a:xfrm>
            <a:off x="6233006"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6"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8"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Truth &amp; Democracy</a:t>
            </a:r>
          </a:p>
        </p:txBody>
      </p:sp>
      <p:sp>
        <p:nvSpPr>
          <p:cNvPr id="16" name="TextBox 15"/>
          <p:cNvSpPr txBox="1"/>
          <p:nvPr/>
        </p:nvSpPr>
        <p:spPr>
          <a:xfrm>
            <a:off x="6489038"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Fluent falsehoods and cheap propaganda erode shared facts and fair elections.</a:t>
            </a:r>
          </a:p>
        </p:txBody>
      </p:sp>
      <p:sp>
        <p:nvSpPr>
          <p:cNvPr id="17" name="Rounded Rectangle 16"/>
          <p:cNvSpPr/>
          <p:nvPr/>
        </p:nvSpPr>
        <p:spPr>
          <a:xfrm>
            <a:off x="9029469"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29469" y="201168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5501"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Autonomy &amp; Dignity</a:t>
            </a:r>
          </a:p>
        </p:txBody>
      </p:sp>
      <p:sp>
        <p:nvSpPr>
          <p:cNvPr id="20" name="TextBox 19"/>
          <p:cNvSpPr txBox="1"/>
          <p:nvPr/>
        </p:nvSpPr>
        <p:spPr>
          <a:xfrm>
            <a:off x="9285501"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Manipulative, addictive design and social scoring strip human agency.</a:t>
            </a:r>
          </a:p>
        </p:txBody>
      </p:sp>
      <p:sp>
        <p:nvSpPr>
          <p:cNvPr id="21" name="Rounded Rectangle 20"/>
          <p:cNvSpPr/>
          <p:nvPr/>
        </p:nvSpPr>
        <p:spPr>
          <a:xfrm>
            <a:off x="640080"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25196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Safety</a:t>
            </a:r>
          </a:p>
        </p:txBody>
      </p:sp>
      <p:sp>
        <p:nvSpPr>
          <p:cNvPr id="24" name="TextBox 23"/>
          <p:cNvSpPr txBox="1"/>
          <p:nvPr/>
        </p:nvSpPr>
        <p:spPr>
          <a:xfrm>
            <a:off x="896112"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Malicious use, deepfakes, voice-clone fraud, and companion-bot harm.</a:t>
            </a:r>
          </a:p>
        </p:txBody>
      </p:sp>
      <p:sp>
        <p:nvSpPr>
          <p:cNvPr id="25" name="Rounded Rectangle 24"/>
          <p:cNvSpPr/>
          <p:nvPr/>
        </p:nvSpPr>
        <p:spPr>
          <a:xfrm>
            <a:off x="3436543"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36543" y="425196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92575"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Labor &amp; Environment</a:t>
            </a:r>
          </a:p>
        </p:txBody>
      </p:sp>
      <p:sp>
        <p:nvSpPr>
          <p:cNvPr id="28" name="TextBox 27"/>
          <p:cNvSpPr txBox="1"/>
          <p:nvPr/>
        </p:nvSpPr>
        <p:spPr>
          <a:xfrm>
            <a:off x="3692575"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Jobs displaced onto low-paid ‘ghost work’; energy and freshwater burned.</a:t>
            </a:r>
          </a:p>
        </p:txBody>
      </p:sp>
      <p:sp>
        <p:nvSpPr>
          <p:cNvPr id="29" name="Rounded Rectangle 28"/>
          <p:cNvSpPr/>
          <p:nvPr/>
        </p:nvSpPr>
        <p:spPr>
          <a:xfrm>
            <a:off x="6233006"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3006" y="4251960"/>
            <a:ext cx="82296" cy="196596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9038"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Accountability &amp; Authenticity</a:t>
            </a:r>
          </a:p>
        </p:txBody>
      </p:sp>
      <p:sp>
        <p:nvSpPr>
          <p:cNvPr id="32" name="TextBox 31"/>
          <p:cNvSpPr txBox="1"/>
          <p:nvPr/>
        </p:nvSpPr>
        <p:spPr>
          <a:xfrm>
            <a:off x="6489038"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Opaque decisions with no redress; synthetic media and style theft.</a:t>
            </a:r>
          </a:p>
        </p:txBody>
      </p:sp>
      <p:sp>
        <p:nvSpPr>
          <p:cNvPr id="33" name="TextBox 32"/>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HOW IT HAPPENS</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200" b="1">
                <a:solidFill>
                  <a:srgbClr val="F5F7FA"/>
                </a:solidFill>
                <a:latin typeface="Arial"/>
              </a:rPr>
              <a:t>The harm enters at every stage</a:t>
            </a:r>
          </a:p>
        </p:txBody>
      </p:sp>
      <p:sp>
        <p:nvSpPr>
          <p:cNvPr id="5" name="Rounded Rectangle 4"/>
          <p:cNvSpPr/>
          <p:nvPr/>
        </p:nvSpPr>
        <p:spPr>
          <a:xfrm>
            <a:off x="640080"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1 · DATA</a:t>
            </a:r>
          </a:p>
        </p:txBody>
      </p:sp>
      <p:sp>
        <p:nvSpPr>
          <p:cNvPr id="8" name="TextBox 7"/>
          <p:cNvSpPr txBox="1"/>
          <p:nvPr/>
        </p:nvSpPr>
        <p:spPr>
          <a:xfrm>
            <a:off x="914400"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What it learns from</a:t>
            </a:r>
          </a:p>
        </p:txBody>
      </p:sp>
      <p:sp>
        <p:nvSpPr>
          <p:cNvPr id="9" name="TextBox 8"/>
          <p:cNvSpPr txBox="1"/>
          <p:nvPr/>
        </p:nvSpPr>
        <p:spPr>
          <a:xfrm>
            <a:off x="914400"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Scraped without consent; carries society’s bias, private info, and copyrighted work into the model.</a:t>
            </a:r>
          </a:p>
        </p:txBody>
      </p:sp>
      <p:sp>
        <p:nvSpPr>
          <p:cNvPr id="10" name="Rounded Rectangle 9"/>
          <p:cNvSpPr/>
          <p:nvPr/>
        </p:nvSpPr>
        <p:spPr>
          <a:xfrm>
            <a:off x="4399178"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73498"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2 · TRAINING</a:t>
            </a:r>
          </a:p>
        </p:txBody>
      </p:sp>
      <p:sp>
        <p:nvSpPr>
          <p:cNvPr id="13" name="TextBox 12"/>
          <p:cNvSpPr txBox="1"/>
          <p:nvPr/>
        </p:nvSpPr>
        <p:spPr>
          <a:xfrm>
            <a:off x="4673498"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What gets baked in</a:t>
            </a:r>
          </a:p>
        </p:txBody>
      </p:sp>
      <p:sp>
        <p:nvSpPr>
          <p:cNvPr id="14" name="TextBox 13"/>
          <p:cNvSpPr txBox="1"/>
          <p:nvPr/>
        </p:nvSpPr>
        <p:spPr>
          <a:xfrm>
            <a:off x="4673498"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The model memorizes and amplifies patterns — including the ones we’d never choose on purpose.</a:t>
            </a:r>
          </a:p>
        </p:txBody>
      </p:sp>
      <p:sp>
        <p:nvSpPr>
          <p:cNvPr id="15" name="Rounded Rectangle 14"/>
          <p:cNvSpPr/>
          <p:nvPr/>
        </p:nvSpPr>
        <p:spPr>
          <a:xfrm>
            <a:off x="8158276" y="2468880"/>
            <a:ext cx="3393338" cy="338328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468880"/>
            <a:ext cx="3393338" cy="82296"/>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32596" y="2788920"/>
            <a:ext cx="2844698" cy="457200"/>
          </a:xfrm>
          <a:prstGeom prst="rect">
            <a:avLst/>
          </a:prstGeom>
          <a:noFill/>
        </p:spPr>
        <p:txBody>
          <a:bodyPr wrap="square" anchor="t">
            <a:spAutoFit/>
          </a:bodyPr>
          <a:lstStyle/>
          <a:p>
            <a:pPr algn="l">
              <a:lnSpc>
                <a:spcPct val="100000"/>
              </a:lnSpc>
            </a:pPr>
            <a:r>
              <a:rPr sz="1200" b="1">
                <a:solidFill>
                  <a:srgbClr val="FF4D4D"/>
                </a:solidFill>
                <a:latin typeface="Courier New"/>
              </a:rPr>
              <a:t>3 · DEPLOYMENT</a:t>
            </a:r>
          </a:p>
        </p:txBody>
      </p:sp>
      <p:sp>
        <p:nvSpPr>
          <p:cNvPr id="18" name="TextBox 17"/>
          <p:cNvSpPr txBox="1"/>
          <p:nvPr/>
        </p:nvSpPr>
        <p:spPr>
          <a:xfrm>
            <a:off x="8432596" y="3246120"/>
            <a:ext cx="2844698" cy="822960"/>
          </a:xfrm>
          <a:prstGeom prst="rect">
            <a:avLst/>
          </a:prstGeom>
          <a:noFill/>
        </p:spPr>
        <p:txBody>
          <a:bodyPr wrap="square" anchor="t">
            <a:spAutoFit/>
          </a:bodyPr>
          <a:lstStyle/>
          <a:p>
            <a:pPr algn="l">
              <a:lnSpc>
                <a:spcPct val="100000"/>
              </a:lnSpc>
            </a:pPr>
            <a:r>
              <a:rPr sz="2000" b="1">
                <a:solidFill>
                  <a:srgbClr val="F5F7FA"/>
                </a:solidFill>
                <a:latin typeface="Arial"/>
              </a:rPr>
              <a:t>Where it lands</a:t>
            </a:r>
          </a:p>
        </p:txBody>
      </p:sp>
      <p:sp>
        <p:nvSpPr>
          <p:cNvPr id="19" name="TextBox 18"/>
          <p:cNvSpPr txBox="1"/>
          <p:nvPr/>
        </p:nvSpPr>
        <p:spPr>
          <a:xfrm>
            <a:off x="8432596" y="4114800"/>
            <a:ext cx="2844698" cy="1554480"/>
          </a:xfrm>
          <a:prstGeom prst="rect">
            <a:avLst/>
          </a:prstGeom>
          <a:noFill/>
        </p:spPr>
        <p:txBody>
          <a:bodyPr wrap="square" anchor="t">
            <a:spAutoFit/>
          </a:bodyPr>
          <a:lstStyle/>
          <a:p>
            <a:pPr algn="l">
              <a:lnSpc>
                <a:spcPct val="110000"/>
              </a:lnSpc>
            </a:pPr>
            <a:r>
              <a:rPr sz="1500" b="0">
                <a:solidFill>
                  <a:srgbClr val="8A94A6"/>
                </a:solidFill>
                <a:latin typeface="Arial"/>
              </a:rPr>
              <a:t>Confident output at massive scale, in hiring, courts, feeds, and chats — with no one accountable.</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REAL CASES · IN THE NEWS</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It’s already happening</a:t>
            </a:r>
          </a:p>
        </p:txBody>
      </p:sp>
      <p:sp>
        <p:nvSpPr>
          <p:cNvPr id="5" name="Rounded Rectangle 4"/>
          <p:cNvSpPr/>
          <p:nvPr/>
        </p:nvSpPr>
        <p:spPr>
          <a:xfrm>
            <a:off x="640080"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PBS / AP · JAN 2024</a:t>
            </a:r>
          </a:p>
        </p:txBody>
      </p:sp>
      <p:sp>
        <p:nvSpPr>
          <p:cNvPr id="8" name="TextBox 7"/>
          <p:cNvSpPr txBox="1"/>
          <p:nvPr/>
        </p:nvSpPr>
        <p:spPr>
          <a:xfrm>
            <a:off x="896112"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“X blocks Taylor Swift searches as explicit AI deepfakes circulate — one post seen ~47M times.”</a:t>
            </a:r>
          </a:p>
        </p:txBody>
      </p:sp>
      <p:sp>
        <p:nvSpPr>
          <p:cNvPr id="9" name="TextBox 8"/>
          <p:cNvSpPr txBox="1"/>
          <p:nvPr/>
        </p:nvSpPr>
        <p:spPr>
          <a:xfrm>
            <a:off x="896112"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Dignity</a:t>
            </a:r>
          </a:p>
        </p:txBody>
      </p:sp>
      <p:sp>
        <p:nvSpPr>
          <p:cNvPr id="10" name="Rounded Rectangle 9"/>
          <p:cNvSpPr/>
          <p:nvPr/>
        </p:nvSpPr>
        <p:spPr>
          <a:xfrm>
            <a:off x="4399178"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55210"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NPR · 2024</a:t>
            </a:r>
          </a:p>
        </p:txBody>
      </p:sp>
      <p:sp>
        <p:nvSpPr>
          <p:cNvPr id="13" name="TextBox 12"/>
          <p:cNvSpPr txBox="1"/>
          <p:nvPr/>
        </p:nvSpPr>
        <p:spPr>
          <a:xfrm>
            <a:off x="4655210"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“An AI-cloned ‘Biden’ robocall told N.H. voters to stay home — the FCC issued a $6M fine.”</a:t>
            </a:r>
          </a:p>
        </p:txBody>
      </p:sp>
      <p:sp>
        <p:nvSpPr>
          <p:cNvPr id="14" name="TextBox 13"/>
          <p:cNvSpPr txBox="1"/>
          <p:nvPr/>
        </p:nvSpPr>
        <p:spPr>
          <a:xfrm>
            <a:off x="4655210"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Democracy</a:t>
            </a:r>
          </a:p>
        </p:txBody>
      </p:sp>
      <p:sp>
        <p:nvSpPr>
          <p:cNvPr id="15" name="Rounded Rectangle 14"/>
          <p:cNvSpPr/>
          <p:nvPr/>
        </p:nvSpPr>
        <p:spPr>
          <a:xfrm>
            <a:off x="8158276"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4308"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CNN BUSINESS · MAY 2024</a:t>
            </a:r>
          </a:p>
        </p:txBody>
      </p:sp>
      <p:sp>
        <p:nvSpPr>
          <p:cNvPr id="18" name="TextBox 17"/>
          <p:cNvSpPr txBox="1"/>
          <p:nvPr/>
        </p:nvSpPr>
        <p:spPr>
          <a:xfrm>
            <a:off x="8414308"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“A deepfake ‘CFO’ on a video call cost engineering firm Arup $25M in transfers.”</a:t>
            </a:r>
          </a:p>
        </p:txBody>
      </p:sp>
      <p:sp>
        <p:nvSpPr>
          <p:cNvPr id="19" name="TextBox 18"/>
          <p:cNvSpPr txBox="1"/>
          <p:nvPr/>
        </p:nvSpPr>
        <p:spPr>
          <a:xfrm>
            <a:off x="8414308"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Security</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REAL CASES · IN THE NEWS</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43000"/>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The automated harms</a:t>
            </a:r>
          </a:p>
        </p:txBody>
      </p:sp>
      <p:sp>
        <p:nvSpPr>
          <p:cNvPr id="5" name="Rounded Rectangle 4"/>
          <p:cNvSpPr/>
          <p:nvPr/>
        </p:nvSpPr>
        <p:spPr>
          <a:xfrm>
            <a:off x="640080"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CBS / CNBC · 2026</a:t>
            </a:r>
          </a:p>
        </p:txBody>
      </p:sp>
      <p:sp>
        <p:nvSpPr>
          <p:cNvPr id="8" name="TextBox 7"/>
          <p:cNvSpPr txBox="1"/>
          <p:nvPr/>
        </p:nvSpPr>
        <p:spPr>
          <a:xfrm>
            <a:off x="896112"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“Google and Character.AI settle a suit over a 14-year-old’s suicide after months with a companion bot.”</a:t>
            </a:r>
          </a:p>
        </p:txBody>
      </p:sp>
      <p:sp>
        <p:nvSpPr>
          <p:cNvPr id="9" name="TextBox 8"/>
          <p:cNvSpPr txBox="1"/>
          <p:nvPr/>
        </p:nvSpPr>
        <p:spPr>
          <a:xfrm>
            <a:off x="896112"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Safety</a:t>
            </a:r>
          </a:p>
        </p:txBody>
      </p:sp>
      <p:sp>
        <p:nvSpPr>
          <p:cNvPr id="10" name="Rounded Rectangle 9"/>
          <p:cNvSpPr/>
          <p:nvPr/>
        </p:nvSpPr>
        <p:spPr>
          <a:xfrm>
            <a:off x="4399178"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399178"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55210"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AL JAZEERA · 2021</a:t>
            </a:r>
          </a:p>
        </p:txBody>
      </p:sp>
      <p:sp>
        <p:nvSpPr>
          <p:cNvPr id="13" name="TextBox 12"/>
          <p:cNvSpPr txBox="1"/>
          <p:nvPr/>
        </p:nvSpPr>
        <p:spPr>
          <a:xfrm>
            <a:off x="4655210"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“A Dutch benefits algorithm branded ~26,000 families fraudsters — the government resigned.”</a:t>
            </a:r>
          </a:p>
        </p:txBody>
      </p:sp>
      <p:sp>
        <p:nvSpPr>
          <p:cNvPr id="14" name="TextBox 13"/>
          <p:cNvSpPr txBox="1"/>
          <p:nvPr/>
        </p:nvSpPr>
        <p:spPr>
          <a:xfrm>
            <a:off x="4655210"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Fairness</a:t>
            </a:r>
          </a:p>
        </p:txBody>
      </p:sp>
      <p:sp>
        <p:nvSpPr>
          <p:cNvPr id="15" name="Rounded Rectangle 14"/>
          <p:cNvSpPr/>
          <p:nvPr/>
        </p:nvSpPr>
        <p:spPr>
          <a:xfrm>
            <a:off x="8158276" y="2240280"/>
            <a:ext cx="3393338" cy="365760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158276" y="2240280"/>
            <a:ext cx="3393338" cy="457200"/>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4308" y="2295144"/>
            <a:ext cx="2881274" cy="365760"/>
          </a:xfrm>
          <a:prstGeom prst="rect">
            <a:avLst/>
          </a:prstGeom>
          <a:noFill/>
        </p:spPr>
        <p:txBody>
          <a:bodyPr wrap="square" anchor="ctr">
            <a:spAutoFit/>
          </a:bodyPr>
          <a:lstStyle/>
          <a:p>
            <a:pPr algn="l">
              <a:lnSpc>
                <a:spcPct val="100000"/>
              </a:lnSpc>
            </a:pPr>
            <a:r>
              <a:rPr sz="1100" b="1">
                <a:solidFill>
                  <a:srgbClr val="0B0E14"/>
                </a:solidFill>
                <a:latin typeface="Courier New"/>
              </a:rPr>
              <a:t>TECHCRUNCH · 2025</a:t>
            </a:r>
          </a:p>
        </p:txBody>
      </p:sp>
      <p:sp>
        <p:nvSpPr>
          <p:cNvPr id="18" name="TextBox 17"/>
          <p:cNvSpPr txBox="1"/>
          <p:nvPr/>
        </p:nvSpPr>
        <p:spPr>
          <a:xfrm>
            <a:off x="8414308" y="2926080"/>
            <a:ext cx="2881274" cy="2194560"/>
          </a:xfrm>
          <a:prstGeom prst="rect">
            <a:avLst/>
          </a:prstGeom>
          <a:noFill/>
        </p:spPr>
        <p:txBody>
          <a:bodyPr wrap="square" anchor="t">
            <a:spAutoFit/>
          </a:bodyPr>
          <a:lstStyle/>
          <a:p>
            <a:pPr algn="l">
              <a:lnSpc>
                <a:spcPct val="110000"/>
              </a:lnSpc>
            </a:pPr>
            <a:r>
              <a:rPr sz="1800" b="1">
                <a:solidFill>
                  <a:srgbClr val="F5F7FA"/>
                </a:solidFill>
                <a:latin typeface="Arial"/>
              </a:rPr>
              <a:t>“Anthropic settles with authors for ~$1.5B over training on pirated books — a record.”</a:t>
            </a:r>
          </a:p>
        </p:txBody>
      </p:sp>
      <p:sp>
        <p:nvSpPr>
          <p:cNvPr id="19" name="TextBox 18"/>
          <p:cNvSpPr txBox="1"/>
          <p:nvPr/>
        </p:nvSpPr>
        <p:spPr>
          <a:xfrm>
            <a:off x="8414308" y="5330952"/>
            <a:ext cx="2881274" cy="457200"/>
          </a:xfrm>
          <a:prstGeom prst="rect">
            <a:avLst/>
          </a:prstGeom>
          <a:noFill/>
        </p:spPr>
        <p:txBody>
          <a:bodyPr wrap="square" anchor="t">
            <a:spAutoFit/>
          </a:bodyPr>
          <a:lstStyle/>
          <a:p>
            <a:pPr algn="l">
              <a:lnSpc>
                <a:spcPct val="100000"/>
              </a:lnSpc>
            </a:pPr>
            <a:r>
              <a:rPr sz="1200" b="0">
                <a:solidFill>
                  <a:srgbClr val="8A94A6"/>
                </a:solidFill>
                <a:latin typeface="Courier New"/>
              </a:rPr>
              <a:t>▸ threatens </a:t>
            </a:r>
            <a:r>
              <a:rPr sz="1200" b="1">
                <a:solidFill>
                  <a:srgbClr val="FF4D4D"/>
                </a:solidFill>
                <a:latin typeface="Courier New"/>
              </a:rPr>
              <a:t>Ownership</a:t>
            </a:r>
          </a:p>
        </p:txBody>
      </p:sp>
      <p:sp>
        <p:nvSpPr>
          <p:cNvPr id="20" name="TextBox 19"/>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REAL CASES · PRIVACY</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acerec.jpg"/>
          <p:cNvPicPr>
            <a:picLocks noChangeAspect="1"/>
          </p:cNvPicPr>
          <p:nvPr/>
        </p:nvPicPr>
        <p:blipFill>
          <a:blip r:embed="rId2"/>
          <a:srcRect l="25111" r="25111"/>
          <a:stretch>
            <a:fillRect/>
          </a:stretch>
        </p:blipFill>
        <p:spPr>
          <a:xfrm>
            <a:off x="7071055" y="0"/>
            <a:ext cx="5120640" cy="6858000"/>
          </a:xfrm>
          <a:prstGeom prst="rect">
            <a:avLst/>
          </a:prstGeom>
        </p:spPr>
      </p:pic>
      <p:sp>
        <p:nvSpPr>
          <p:cNvPr id="5" name="TextBox 4"/>
          <p:cNvSpPr txBox="1"/>
          <p:nvPr/>
        </p:nvSpPr>
        <p:spPr>
          <a:xfrm>
            <a:off x="640080" y="1188720"/>
            <a:ext cx="6019495" cy="1280160"/>
          </a:xfrm>
          <a:prstGeom prst="rect">
            <a:avLst/>
          </a:prstGeom>
          <a:noFill/>
        </p:spPr>
        <p:txBody>
          <a:bodyPr wrap="square" anchor="t">
            <a:spAutoFit/>
          </a:bodyPr>
          <a:lstStyle/>
          <a:p>
            <a:pPr algn="l">
              <a:lnSpc>
                <a:spcPct val="100000"/>
              </a:lnSpc>
            </a:pPr>
            <a:r>
              <a:rPr sz="3000" b="1">
                <a:solidFill>
                  <a:srgbClr val="F5F7FA"/>
                </a:solidFill>
                <a:latin typeface="Arial"/>
              </a:rPr>
              <a:t>Your face is in the training set</a:t>
            </a:r>
          </a:p>
        </p:txBody>
      </p:sp>
      <p:sp>
        <p:nvSpPr>
          <p:cNvPr id="6" name="TextBox 5"/>
          <p:cNvSpPr txBox="1"/>
          <p:nvPr/>
        </p:nvSpPr>
        <p:spPr>
          <a:xfrm>
            <a:off x="640080" y="2560320"/>
            <a:ext cx="6019495" cy="3108960"/>
          </a:xfrm>
          <a:prstGeom prst="rect">
            <a:avLst/>
          </a:prstGeom>
          <a:noFill/>
        </p:spPr>
        <p:txBody>
          <a:bodyPr wrap="square" anchor="t">
            <a:spAutoFit/>
          </a:bodyPr>
          <a:lstStyle/>
          <a:p>
            <a:pPr algn="l">
              <a:lnSpc>
                <a:spcPct val="116000"/>
              </a:lnSpc>
            </a:pPr>
            <a:r>
              <a:rPr sz="2000" b="0">
                <a:solidFill>
                  <a:srgbClr val="F5F7FA"/>
                </a:solidFill>
                <a:latin typeface="Arial"/>
              </a:rPr>
              <a:t>Clearview AI scraped </a:t>
            </a:r>
            <a:r>
              <a:rPr sz="2000" b="1">
                <a:solidFill>
                  <a:srgbClr val="FF4D4D"/>
                </a:solidFill>
                <a:latin typeface="Arial"/>
              </a:rPr>
              <a:t>3 billion+ faces</a:t>
            </a:r>
            <a:r>
              <a:rPr sz="2000" b="0">
                <a:solidFill>
                  <a:srgbClr val="F5F7FA"/>
                </a:solidFill>
                <a:latin typeface="Arial"/>
              </a:rPr>
              <a:t> from the web to sell facial ID to police — without anyone’s consent.</a:t>
            </a:r>
          </a:p>
          <a:p>
            <a:pPr algn="l">
              <a:lnSpc>
                <a:spcPct val="116000"/>
              </a:lnSpc>
            </a:pPr>
            <a:r>
              <a:rPr sz="1900" b="0">
                <a:solidFill>
                  <a:srgbClr val="F5F7FA"/>
                </a:solidFill>
                <a:latin typeface="Arial"/>
              </a:rPr>
              <a:t/>
            </a:r>
          </a:p>
          <a:p>
            <a:pPr algn="l">
              <a:lnSpc>
                <a:spcPct val="116000"/>
              </a:lnSpc>
            </a:pPr>
            <a:r>
              <a:rPr sz="2000" b="0">
                <a:solidFill>
                  <a:srgbClr val="F5F7FA"/>
                </a:solidFill>
                <a:latin typeface="Arial"/>
              </a:rPr>
              <a:t>At least </a:t>
            </a:r>
            <a:r>
              <a:rPr sz="2000" b="1">
                <a:solidFill>
                  <a:srgbClr val="FF4D4D"/>
                </a:solidFill>
                <a:latin typeface="Arial"/>
              </a:rPr>
              <a:t>four Black men</a:t>
            </a:r>
            <a:r>
              <a:rPr sz="2000" b="0">
                <a:solidFill>
                  <a:srgbClr val="F5F7FA"/>
                </a:solidFill>
                <a:latin typeface="Arial"/>
              </a:rPr>
              <a:t> have been wrongly arrested on false facial-recognition matches.</a:t>
            </a:r>
          </a:p>
        </p:txBody>
      </p:sp>
      <p:sp>
        <p:nvSpPr>
          <p:cNvPr id="7" name="Rectangle 6"/>
          <p:cNvSpPr/>
          <p:nvPr/>
        </p:nvSpPr>
        <p:spPr>
          <a:xfrm>
            <a:off x="7071055" y="6547104"/>
            <a:ext cx="5120640" cy="310896"/>
          </a:xfrm>
          <a:prstGeom prst="rect">
            <a:avLst/>
          </a:prstGeom>
          <a:solidFill>
            <a:srgbClr val="0B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08215" y="6565392"/>
            <a:ext cx="4846320" cy="274320"/>
          </a:xfrm>
          <a:prstGeom prst="rect">
            <a:avLst/>
          </a:prstGeom>
          <a:noFill/>
        </p:spPr>
        <p:txBody>
          <a:bodyPr wrap="square" anchor="t">
            <a:spAutoFit/>
          </a:bodyPr>
          <a:lstStyle/>
          <a:p>
            <a:pPr algn="l">
              <a:lnSpc>
                <a:spcPct val="100000"/>
              </a:lnSpc>
            </a:pPr>
            <a:r>
              <a:rPr sz="850" b="0">
                <a:solidFill>
                  <a:srgbClr val="8A94A6"/>
                </a:solidFill>
                <a:latin typeface="Courier New"/>
              </a:rPr>
              <a:t>Photo: Pete Woodhead / Wikimedia Commons · CC BY 2.0</a:t>
            </a:r>
          </a:p>
        </p:txBody>
      </p:sp>
      <p:sp>
        <p:nvSpPr>
          <p:cNvPr id="9" name="TextBox 8"/>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REAL CASES · THE HIDDEN COSTS</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datacenter.jpg"/>
          <p:cNvPicPr>
            <a:picLocks noChangeAspect="1"/>
          </p:cNvPicPr>
          <p:nvPr/>
        </p:nvPicPr>
        <p:blipFill>
          <a:blip r:embed="rId2"/>
          <a:srcRect l="25208" r="25208"/>
          <a:stretch>
            <a:fillRect/>
          </a:stretch>
        </p:blipFill>
        <p:spPr>
          <a:xfrm>
            <a:off x="7071055" y="0"/>
            <a:ext cx="5120640" cy="6858000"/>
          </a:xfrm>
          <a:prstGeom prst="rect">
            <a:avLst/>
          </a:prstGeom>
        </p:spPr>
      </p:pic>
      <p:sp>
        <p:nvSpPr>
          <p:cNvPr id="5" name="TextBox 4"/>
          <p:cNvSpPr txBox="1"/>
          <p:nvPr/>
        </p:nvSpPr>
        <p:spPr>
          <a:xfrm>
            <a:off x="640080" y="1188720"/>
            <a:ext cx="6019495" cy="1280160"/>
          </a:xfrm>
          <a:prstGeom prst="rect">
            <a:avLst/>
          </a:prstGeom>
          <a:noFill/>
        </p:spPr>
        <p:txBody>
          <a:bodyPr wrap="square" anchor="t">
            <a:spAutoFit/>
          </a:bodyPr>
          <a:lstStyle/>
          <a:p>
            <a:pPr algn="l">
              <a:lnSpc>
                <a:spcPct val="100000"/>
              </a:lnSpc>
            </a:pPr>
            <a:r>
              <a:rPr sz="3000" b="1">
                <a:solidFill>
                  <a:srgbClr val="F5F7FA"/>
                </a:solidFill>
                <a:latin typeface="Arial"/>
              </a:rPr>
              <a:t>Someone pays for the magic</a:t>
            </a:r>
          </a:p>
        </p:txBody>
      </p:sp>
      <p:sp>
        <p:nvSpPr>
          <p:cNvPr id="6" name="TextBox 5"/>
          <p:cNvSpPr txBox="1"/>
          <p:nvPr/>
        </p:nvSpPr>
        <p:spPr>
          <a:xfrm>
            <a:off x="640080" y="2560320"/>
            <a:ext cx="6019495" cy="3108960"/>
          </a:xfrm>
          <a:prstGeom prst="rect">
            <a:avLst/>
          </a:prstGeom>
          <a:noFill/>
        </p:spPr>
        <p:txBody>
          <a:bodyPr wrap="square" anchor="t">
            <a:spAutoFit/>
          </a:bodyPr>
          <a:lstStyle/>
          <a:p>
            <a:pPr algn="l">
              <a:lnSpc>
                <a:spcPct val="116000"/>
              </a:lnSpc>
            </a:pPr>
            <a:r>
              <a:rPr sz="2000" b="0">
                <a:solidFill>
                  <a:srgbClr val="F5F7FA"/>
                </a:solidFill>
                <a:latin typeface="Arial"/>
              </a:rPr>
              <a:t>Training GPT-3 evaporated an estimated </a:t>
            </a:r>
            <a:r>
              <a:rPr sz="2000" b="1">
                <a:solidFill>
                  <a:srgbClr val="FF4D4D"/>
                </a:solidFill>
                <a:latin typeface="Arial"/>
              </a:rPr>
              <a:t>~700,000 L of freshwater</a:t>
            </a:r>
            <a:r>
              <a:rPr sz="2000" b="0">
                <a:solidFill>
                  <a:srgbClr val="F5F7FA"/>
                </a:solidFill>
                <a:latin typeface="Arial"/>
              </a:rPr>
              <a:t>; datacenter emissions are spiking (Google +48% vs 2019).</a:t>
            </a:r>
          </a:p>
          <a:p>
            <a:pPr algn="l">
              <a:lnSpc>
                <a:spcPct val="116000"/>
              </a:lnSpc>
            </a:pPr>
            <a:r>
              <a:rPr sz="1900" b="0">
                <a:solidFill>
                  <a:srgbClr val="F5F7FA"/>
                </a:solidFill>
                <a:latin typeface="Arial"/>
              </a:rPr>
              <a:t/>
            </a:r>
          </a:p>
          <a:p>
            <a:pPr algn="l">
              <a:lnSpc>
                <a:spcPct val="116000"/>
              </a:lnSpc>
            </a:pPr>
            <a:r>
              <a:rPr sz="2000" b="0">
                <a:solidFill>
                  <a:srgbClr val="F5F7FA"/>
                </a:solidFill>
                <a:latin typeface="Arial"/>
              </a:rPr>
              <a:t>And the humans: Kenyan workers paid </a:t>
            </a:r>
            <a:r>
              <a:rPr sz="2000" b="1">
                <a:solidFill>
                  <a:srgbClr val="FF4D4D"/>
                </a:solidFill>
                <a:latin typeface="Arial"/>
              </a:rPr>
              <a:t>~$2/hour</a:t>
            </a:r>
            <a:r>
              <a:rPr sz="2000" b="0">
                <a:solidFill>
                  <a:srgbClr val="F5F7FA"/>
                </a:solidFill>
                <a:latin typeface="Arial"/>
              </a:rPr>
              <a:t> labeled graphic toxic content to build ChatGPT’s safety filter.</a:t>
            </a:r>
          </a:p>
        </p:txBody>
      </p:sp>
      <p:sp>
        <p:nvSpPr>
          <p:cNvPr id="7" name="Rectangle 6"/>
          <p:cNvSpPr/>
          <p:nvPr/>
        </p:nvSpPr>
        <p:spPr>
          <a:xfrm>
            <a:off x="7071055" y="6547104"/>
            <a:ext cx="5120640" cy="310896"/>
          </a:xfrm>
          <a:prstGeom prst="rect">
            <a:avLst/>
          </a:prstGeom>
          <a:solidFill>
            <a:srgbClr val="0B0E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08215" y="6565392"/>
            <a:ext cx="4846320" cy="274320"/>
          </a:xfrm>
          <a:prstGeom prst="rect">
            <a:avLst/>
          </a:prstGeom>
          <a:noFill/>
        </p:spPr>
        <p:txBody>
          <a:bodyPr wrap="square" anchor="t">
            <a:spAutoFit/>
          </a:bodyPr>
          <a:lstStyle/>
          <a:p>
            <a:pPr algn="l">
              <a:lnSpc>
                <a:spcPct val="100000"/>
              </a:lnSpc>
            </a:pPr>
            <a:r>
              <a:rPr sz="850" b="0">
                <a:solidFill>
                  <a:srgbClr val="8A94A6"/>
                </a:solidFill>
                <a:latin typeface="Courier New"/>
              </a:rPr>
              <a:t>Photo: BalticServers.com / Wikimedia Commons · CC BY-SA 3.0</a:t>
            </a:r>
          </a:p>
        </p:txBody>
      </p:sp>
      <p:sp>
        <p:nvSpPr>
          <p:cNvPr id="9" name="TextBox 8"/>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FF4D4D"/>
                </a:solidFill>
                <a:latin typeface="Courier New"/>
              </a:rPr>
              <a:t>TAKE A SIDE · 3 MIN</a:t>
            </a:r>
          </a:p>
        </p:txBody>
      </p:sp>
      <p:sp>
        <p:nvSpPr>
          <p:cNvPr id="3" name="Rectangle 2"/>
          <p:cNvSpPr/>
          <p:nvPr/>
        </p:nvSpPr>
        <p:spPr>
          <a:xfrm>
            <a:off x="640080" y="932688"/>
            <a:ext cx="822960" cy="73152"/>
          </a:xfrm>
          <a:prstGeom prst="rect">
            <a:avLst/>
          </a:prstGeom>
          <a:solidFill>
            <a:srgbClr val="FF4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25880"/>
            <a:ext cx="10972800" cy="1828800"/>
          </a:xfrm>
          <a:prstGeom prst="rect">
            <a:avLst/>
          </a:prstGeom>
          <a:noFill/>
        </p:spPr>
        <p:txBody>
          <a:bodyPr wrap="square" anchor="t">
            <a:spAutoFit/>
          </a:bodyPr>
          <a:lstStyle/>
          <a:p>
            <a:pPr algn="l">
              <a:lnSpc>
                <a:spcPct val="105000"/>
              </a:lnSpc>
            </a:pPr>
            <a:r>
              <a:rPr sz="3800" b="1">
                <a:solidFill>
                  <a:srgbClr val="F5F7FA"/>
                </a:solidFill>
                <a:latin typeface="Arial"/>
              </a:rPr>
              <a:t>Which harm scares you most?</a:t>
            </a:r>
          </a:p>
        </p:txBody>
      </p:sp>
      <p:sp>
        <p:nvSpPr>
          <p:cNvPr id="5" name="TextBox 4"/>
          <p:cNvSpPr txBox="1"/>
          <p:nvPr/>
        </p:nvSpPr>
        <p:spPr>
          <a:xfrm>
            <a:off x="658368" y="3611880"/>
            <a:ext cx="10972800" cy="1737360"/>
          </a:xfrm>
          <a:prstGeom prst="rect">
            <a:avLst/>
          </a:prstGeom>
          <a:noFill/>
        </p:spPr>
        <p:txBody>
          <a:bodyPr wrap="square" anchor="t">
            <a:spAutoFit/>
          </a:bodyPr>
          <a:lstStyle/>
          <a:p>
            <a:pPr algn="l">
              <a:lnSpc>
                <a:spcPct val="135000"/>
              </a:lnSpc>
            </a:pPr>
            <a:r>
              <a:rPr sz="1900" b="1">
                <a:solidFill>
                  <a:srgbClr val="FF4D4D"/>
                </a:solidFill>
                <a:latin typeface="Arial"/>
              </a:rPr>
              <a:t>→  </a:t>
            </a:r>
            <a:r>
              <a:rPr sz="1900" b="0">
                <a:solidFill>
                  <a:srgbClr val="8A94A6"/>
                </a:solidFill>
                <a:latin typeface="Arial"/>
              </a:rPr>
              <a:t>Pick ONE of the seven — the one you’d least want done to you or someone you love.</a:t>
            </a:r>
          </a:p>
          <a:p>
            <a:pPr algn="l">
              <a:lnSpc>
                <a:spcPct val="135000"/>
              </a:lnSpc>
            </a:pPr>
            <a:r>
              <a:rPr sz="1900" b="1">
                <a:solidFill>
                  <a:srgbClr val="FF4D4D"/>
                </a:solidFill>
                <a:latin typeface="Arial"/>
              </a:rPr>
              <a:t>→  </a:t>
            </a:r>
            <a:r>
              <a:rPr sz="1900" b="0">
                <a:solidFill>
                  <a:srgbClr val="8A94A6"/>
                </a:solidFill>
                <a:latin typeface="Arial"/>
              </a:rPr>
              <a:t>Find a neighbor who picked a different one. Defend yours; hear theirs.</a:t>
            </a:r>
          </a:p>
        </p:txBody>
      </p:sp>
      <p:sp>
        <p:nvSpPr>
          <p:cNvPr id="6" name="Rounded Rectangle 5"/>
          <p:cNvSpPr/>
          <p:nvPr/>
        </p:nvSpPr>
        <p:spPr>
          <a:xfrm>
            <a:off x="640080" y="5532120"/>
            <a:ext cx="10911535" cy="658368"/>
          </a:xfrm>
          <a:prstGeom prst="roundRect">
            <a:avLst/>
          </a:prstGeom>
          <a:solidFill>
            <a:srgbClr val="151B26"/>
          </a:solidFill>
          <a:ln w="19050">
            <a:solidFill>
              <a:srgbClr val="FF4D4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532120"/>
            <a:ext cx="10362895" cy="658368"/>
          </a:xfrm>
          <a:prstGeom prst="rect">
            <a:avLst/>
          </a:prstGeom>
          <a:noFill/>
        </p:spPr>
        <p:txBody>
          <a:bodyPr wrap="square" anchor="ctr">
            <a:spAutoFit/>
          </a:bodyPr>
          <a:lstStyle/>
          <a:p>
            <a:pPr algn="l">
              <a:lnSpc>
                <a:spcPct val="100000"/>
              </a:lnSpc>
            </a:pPr>
            <a:r>
              <a:rPr sz="1600" b="1">
                <a:solidFill>
                  <a:srgbClr val="FF4D4D"/>
                </a:solidFill>
                <a:latin typeface="Arial"/>
              </a:rPr>
              <a:t>▶  </a:t>
            </a:r>
            <a:r>
              <a:rPr sz="1600" b="1">
                <a:solidFill>
                  <a:srgbClr val="F5F7FA"/>
                </a:solidFill>
                <a:latin typeface="Arial"/>
              </a:rPr>
              <a:t>3 min in pairs → we take three to the room. Your pick is the value you’ll defend all afternoon.</a:t>
            </a:r>
          </a:p>
        </p:txBody>
      </p:sp>
      <p:sp>
        <p:nvSpPr>
          <p:cNvPr id="8" name="TextBox 7"/>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FROM PROBLEM TO DEFENSE</a:t>
            </a:r>
          </a:p>
        </p:txBody>
      </p:sp>
      <p:sp>
        <p:nvSpPr>
          <p:cNvPr id="3" name="TextBox 2"/>
          <p:cNvSpPr txBox="1"/>
          <p:nvPr/>
        </p:nvSpPr>
        <p:spPr>
          <a:xfrm>
            <a:off x="914400" y="1554480"/>
            <a:ext cx="1280160" cy="1280160"/>
          </a:xfrm>
          <a:prstGeom prst="rect">
            <a:avLst/>
          </a:prstGeom>
          <a:noFill/>
        </p:spPr>
        <p:txBody>
          <a:bodyPr wrap="square" anchor="t">
            <a:spAutoFit/>
          </a:bodyPr>
          <a:lstStyle/>
          <a:p>
            <a:pPr algn="l">
              <a:lnSpc>
                <a:spcPct val="100000"/>
              </a:lnSpc>
            </a:pPr>
            <a:r>
              <a:rPr sz="9000" b="1">
                <a:solidFill>
                  <a:srgbClr val="00FF41"/>
                </a:solidFill>
                <a:latin typeface="Arial"/>
              </a:rPr>
              <a:t>“</a:t>
            </a:r>
          </a:p>
        </p:txBody>
      </p:sp>
      <p:sp>
        <p:nvSpPr>
          <p:cNvPr id="4" name="TextBox 3"/>
          <p:cNvSpPr txBox="1"/>
          <p:nvPr/>
        </p:nvSpPr>
        <p:spPr>
          <a:xfrm>
            <a:off x="1188720" y="2194560"/>
            <a:ext cx="9784080" cy="2011680"/>
          </a:xfrm>
          <a:prstGeom prst="rect">
            <a:avLst/>
          </a:prstGeom>
          <a:noFill/>
        </p:spPr>
        <p:txBody>
          <a:bodyPr wrap="square" anchor="t">
            <a:spAutoFit/>
          </a:bodyPr>
          <a:lstStyle/>
          <a:p>
            <a:pPr algn="l">
              <a:lnSpc>
                <a:spcPct val="112000"/>
              </a:lnSpc>
            </a:pPr>
            <a:r>
              <a:rPr sz="3000" b="1">
                <a:solidFill>
                  <a:srgbClr val="F5F7FA"/>
                </a:solidFill>
                <a:latin typeface="Arial"/>
              </a:rPr>
              <a:t>You have a right to protect your personal narrative as AI companies vacuum up the internet.</a:t>
            </a:r>
          </a:p>
        </p:txBody>
      </p:sp>
      <p:sp>
        <p:nvSpPr>
          <p:cNvPr id="5" name="TextBox 4"/>
          <p:cNvSpPr txBox="1"/>
          <p:nvPr/>
        </p:nvSpPr>
        <p:spPr>
          <a:xfrm>
            <a:off x="1234440" y="4297680"/>
            <a:ext cx="9601200" cy="457200"/>
          </a:xfrm>
          <a:prstGeom prst="rect">
            <a:avLst/>
          </a:prstGeom>
          <a:noFill/>
        </p:spPr>
        <p:txBody>
          <a:bodyPr wrap="square" anchor="t">
            <a:spAutoFit/>
          </a:bodyPr>
          <a:lstStyle/>
          <a:p>
            <a:pPr algn="l">
              <a:lnSpc>
                <a:spcPct val="100000"/>
              </a:lnSpc>
            </a:pPr>
            <a:r>
              <a:rPr sz="1600" b="0">
                <a:solidFill>
                  <a:srgbClr val="8A94A6"/>
                </a:solidFill>
                <a:latin typeface="Arial"/>
              </a:rPr>
              <a:t>— after Brunton &amp; Nissenbaum, Obfuscation</a:t>
            </a:r>
          </a:p>
        </p:txBody>
      </p:sp>
      <p:sp>
        <p:nvSpPr>
          <p:cNvPr id="6" name="Rounded Rectangle 5"/>
          <p:cNvSpPr/>
          <p:nvPr/>
        </p:nvSpPr>
        <p:spPr>
          <a:xfrm>
            <a:off x="1188720" y="4937760"/>
            <a:ext cx="9784080" cy="914400"/>
          </a:xfrm>
          <a:prstGeom prst="roundRect">
            <a:avLst/>
          </a:prstGeom>
          <a:solidFill>
            <a:srgbClr val="151B26"/>
          </a:solidFill>
          <a:ln w="1270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463040" y="5074920"/>
            <a:ext cx="9235440" cy="731520"/>
          </a:xfrm>
          <a:prstGeom prst="rect">
            <a:avLst/>
          </a:prstGeom>
          <a:noFill/>
        </p:spPr>
        <p:txBody>
          <a:bodyPr wrap="square" anchor="ctr">
            <a:spAutoFit/>
          </a:bodyPr>
          <a:lstStyle/>
          <a:p>
            <a:pPr algn="l">
              <a:lnSpc>
                <a:spcPct val="100000"/>
              </a:lnSpc>
            </a:pPr>
            <a:r>
              <a:rPr sz="1800" b="0">
                <a:solidFill>
                  <a:srgbClr val="F5F7FA"/>
                </a:solidFill>
                <a:latin typeface="Arial"/>
              </a:rPr>
              <a:t>For every harm we just saw — is there a defense?</a:t>
            </a:r>
          </a:p>
        </p:txBody>
      </p:sp>
      <p:sp>
        <p:nvSpPr>
          <p:cNvPr id="8" name="TextBox 7"/>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Rectangle 1"/>
          <p:cNvSpPr/>
          <p:nvPr/>
        </p:nvSpPr>
        <p:spPr>
          <a:xfrm>
            <a:off x="0" y="0"/>
            <a:ext cx="256032" cy="685800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194560"/>
            <a:ext cx="10515600" cy="548640"/>
          </a:xfrm>
          <a:prstGeom prst="rect">
            <a:avLst/>
          </a:prstGeom>
          <a:noFill/>
        </p:spPr>
        <p:txBody>
          <a:bodyPr wrap="square" anchor="t">
            <a:spAutoFit/>
          </a:bodyPr>
          <a:lstStyle/>
          <a:p>
            <a:pPr algn="l">
              <a:lnSpc>
                <a:spcPct val="100000"/>
              </a:lnSpc>
            </a:pPr>
            <a:r>
              <a:rPr sz="1800" b="1">
                <a:solidFill>
                  <a:srgbClr val="00FF41"/>
                </a:solidFill>
                <a:latin typeface="Courier New"/>
              </a:rPr>
              <a:t>✓  ACT 2 · THE DEFENSE</a:t>
            </a:r>
          </a:p>
        </p:txBody>
      </p:sp>
      <p:sp>
        <p:nvSpPr>
          <p:cNvPr id="4" name="TextBox 3"/>
          <p:cNvSpPr txBox="1"/>
          <p:nvPr/>
        </p:nvSpPr>
        <p:spPr>
          <a:xfrm>
            <a:off x="804672" y="2743200"/>
            <a:ext cx="10515600" cy="1554480"/>
          </a:xfrm>
          <a:prstGeom prst="rect">
            <a:avLst/>
          </a:prstGeom>
          <a:noFill/>
        </p:spPr>
        <p:txBody>
          <a:bodyPr wrap="square" anchor="t">
            <a:spAutoFit/>
          </a:bodyPr>
          <a:lstStyle/>
          <a:p>
            <a:pPr algn="l">
              <a:lnSpc>
                <a:spcPct val="100000"/>
              </a:lnSpc>
            </a:pPr>
            <a:r>
              <a:rPr sz="4800" b="1">
                <a:solidFill>
                  <a:srgbClr val="F5F7FA"/>
                </a:solidFill>
                <a:latin typeface="Arial"/>
              </a:rPr>
              <a:t>AI against AI</a:t>
            </a:r>
          </a:p>
        </p:txBody>
      </p:sp>
      <p:sp>
        <p:nvSpPr>
          <p:cNvPr id="5" name="TextBox 4"/>
          <p:cNvSpPr txBox="1"/>
          <p:nvPr/>
        </p:nvSpPr>
        <p:spPr>
          <a:xfrm>
            <a:off x="841248" y="4297680"/>
            <a:ext cx="10058400" cy="640080"/>
          </a:xfrm>
          <a:prstGeom prst="rect">
            <a:avLst/>
          </a:prstGeom>
          <a:noFill/>
        </p:spPr>
        <p:txBody>
          <a:bodyPr wrap="square" anchor="t">
            <a:spAutoFit/>
          </a:bodyPr>
          <a:lstStyle/>
          <a:p>
            <a:pPr algn="l">
              <a:lnSpc>
                <a:spcPct val="100000"/>
              </a:lnSpc>
            </a:pPr>
            <a:r>
              <a:rPr sz="1900" b="0">
                <a:solidFill>
                  <a:srgbClr val="8A94A6"/>
                </a:solidFill>
                <a:latin typeface="Arial"/>
              </a:rPr>
              <a:t>Turn the same tools back around — to protect instead of extract.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DEFENSES · ONE PER VALUE</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024128"/>
            <a:ext cx="10972800" cy="822960"/>
          </a:xfrm>
          <a:prstGeom prst="rect">
            <a:avLst/>
          </a:prstGeom>
          <a:noFill/>
        </p:spPr>
        <p:txBody>
          <a:bodyPr wrap="square" anchor="t">
            <a:spAutoFit/>
          </a:bodyPr>
          <a:lstStyle/>
          <a:p>
            <a:pPr algn="l">
              <a:lnSpc>
                <a:spcPct val="100000"/>
              </a:lnSpc>
            </a:pPr>
            <a:r>
              <a:rPr sz="3000" b="1">
                <a:solidFill>
                  <a:srgbClr val="F5F7FA"/>
                </a:solidFill>
                <a:latin typeface="Arial"/>
              </a:rPr>
              <a:t>Turning AI against AI</a:t>
            </a:r>
          </a:p>
        </p:txBody>
      </p:sp>
      <p:sp>
        <p:nvSpPr>
          <p:cNvPr id="5" name="Rounded Rectangle 4"/>
          <p:cNvSpPr/>
          <p:nvPr/>
        </p:nvSpPr>
        <p:spPr>
          <a:xfrm>
            <a:off x="640080"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96112"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Fairness</a:t>
            </a:r>
          </a:p>
        </p:txBody>
      </p:sp>
      <p:sp>
        <p:nvSpPr>
          <p:cNvPr id="8" name="TextBox 7"/>
          <p:cNvSpPr txBox="1"/>
          <p:nvPr/>
        </p:nvSpPr>
        <p:spPr>
          <a:xfrm>
            <a:off x="896112"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Bias audits &amp; adversarial fairness testing — red-team the model before it ships.</a:t>
            </a:r>
          </a:p>
        </p:txBody>
      </p:sp>
      <p:sp>
        <p:nvSpPr>
          <p:cNvPr id="9" name="Rounded Rectangle 8"/>
          <p:cNvSpPr/>
          <p:nvPr/>
        </p:nvSpPr>
        <p:spPr>
          <a:xfrm>
            <a:off x="3436543"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3436543"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92575"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Privacy</a:t>
            </a:r>
          </a:p>
        </p:txBody>
      </p:sp>
      <p:sp>
        <p:nvSpPr>
          <p:cNvPr id="12" name="TextBox 11"/>
          <p:cNvSpPr txBox="1"/>
          <p:nvPr/>
        </p:nvSpPr>
        <p:spPr>
          <a:xfrm>
            <a:off x="3692575"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Obfuscation, scraper-poisoning, Glaze/Nightshade cloaking — poison the training set.</a:t>
            </a:r>
          </a:p>
        </p:txBody>
      </p:sp>
      <p:sp>
        <p:nvSpPr>
          <p:cNvPr id="13" name="Rounded Rectangle 12"/>
          <p:cNvSpPr/>
          <p:nvPr/>
        </p:nvSpPr>
        <p:spPr>
          <a:xfrm>
            <a:off x="6233006"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33006"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89038"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Truth</a:t>
            </a:r>
          </a:p>
        </p:txBody>
      </p:sp>
      <p:sp>
        <p:nvSpPr>
          <p:cNvPr id="16" name="TextBox 15"/>
          <p:cNvSpPr txBox="1"/>
          <p:nvPr/>
        </p:nvSpPr>
        <p:spPr>
          <a:xfrm>
            <a:off x="6489038"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Provenance &amp; watermarking (C2PA), deepfake &amp; AI-text detectors.</a:t>
            </a:r>
          </a:p>
        </p:txBody>
      </p:sp>
      <p:sp>
        <p:nvSpPr>
          <p:cNvPr id="17" name="Rounded Rectangle 16"/>
          <p:cNvSpPr/>
          <p:nvPr/>
        </p:nvSpPr>
        <p:spPr>
          <a:xfrm>
            <a:off x="9029469" y="201168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9029469" y="201168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85501" y="223113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Autonomy</a:t>
            </a:r>
          </a:p>
        </p:txBody>
      </p:sp>
      <p:sp>
        <p:nvSpPr>
          <p:cNvPr id="20" name="TextBox 19"/>
          <p:cNvSpPr txBox="1"/>
          <p:nvPr/>
        </p:nvSpPr>
        <p:spPr>
          <a:xfrm>
            <a:off x="9285501" y="318211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Bright patterns &amp; dark-pattern detectors that hand control back to the user.</a:t>
            </a:r>
          </a:p>
        </p:txBody>
      </p:sp>
      <p:sp>
        <p:nvSpPr>
          <p:cNvPr id="21" name="Rounded Rectangle 20"/>
          <p:cNvSpPr/>
          <p:nvPr/>
        </p:nvSpPr>
        <p:spPr>
          <a:xfrm>
            <a:off x="640080"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40080"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96112"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Safety</a:t>
            </a:r>
          </a:p>
        </p:txBody>
      </p:sp>
      <p:sp>
        <p:nvSpPr>
          <p:cNvPr id="24" name="TextBox 23"/>
          <p:cNvSpPr txBox="1"/>
          <p:nvPr/>
        </p:nvSpPr>
        <p:spPr>
          <a:xfrm>
            <a:off x="896112"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Scam &amp; voice-clone detectors; guardrail red-teaming; hash-matching.</a:t>
            </a:r>
          </a:p>
        </p:txBody>
      </p:sp>
      <p:sp>
        <p:nvSpPr>
          <p:cNvPr id="25" name="Rounded Rectangle 24"/>
          <p:cNvSpPr/>
          <p:nvPr/>
        </p:nvSpPr>
        <p:spPr>
          <a:xfrm>
            <a:off x="3436543"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436543"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92575"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Labor</a:t>
            </a:r>
          </a:p>
        </p:txBody>
      </p:sp>
      <p:sp>
        <p:nvSpPr>
          <p:cNvPr id="28" name="TextBox 27"/>
          <p:cNvSpPr txBox="1"/>
          <p:nvPr/>
        </p:nvSpPr>
        <p:spPr>
          <a:xfrm>
            <a:off x="3692575"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Withhold your tacit skill from capture; carbon/water dashboards for models.</a:t>
            </a:r>
          </a:p>
        </p:txBody>
      </p:sp>
      <p:sp>
        <p:nvSpPr>
          <p:cNvPr id="29" name="Rounded Rectangle 28"/>
          <p:cNvSpPr/>
          <p:nvPr/>
        </p:nvSpPr>
        <p:spPr>
          <a:xfrm>
            <a:off x="6233006" y="4251960"/>
            <a:ext cx="2522143" cy="1965960"/>
          </a:xfrm>
          <a:prstGeom prst="roundRect">
            <a:avLst/>
          </a:prstGeom>
          <a:solidFill>
            <a:srgbClr val="151B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233006" y="4251960"/>
            <a:ext cx="82296" cy="1965960"/>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89038" y="4471416"/>
            <a:ext cx="2010079" cy="777240"/>
          </a:xfrm>
          <a:prstGeom prst="rect">
            <a:avLst/>
          </a:prstGeom>
          <a:noFill/>
        </p:spPr>
        <p:txBody>
          <a:bodyPr wrap="square" anchor="t">
            <a:spAutoFit/>
          </a:bodyPr>
          <a:lstStyle/>
          <a:p>
            <a:pPr algn="l">
              <a:lnSpc>
                <a:spcPct val="102000"/>
              </a:lnSpc>
            </a:pPr>
            <a:r>
              <a:rPr sz="1900" b="0">
                <a:solidFill>
                  <a:srgbClr val="F5F7FA"/>
                </a:solidFill>
                <a:latin typeface="Arial"/>
              </a:rPr>
              <a:t>🎭  </a:t>
            </a:r>
            <a:r>
              <a:rPr sz="1600" b="1">
                <a:solidFill>
                  <a:srgbClr val="F5F7FA"/>
                </a:solidFill>
                <a:latin typeface="Arial"/>
              </a:rPr>
              <a:t>Authenticity</a:t>
            </a:r>
          </a:p>
        </p:txBody>
      </p:sp>
      <p:sp>
        <p:nvSpPr>
          <p:cNvPr id="32" name="TextBox 31"/>
          <p:cNvSpPr txBox="1"/>
          <p:nvPr/>
        </p:nvSpPr>
        <p:spPr>
          <a:xfrm>
            <a:off x="6489038" y="5422392"/>
            <a:ext cx="2010079" cy="594360"/>
          </a:xfrm>
          <a:prstGeom prst="rect">
            <a:avLst/>
          </a:prstGeom>
          <a:noFill/>
        </p:spPr>
        <p:txBody>
          <a:bodyPr wrap="square" anchor="t">
            <a:spAutoFit/>
          </a:bodyPr>
          <a:lstStyle/>
          <a:p>
            <a:pPr algn="l">
              <a:lnSpc>
                <a:spcPct val="108000"/>
              </a:lnSpc>
            </a:pPr>
            <a:r>
              <a:rPr sz="1250" b="0">
                <a:solidFill>
                  <a:srgbClr val="8A94A6"/>
                </a:solidFill>
                <a:latin typeface="Arial"/>
              </a:rPr>
              <a:t>Content credentials, model cards, audit logs — make provenance legible.</a:t>
            </a:r>
          </a:p>
        </p:txBody>
      </p:sp>
      <p:sp>
        <p:nvSpPr>
          <p:cNvPr id="33" name="TextBox 32"/>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PRIVACY</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Poison the scraper (this is Part A)</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200" b="0">
                <a:solidFill>
                  <a:srgbClr val="F5F7FA"/>
                </a:solidFill>
                <a:latin typeface="Arial"/>
              </a:rPr>
              <a:t>Inject plausible but </a:t>
            </a:r>
            <a:r>
              <a:rPr sz="2000" b="1">
                <a:solidFill>
                  <a:srgbClr val="00FF41"/>
                </a:solidFill>
                <a:latin typeface="Arial"/>
              </a:rPr>
              <a:t>fabricated</a:t>
            </a:r>
            <a:r>
              <a:rPr sz="2200" b="0">
                <a:solidFill>
                  <a:srgbClr val="F5F7FA"/>
                </a:solidFill>
                <a:latin typeface="Arial"/>
              </a:rPr>
              <a:t> facts into your own site — invisible to humans, visible to AI scrapers. Obfuscation as self-defense.</a:t>
            </a:r>
          </a:p>
          <a:p>
            <a:pPr algn="l">
              <a:lnSpc>
                <a:spcPct val="112000"/>
              </a:lnSpc>
            </a:pPr>
            <a:r>
              <a:rPr sz="2000" b="0">
                <a:solidFill>
                  <a:srgbClr val="F5F7FA"/>
                </a:solidFill>
                <a:latin typeface="Arial"/>
              </a:rPr>
              <a:t/>
            </a:r>
          </a:p>
          <a:p>
            <a:pPr algn="l">
              <a:lnSpc>
                <a:spcPct val="112000"/>
              </a:lnSpc>
            </a:pPr>
            <a:r>
              <a:rPr sz="1800" b="0">
                <a:solidFill>
                  <a:srgbClr val="00FF41"/>
                </a:solidFill>
                <a:latin typeface="Courier New"/>
              </a:rPr>
              <a:t>clip: rect(0,0,0,0)</a:t>
            </a:r>
            <a:r>
              <a:rPr sz="1800" b="0">
                <a:solidFill>
                  <a:srgbClr val="8A94A6"/>
                </a:solidFill>
                <a:latin typeface="Arial"/>
              </a:rPr>
              <a:t> keeps the text in the render tree but trims it to 0px — the scraper ingests your decoy; the human sees nothing.</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PRIVACY</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914400"/>
          </a:xfrm>
          <a:prstGeom prst="rect">
            <a:avLst/>
          </a:prstGeom>
          <a:noFill/>
        </p:spPr>
        <p:txBody>
          <a:bodyPr wrap="square" anchor="t">
            <a:spAutoFit/>
          </a:bodyPr>
          <a:lstStyle/>
          <a:p>
            <a:pPr algn="l">
              <a:lnSpc>
                <a:spcPct val="100000"/>
              </a:lnSpc>
            </a:pPr>
            <a:r>
              <a:rPr sz="3000" b="1">
                <a:solidFill>
                  <a:srgbClr val="F5F7FA"/>
                </a:solidFill>
                <a:latin typeface="Arial"/>
              </a:rPr>
              <a:t>Prompt injection as obfuscation</a:t>
            </a:r>
          </a:p>
        </p:txBody>
      </p:sp>
      <p:sp>
        <p:nvSpPr>
          <p:cNvPr id="5" name="Rounded Rectangle 4"/>
          <p:cNvSpPr/>
          <p:nvPr/>
        </p:nvSpPr>
        <p:spPr>
          <a:xfrm>
            <a:off x="2194560" y="2331720"/>
            <a:ext cx="7772400" cy="3566160"/>
          </a:xfrm>
          <a:prstGeom prst="roundRect">
            <a:avLst/>
          </a:prstGeom>
          <a:solidFill>
            <a:srgbClr val="151B26"/>
          </a:solidFill>
          <a:ln w="19050">
            <a:solidFill>
              <a:srgbClr val="00FF41"/>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194560" y="3383280"/>
            <a:ext cx="7772400" cy="731520"/>
          </a:xfrm>
          <a:prstGeom prst="rect">
            <a:avLst/>
          </a:prstGeom>
          <a:noFill/>
        </p:spPr>
        <p:txBody>
          <a:bodyPr wrap="square" anchor="t">
            <a:spAutoFit/>
          </a:bodyPr>
          <a:lstStyle/>
          <a:p>
            <a:pPr algn="ctr">
              <a:lnSpc>
                <a:spcPct val="100000"/>
              </a:lnSpc>
            </a:pPr>
            <a:r>
              <a:rPr sz="2200" b="1">
                <a:solidFill>
                  <a:srgbClr val="00FF41"/>
                </a:solidFill>
                <a:latin typeface="Courier New"/>
              </a:rPr>
              <a:t>🎤 Hauke’s slide</a:t>
            </a:r>
          </a:p>
        </p:txBody>
      </p:sp>
      <p:sp>
        <p:nvSpPr>
          <p:cNvPr id="7" name="TextBox 6"/>
          <p:cNvSpPr txBox="1"/>
          <p:nvPr/>
        </p:nvSpPr>
        <p:spPr>
          <a:xfrm>
            <a:off x="2194560" y="4114800"/>
            <a:ext cx="7772400" cy="731520"/>
          </a:xfrm>
          <a:prstGeom prst="rect">
            <a:avLst/>
          </a:prstGeom>
          <a:noFill/>
        </p:spPr>
        <p:txBody>
          <a:bodyPr wrap="square" anchor="t">
            <a:spAutoFit/>
          </a:bodyPr>
          <a:lstStyle/>
          <a:p>
            <a:pPr algn="ctr">
              <a:lnSpc>
                <a:spcPct val="100000"/>
              </a:lnSpc>
            </a:pPr>
            <a:r>
              <a:rPr sz="1400" b="0">
                <a:solidFill>
                  <a:srgbClr val="8A94A6"/>
                </a:solidFill>
                <a:latin typeface="Arial"/>
              </a:rPr>
              <a:t>Drop in the prompt-injection-as-obfuscation material here (hidden instructions that redirect a scraping agent).</a:t>
            </a:r>
          </a:p>
        </p:txBody>
      </p:sp>
      <p:sp>
        <p:nvSpPr>
          <p:cNvPr id="8" name="TextBox 7"/>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LABOR</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Hide your knowledge from the machine</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100" b="0">
                <a:solidFill>
                  <a:srgbClr val="F5F7FA"/>
                </a:solidFill>
                <a:latin typeface="Arial"/>
              </a:rPr>
              <a:t>In China, workers build </a:t>
            </a:r>
            <a:r>
              <a:rPr sz="2100" b="0">
                <a:solidFill>
                  <a:srgbClr val="00FF41"/>
                </a:solidFill>
                <a:latin typeface="Courier New"/>
              </a:rPr>
              <a:t>colleague.skill</a:t>
            </a:r>
            <a:r>
              <a:rPr sz="2100" b="0">
                <a:solidFill>
                  <a:srgbClr val="F5F7FA"/>
                </a:solidFill>
                <a:latin typeface="Arial"/>
              </a:rPr>
              <a:t> files — AI replicas of a coworker’s know-how — to make each other redundant.</a:t>
            </a:r>
          </a:p>
          <a:p>
            <a:pPr algn="l">
              <a:lnSpc>
                <a:spcPct val="112000"/>
              </a:lnSpc>
            </a:pPr>
            <a:r>
              <a:rPr sz="2000" b="0">
                <a:solidFill>
                  <a:srgbClr val="F5F7FA"/>
                </a:solidFill>
                <a:latin typeface="Arial"/>
              </a:rPr>
              <a:t/>
            </a:r>
          </a:p>
          <a:p>
            <a:pPr algn="l">
              <a:lnSpc>
                <a:spcPct val="112000"/>
              </a:lnSpc>
            </a:pPr>
            <a:r>
              <a:rPr sz="2100" b="0">
                <a:solidFill>
                  <a:srgbClr val="F5F7FA"/>
                </a:solidFill>
                <a:latin typeface="Arial"/>
              </a:rPr>
              <a:t>The counter-move: </a:t>
            </a:r>
            <a:r>
              <a:rPr sz="2100" b="0">
                <a:solidFill>
                  <a:srgbClr val="00FF41"/>
                </a:solidFill>
                <a:latin typeface="Courier New"/>
              </a:rPr>
              <a:t>anti-distillation.skill</a:t>
            </a:r>
            <a:r>
              <a:rPr sz="2100" b="0">
                <a:solidFill>
                  <a:srgbClr val="F5F7FA"/>
                </a:solidFill>
                <a:latin typeface="Arial"/>
              </a:rPr>
              <a:t> — strip your tacit knowledge before it’s captured. “Nobody wants to be turned into a skill file and lose their job.”</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PRIVACY OF GROUPS</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When blurring isn’t enough (Franchi, Sandhaus et al.)</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0">
                <a:solidFill>
                  <a:srgbClr val="F5F7FA"/>
                </a:solidFill>
                <a:latin typeface="Arial"/>
              </a:rPr>
              <a:t>Dense Street Imagery: ~3 trillion photos of public streets (dashcams, Waymo, Lyft). Faces and plates are blurred.</a:t>
            </a:r>
          </a:p>
          <a:p>
            <a:pPr algn="l">
              <a:lnSpc>
                <a:spcPct val="112000"/>
              </a:lnSpc>
            </a:pPr>
            <a:r>
              <a:rPr sz="2000" b="0">
                <a:solidFill>
                  <a:srgbClr val="F5F7FA"/>
                </a:solidFill>
                <a:latin typeface="Arial"/>
              </a:rPr>
              <a:t/>
            </a:r>
          </a:p>
          <a:p>
            <a:pPr algn="l">
              <a:lnSpc>
                <a:spcPct val="112000"/>
              </a:lnSpc>
            </a:pPr>
            <a:r>
              <a:rPr sz="2000" b="1">
                <a:solidFill>
                  <a:srgbClr val="00FF41"/>
                </a:solidFill>
                <a:latin typeface="Arial"/>
              </a:rPr>
              <a:t>The finding: </a:t>
            </a:r>
            <a:r>
              <a:rPr sz="2000" b="0">
                <a:solidFill>
                  <a:srgbClr val="F5F7FA"/>
                </a:solidFill>
                <a:latin typeface="Arial"/>
              </a:rPr>
              <a:t>AI can still infer sensitive GROUP membership from ‘anonymized’ people. The paper red-teams the blur — then maps who’s exposed and how to protect them.</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CREATIVE OWNERSHIP</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Cloak it, or poison it</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100" b="1">
                <a:solidFill>
                  <a:srgbClr val="00FF41"/>
                </a:solidFill>
                <a:latin typeface="Arial"/>
              </a:rPr>
              <a:t>Glaze</a:t>
            </a:r>
            <a:r>
              <a:rPr sz="2100" b="0">
                <a:solidFill>
                  <a:srgbClr val="F5F7FA"/>
                </a:solidFill>
                <a:latin typeface="Arial"/>
              </a:rPr>
              <a:t> adds perturbations invisible to you but confusing to a model — it can’t copy your style.</a:t>
            </a:r>
          </a:p>
          <a:p>
            <a:pPr algn="l">
              <a:lnSpc>
                <a:spcPct val="112000"/>
              </a:lnSpc>
            </a:pPr>
            <a:r>
              <a:rPr sz="2000" b="0">
                <a:solidFill>
                  <a:srgbClr val="F5F7FA"/>
                </a:solidFill>
                <a:latin typeface="Arial"/>
              </a:rPr>
              <a:t/>
            </a:r>
          </a:p>
          <a:p>
            <a:pPr algn="l">
              <a:lnSpc>
                <a:spcPct val="112000"/>
              </a:lnSpc>
            </a:pPr>
            <a:r>
              <a:rPr sz="2100" b="1">
                <a:solidFill>
                  <a:srgbClr val="00FF41"/>
                </a:solidFill>
                <a:latin typeface="Arial"/>
              </a:rPr>
              <a:t>Nightshade</a:t>
            </a:r>
            <a:r>
              <a:rPr sz="2100" b="0">
                <a:solidFill>
                  <a:srgbClr val="F5F7FA"/>
                </a:solidFill>
                <a:latin typeface="Arial"/>
              </a:rPr>
              <a:t> goes further — poisoned images corrupt any model that trains on them. </a:t>
            </a:r>
            <a:r>
              <a:rPr sz="2100" b="1">
                <a:solidFill>
                  <a:srgbClr val="00FF41"/>
                </a:solidFill>
                <a:latin typeface="Arial"/>
              </a:rPr>
              <a:t>PhotoGuard</a:t>
            </a:r>
            <a:r>
              <a:rPr sz="2100" b="0">
                <a:solidFill>
                  <a:srgbClr val="F5F7FA"/>
                </a:solidFill>
                <a:latin typeface="Arial"/>
              </a:rPr>
              <a:t> immunizes photos so AI can’t edit them into deepfakes.</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DEEP DIVE · TRUTH</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Prove what’s real</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100" b="0">
                <a:solidFill>
                  <a:srgbClr val="F5F7FA"/>
                </a:solidFill>
                <a:latin typeface="Arial"/>
              </a:rPr>
              <a:t>Instead of spotting fakes after the fact, sign the </a:t>
            </a:r>
            <a:r>
              <a:rPr sz="2100" b="1">
                <a:solidFill>
                  <a:srgbClr val="00FF41"/>
                </a:solidFill>
                <a:latin typeface="Arial"/>
              </a:rPr>
              <a:t>real</a:t>
            </a:r>
            <a:r>
              <a:rPr sz="2100" b="0">
                <a:solidFill>
                  <a:srgbClr val="F5F7FA"/>
                </a:solidFill>
                <a:latin typeface="Arial"/>
              </a:rPr>
              <a:t> thing at creation.</a:t>
            </a:r>
          </a:p>
          <a:p>
            <a:pPr algn="l">
              <a:lnSpc>
                <a:spcPct val="112000"/>
              </a:lnSpc>
            </a:pPr>
            <a:r>
              <a:rPr sz="2000" b="0">
                <a:solidFill>
                  <a:srgbClr val="F5F7FA"/>
                </a:solidFill>
                <a:latin typeface="Arial"/>
              </a:rPr>
              <a:t/>
            </a:r>
          </a:p>
          <a:p>
            <a:pPr algn="l">
              <a:lnSpc>
                <a:spcPct val="112000"/>
              </a:lnSpc>
            </a:pPr>
            <a:r>
              <a:rPr sz="2000" b="1">
                <a:solidFill>
                  <a:srgbClr val="00FF41"/>
                </a:solidFill>
                <a:latin typeface="Arial"/>
              </a:rPr>
              <a:t>C2PA / Content Credentials</a:t>
            </a:r>
            <a:r>
              <a:rPr sz="2000" b="0">
                <a:solidFill>
                  <a:srgbClr val="F5F7FA"/>
                </a:solidFill>
                <a:latin typeface="Arial"/>
              </a:rPr>
              <a:t> attach tamper-evident provenance to media. Pair with AI-text and deepfake detectors — imperfect, but a signal.</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A REALITY CHECK</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Every defense provokes a counter-move.</a:t>
            </a:r>
          </a:p>
          <a:p>
            <a:pPr algn="l">
              <a:lnSpc>
                <a:spcPct val="112000"/>
              </a:lnSpc>
            </a:pPr>
            <a:r>
              <a:rPr sz="3000" b="1">
                <a:solidFill>
                  <a:srgbClr val="F5F7FA"/>
                </a:solidFill>
                <a:latin typeface="Arial"/>
              </a:rPr>
              <a:t>The same inference that protects can also expose.</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DECIDE · YOUR PART B</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325880"/>
            <a:ext cx="10972800" cy="1828800"/>
          </a:xfrm>
          <a:prstGeom prst="rect">
            <a:avLst/>
          </a:prstGeom>
          <a:noFill/>
        </p:spPr>
        <p:txBody>
          <a:bodyPr wrap="square" anchor="t">
            <a:spAutoFit/>
          </a:bodyPr>
          <a:lstStyle/>
          <a:p>
            <a:pPr algn="l">
              <a:lnSpc>
                <a:spcPct val="105000"/>
              </a:lnSpc>
            </a:pPr>
            <a:r>
              <a:rPr sz="3800" b="1">
                <a:solidFill>
                  <a:srgbClr val="F5F7FA"/>
                </a:solidFill>
                <a:latin typeface="Arial"/>
              </a:rPr>
              <a:t>That fightback idea from this morning — build it?</a:t>
            </a:r>
          </a:p>
        </p:txBody>
      </p:sp>
      <p:sp>
        <p:nvSpPr>
          <p:cNvPr id="5" name="TextBox 4"/>
          <p:cNvSpPr txBox="1"/>
          <p:nvPr/>
        </p:nvSpPr>
        <p:spPr>
          <a:xfrm>
            <a:off x="658368" y="3611880"/>
            <a:ext cx="10972800" cy="1737360"/>
          </a:xfrm>
          <a:prstGeom prst="rect">
            <a:avLst/>
          </a:prstGeom>
          <a:noFill/>
        </p:spPr>
        <p:txBody>
          <a:bodyPr wrap="square" anchor="t">
            <a:spAutoFit/>
          </a:bodyPr>
          <a:lstStyle/>
          <a:p>
            <a:pPr algn="l">
              <a:lnSpc>
                <a:spcPct val="135000"/>
              </a:lnSpc>
            </a:pPr>
            <a:r>
              <a:rPr sz="1900" b="1">
                <a:solidFill>
                  <a:srgbClr val="00FF41"/>
                </a:solidFill>
                <a:latin typeface="Arial"/>
              </a:rPr>
              <a:t>→  </a:t>
            </a:r>
            <a:r>
              <a:rPr sz="1900" b="0">
                <a:solidFill>
                  <a:srgbClr val="8A94A6"/>
                </a:solidFill>
                <a:latin typeface="Arial"/>
              </a:rPr>
              <a:t>Too big? Cut it to one page you can finish and demo today.</a:t>
            </a:r>
          </a:p>
          <a:p>
            <a:pPr algn="l">
              <a:lnSpc>
                <a:spcPct val="135000"/>
              </a:lnSpc>
            </a:pPr>
            <a:r>
              <a:rPr sz="1900" b="1">
                <a:solidFill>
                  <a:srgbClr val="00FF41"/>
                </a:solidFill>
                <a:latin typeface="Arial"/>
              </a:rPr>
              <a:t>→  </a:t>
            </a:r>
            <a:r>
              <a:rPr sz="1900" b="0">
                <a:solidFill>
                  <a:srgbClr val="8A94A6"/>
                </a:solidFill>
                <a:latin typeface="Arial"/>
              </a:rPr>
              <a:t>No idea, or it fizzled? Steal one from the green side, or defend the value you argued for.</a:t>
            </a:r>
          </a:p>
          <a:p>
            <a:pPr algn="l">
              <a:lnSpc>
                <a:spcPct val="135000"/>
              </a:lnSpc>
            </a:pPr>
            <a:r>
              <a:rPr sz="1900" b="1">
                <a:solidFill>
                  <a:srgbClr val="00FF41"/>
                </a:solidFill>
                <a:latin typeface="Arial"/>
              </a:rPr>
              <a:t>→  </a:t>
            </a:r>
            <a:r>
              <a:rPr sz="1900" b="0">
                <a:solidFill>
                  <a:srgbClr val="8A94A6"/>
                </a:solidFill>
                <a:latin typeface="Arial"/>
              </a:rPr>
              <a:t>Still stuck? Pair up — two people, one defense.</a:t>
            </a:r>
          </a:p>
        </p:txBody>
      </p:sp>
      <p:sp>
        <p:nvSpPr>
          <p:cNvPr id="6" name="Rounded Rectangle 5"/>
          <p:cNvSpPr/>
          <p:nvPr/>
        </p:nvSpPr>
        <p:spPr>
          <a:xfrm>
            <a:off x="640080" y="5532120"/>
            <a:ext cx="10911535" cy="658368"/>
          </a:xfrm>
          <a:prstGeom prst="roundRect">
            <a:avLst/>
          </a:prstGeom>
          <a:solidFill>
            <a:srgbClr val="151B26"/>
          </a:solidFill>
          <a:ln w="19050">
            <a:solidFill>
              <a:srgbClr val="00FF4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5532120"/>
            <a:ext cx="10362895" cy="658368"/>
          </a:xfrm>
          <a:prstGeom prst="rect">
            <a:avLst/>
          </a:prstGeom>
          <a:noFill/>
        </p:spPr>
        <p:txBody>
          <a:bodyPr wrap="square" anchor="ctr">
            <a:spAutoFit/>
          </a:bodyPr>
          <a:lstStyle/>
          <a:p>
            <a:pPr algn="l">
              <a:lnSpc>
                <a:spcPct val="100000"/>
              </a:lnSpc>
            </a:pPr>
            <a:r>
              <a:rPr sz="1600" b="1">
                <a:solidFill>
                  <a:srgbClr val="00FF41"/>
                </a:solidFill>
                <a:latin typeface="Arial"/>
              </a:rPr>
              <a:t>▶  </a:t>
            </a:r>
            <a:r>
              <a:rPr sz="1600" b="1">
                <a:solidFill>
                  <a:srgbClr val="F5F7FA"/>
                </a:solidFill>
                <a:latin typeface="Arial"/>
              </a:rPr>
              <a:t>Commit to ONE in 3 min. That’s your Part B. Then we build.</a:t>
            </a:r>
          </a:p>
        </p:txBody>
      </p:sp>
      <p:sp>
        <p:nvSpPr>
          <p:cNvPr id="8" name="TextBox 7"/>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DO IT · PART A</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First: poison your own scraper</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Open your Week 1 site (week1/7_13).</a:t>
            </a:r>
          </a:p>
          <a:p>
            <a:pPr algn="l">
              <a:lnSpc>
                <a:spcPct val="112000"/>
              </a:lnSpc>
            </a:pPr>
            <a:r>
              <a:rPr sz="2000" b="1">
                <a:solidFill>
                  <a:srgbClr val="00FF41"/>
                </a:solidFill>
                <a:latin typeface="Arial"/>
              </a:rPr>
              <a:t>•  </a:t>
            </a:r>
            <a:r>
              <a:rPr sz="2000" b="0">
                <a:solidFill>
                  <a:srgbClr val="F5F7FA"/>
                </a:solidFill>
                <a:latin typeface="Arial"/>
              </a:rPr>
              <a:t>Add 2–3 plausible fake facts, hidden with CSS clip + aria-hidden — NOT display:none.</a:t>
            </a:r>
          </a:p>
          <a:p>
            <a:pPr algn="l">
              <a:lnSpc>
                <a:spcPct val="112000"/>
              </a:lnSpc>
            </a:pPr>
            <a:r>
              <a:rPr sz="2000" b="1">
                <a:solidFill>
                  <a:srgbClr val="00FF41"/>
                </a:solidFill>
                <a:latin typeface="Arial"/>
              </a:rPr>
              <a:t>•  </a:t>
            </a:r>
            <a:r>
              <a:rPr sz="2000" b="0">
                <a:solidFill>
                  <a:srgbClr val="F5F7FA"/>
                </a:solidFill>
                <a:latin typeface="Arial"/>
              </a:rPr>
              <a:t>Verify with curl that the decoy is in the raw payload but invisible on the page.</a:t>
            </a:r>
          </a:p>
          <a:p>
            <a:pPr algn="l">
              <a:lnSpc>
                <a:spcPct val="112000"/>
              </a:lnSpc>
            </a:pPr>
            <a:r>
              <a:rPr sz="2000" b="1">
                <a:solidFill>
                  <a:srgbClr val="00FF41"/>
                </a:solidFill>
                <a:latin typeface="Arial"/>
              </a:rPr>
              <a:t>•  </a:t>
            </a:r>
            <a:r>
              <a:rPr sz="2000" b="0">
                <a:solidFill>
                  <a:srgbClr val="F5F7FA"/>
                </a:solidFill>
                <a:latin typeface="Arial"/>
              </a:rPr>
              <a:t>~30 minutes — then move to your own build.</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DO IT · PART B</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Then: build your AI-against-AI project</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Build the defense you picked — hosted, in week2/7_22/code_deliverable.</a:t>
            </a:r>
          </a:p>
          <a:p>
            <a:pPr algn="l">
              <a:lnSpc>
                <a:spcPct val="112000"/>
              </a:lnSpc>
            </a:pPr>
            <a:r>
              <a:rPr sz="2000" b="1">
                <a:solidFill>
                  <a:srgbClr val="00FF41"/>
                </a:solidFill>
                <a:latin typeface="Arial"/>
              </a:rPr>
              <a:t>•  </a:t>
            </a:r>
            <a:r>
              <a:rPr sz="2000" b="0">
                <a:solidFill>
                  <a:srgbClr val="F5F7FA"/>
                </a:solidFill>
                <a:latin typeface="Arial"/>
              </a:rPr>
              <a:t>Starting points: style cloaking · privacy noise (TrackMeNot) · block-the-bots · AI-vs-AI detector · worker-autonomy tool.</a:t>
            </a:r>
          </a:p>
          <a:p>
            <a:pPr algn="l">
              <a:lnSpc>
                <a:spcPct val="112000"/>
              </a:lnSpc>
            </a:pPr>
            <a:r>
              <a:rPr sz="2000" b="1">
                <a:solidFill>
                  <a:srgbClr val="00FF41"/>
                </a:solidFill>
                <a:latin typeface="Arial"/>
              </a:rPr>
              <a:t>•  </a:t>
            </a:r>
            <a:r>
              <a:rPr sz="2000" b="0">
                <a:solidFill>
                  <a:srgbClr val="F5F7FA"/>
                </a:solidFill>
                <a:latin typeface="Arial"/>
              </a:rPr>
              <a:t>Scope it to one page you can finish and demo — a working slice beats a grand plan.</a:t>
            </a:r>
          </a:p>
          <a:p>
            <a:pPr algn="l">
              <a:lnSpc>
                <a:spcPct val="112000"/>
              </a:lnSpc>
            </a:pPr>
            <a:r>
              <a:rPr sz="2000" b="1">
                <a:solidFill>
                  <a:srgbClr val="00FF41"/>
                </a:solidFill>
                <a:latin typeface="Arial"/>
              </a:rPr>
              <a:t>•  </a:t>
            </a:r>
            <a:r>
              <a:rPr sz="2000" b="0">
                <a:solidFill>
                  <a:srgbClr val="F5F7FA"/>
                </a:solidFill>
                <a:latin typeface="Arial"/>
              </a:rPr>
              <a:t>The live link is your submission; the report documents BOTH parts.</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THE ETHICS</a:t>
            </a:r>
          </a:p>
        </p:txBody>
      </p:sp>
      <p:sp>
        <p:nvSpPr>
          <p:cNvPr id="3" name="TextBox 2"/>
          <p:cNvSpPr txBox="1"/>
          <p:nvPr/>
        </p:nvSpPr>
        <p:spPr>
          <a:xfrm>
            <a:off x="1097280" y="548640"/>
            <a:ext cx="2743200" cy="1828800"/>
          </a:xfrm>
          <a:prstGeom prst="rect">
            <a:avLst/>
          </a:prstGeom>
          <a:noFill/>
        </p:spPr>
        <p:txBody>
          <a:bodyPr wrap="square" anchor="t">
            <a:spAutoFit/>
          </a:bodyPr>
          <a:lstStyle/>
          <a:p>
            <a:pPr algn="l">
              <a:lnSpc>
                <a:spcPct val="100000"/>
              </a:lnSpc>
            </a:pPr>
            <a:r>
              <a:rPr sz="12000" b="1">
                <a:solidFill>
                  <a:srgbClr val="00FF41"/>
                </a:solidFill>
                <a:latin typeface="Arial"/>
              </a:rPr>
              <a:t>?</a:t>
            </a:r>
          </a:p>
        </p:txBody>
      </p:sp>
      <p:sp>
        <p:nvSpPr>
          <p:cNvPr id="4" name="TextBox 3"/>
          <p:cNvSpPr txBox="1"/>
          <p:nvPr/>
        </p:nvSpPr>
        <p:spPr>
          <a:xfrm>
            <a:off x="1097280" y="2743200"/>
            <a:ext cx="10058400" cy="3108960"/>
          </a:xfrm>
          <a:prstGeom prst="rect">
            <a:avLst/>
          </a:prstGeom>
          <a:noFill/>
        </p:spPr>
        <p:txBody>
          <a:bodyPr wrap="square" anchor="t">
            <a:spAutoFit/>
          </a:bodyPr>
          <a:lstStyle/>
          <a:p>
            <a:pPr algn="l">
              <a:lnSpc>
                <a:spcPct val="112000"/>
              </a:lnSpc>
            </a:pPr>
            <a:r>
              <a:rPr sz="3000" b="1">
                <a:solidFill>
                  <a:srgbClr val="F5F7FA"/>
                </a:solidFill>
                <a:latin typeface="Arial"/>
              </a:rPr>
              <a:t>Defense vs. deception — where’s the line?</a:t>
            </a:r>
          </a:p>
          <a:p>
            <a:pPr algn="l">
              <a:lnSpc>
                <a:spcPct val="112000"/>
              </a:lnSpc>
            </a:pPr>
            <a:r>
              <a:rPr sz="3000" b="1">
                <a:solidFill>
                  <a:srgbClr val="F5F7FA"/>
                </a:solidFill>
                <a:latin typeface="Arial"/>
              </a:rPr>
              <a:t>Who could your technique harm, as well as protect?</a:t>
            </a:r>
          </a:p>
        </p:txBody>
      </p:sp>
      <p:sp>
        <p:nvSpPr>
          <p:cNvPr id="5" name="TextBox 4"/>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0B0E14"/>
        </a:solidFill>
        <a:effectLst/>
      </p:bgPr>
    </p:bg>
    <p:spTree>
      <p:nvGrpSpPr>
        <p:cNvPr id="1" name=""/>
        <p:cNvGrpSpPr/>
        <p:nvPr/>
      </p:nvGrpSpPr>
      <p:grpSpPr/>
      <p:sp>
        <p:nvSpPr>
          <p:cNvPr id="2" name="TextBox 1"/>
          <p:cNvSpPr txBox="1"/>
          <p:nvPr/>
        </p:nvSpPr>
        <p:spPr>
          <a:xfrm>
            <a:off x="640080" y="502920"/>
            <a:ext cx="10058400" cy="365760"/>
          </a:xfrm>
          <a:prstGeom prst="rect">
            <a:avLst/>
          </a:prstGeom>
          <a:noFill/>
        </p:spPr>
        <p:txBody>
          <a:bodyPr wrap="square" anchor="t">
            <a:spAutoFit/>
          </a:bodyPr>
          <a:lstStyle/>
          <a:p>
            <a:pPr algn="l">
              <a:lnSpc>
                <a:spcPct val="100000"/>
              </a:lnSpc>
            </a:pPr>
            <a:r>
              <a:rPr sz="1300" b="1">
                <a:solidFill>
                  <a:srgbClr val="00FF41"/>
                </a:solidFill>
                <a:latin typeface="Courier New"/>
              </a:rPr>
              <a:t>SOURCES</a:t>
            </a:r>
          </a:p>
        </p:txBody>
      </p:sp>
      <p:sp>
        <p:nvSpPr>
          <p:cNvPr id="3" name="Rectangle 2"/>
          <p:cNvSpPr/>
          <p:nvPr/>
        </p:nvSpPr>
        <p:spPr>
          <a:xfrm>
            <a:off x="640080" y="932688"/>
            <a:ext cx="822960" cy="73152"/>
          </a:xfrm>
          <a:prstGeom prst="rect">
            <a:avLst/>
          </a:prstGeom>
          <a:solidFill>
            <a:srgbClr val="00FF4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188720"/>
            <a:ext cx="10972800" cy="1097280"/>
          </a:xfrm>
          <a:prstGeom prst="rect">
            <a:avLst/>
          </a:prstGeom>
          <a:noFill/>
        </p:spPr>
        <p:txBody>
          <a:bodyPr wrap="square" anchor="t">
            <a:spAutoFit/>
          </a:bodyPr>
          <a:lstStyle/>
          <a:p>
            <a:pPr algn="l">
              <a:lnSpc>
                <a:spcPct val="100000"/>
              </a:lnSpc>
            </a:pPr>
            <a:r>
              <a:rPr sz="3400" b="1">
                <a:solidFill>
                  <a:srgbClr val="F5F7FA"/>
                </a:solidFill>
                <a:latin typeface="Arial"/>
              </a:rPr>
              <a:t>Where this comes from</a:t>
            </a:r>
          </a:p>
        </p:txBody>
      </p:sp>
      <p:sp>
        <p:nvSpPr>
          <p:cNvPr id="5" name="TextBox 4"/>
          <p:cNvSpPr txBox="1"/>
          <p:nvPr/>
        </p:nvSpPr>
        <p:spPr>
          <a:xfrm>
            <a:off x="658368" y="2286000"/>
            <a:ext cx="10881360" cy="3657600"/>
          </a:xfrm>
          <a:prstGeom prst="rect">
            <a:avLst/>
          </a:prstGeom>
          <a:noFill/>
        </p:spPr>
        <p:txBody>
          <a:bodyPr wrap="square" anchor="t">
            <a:spAutoFit/>
          </a:bodyPr>
          <a:lstStyle/>
          <a:p>
            <a:pPr algn="l">
              <a:lnSpc>
                <a:spcPct val="112000"/>
              </a:lnSpc>
            </a:pPr>
            <a:r>
              <a:rPr sz="2000" b="1">
                <a:solidFill>
                  <a:srgbClr val="00FF41"/>
                </a:solidFill>
                <a:latin typeface="Arial"/>
              </a:rPr>
              <a:t>•  </a:t>
            </a:r>
            <a:r>
              <a:rPr sz="2000" b="0">
                <a:solidFill>
                  <a:srgbClr val="F5F7FA"/>
                </a:solidFill>
                <a:latin typeface="Arial"/>
              </a:rPr>
              <a:t>Weidinger et al. 2022 — Taxonomy of Risks posed by Language Models (FAccT).</a:t>
            </a:r>
          </a:p>
          <a:p>
            <a:pPr algn="l">
              <a:lnSpc>
                <a:spcPct val="112000"/>
              </a:lnSpc>
            </a:pPr>
            <a:r>
              <a:rPr sz="2000" b="1">
                <a:solidFill>
                  <a:srgbClr val="00FF41"/>
                </a:solidFill>
                <a:latin typeface="Arial"/>
              </a:rPr>
              <a:t>•  </a:t>
            </a:r>
            <a:r>
              <a:rPr sz="2000" b="0">
                <a:solidFill>
                  <a:srgbClr val="F5F7FA"/>
                </a:solidFill>
                <a:latin typeface="Arial"/>
              </a:rPr>
              <a:t>Shelby et al. 2023 — Sociotechnical Harms of Algorithmic Systems (AIES).</a:t>
            </a:r>
          </a:p>
          <a:p>
            <a:pPr algn="l">
              <a:lnSpc>
                <a:spcPct val="112000"/>
              </a:lnSpc>
            </a:pPr>
            <a:r>
              <a:rPr sz="2000" b="1">
                <a:solidFill>
                  <a:srgbClr val="00FF41"/>
                </a:solidFill>
                <a:latin typeface="Arial"/>
              </a:rPr>
              <a:t>•  </a:t>
            </a:r>
            <a:r>
              <a:rPr sz="2000" b="0">
                <a:solidFill>
                  <a:srgbClr val="F5F7FA"/>
                </a:solidFill>
                <a:latin typeface="Arial"/>
              </a:rPr>
              <a:t>MIT AI Risk Repository (2024) · NIST AI Risk Management Framework (2023) · EU AI Act (2024).</a:t>
            </a:r>
          </a:p>
          <a:p>
            <a:pPr algn="l">
              <a:lnSpc>
                <a:spcPct val="112000"/>
              </a:lnSpc>
            </a:pPr>
            <a:r>
              <a:rPr sz="2000" b="1">
                <a:solidFill>
                  <a:srgbClr val="00FF41"/>
                </a:solidFill>
                <a:latin typeface="Arial"/>
              </a:rPr>
              <a:t>•  </a:t>
            </a:r>
            <a:r>
              <a:rPr sz="2000" b="0">
                <a:solidFill>
                  <a:srgbClr val="F5F7FA"/>
                </a:solidFill>
                <a:latin typeface="Arial"/>
              </a:rPr>
              <a:t>Incidents: NYT, CNN, NBC, NPR, TIME, CBS, Al Jazeera, Authors Guild; Li et al. 2023 (water).</a:t>
            </a:r>
          </a:p>
          <a:p>
            <a:pPr algn="l">
              <a:lnSpc>
                <a:spcPct val="112000"/>
              </a:lnSpc>
            </a:pPr>
            <a:r>
              <a:rPr sz="2000" b="1">
                <a:solidFill>
                  <a:srgbClr val="00FF41"/>
                </a:solidFill>
                <a:latin typeface="Arial"/>
              </a:rPr>
              <a:t>•  </a:t>
            </a:r>
            <a:r>
              <a:rPr sz="2000" b="0">
                <a:solidFill>
                  <a:srgbClr val="F5F7FA"/>
                </a:solidFill>
                <a:latin typeface="Arial"/>
              </a:rPr>
              <a:t>Defenses: Brunton &amp; Nissenbaum, Obfuscation · Franchi, Sandhaus et al. 2025 (DSI, FAccT).</a:t>
            </a:r>
          </a:p>
        </p:txBody>
      </p:sp>
      <p:sp>
        <p:nvSpPr>
          <p:cNvPr id="6" name="TextBox 5"/>
          <p:cNvSpPr txBox="1"/>
          <p:nvPr/>
        </p:nvSpPr>
        <p:spPr>
          <a:xfrm>
            <a:off x="640080" y="6355080"/>
            <a:ext cx="10972800" cy="365760"/>
          </a:xfrm>
          <a:prstGeom prst="rect">
            <a:avLst/>
          </a:prstGeom>
          <a:noFill/>
        </p:spPr>
        <p:txBody>
          <a:bodyPr wrap="square" anchor="t">
            <a:spAutoFit/>
          </a:bodyPr>
          <a:lstStyle/>
          <a:p>
            <a:pPr algn="l">
              <a:lnSpc>
                <a:spcPct val="100000"/>
              </a:lnSpc>
            </a:pPr>
            <a:r>
              <a:rPr sz="1000" b="0">
                <a:solidFill>
                  <a:srgbClr val="5A6474"/>
                </a:solidFill>
                <a:latin typeface="Courier New"/>
              </a:rPr>
              <a:t>Good Code, Good Vibes · TECHIE 1121 · Cornell Tech · Summer 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