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3-hour class. The whole deck is a split: RED = the problem (how AI harms), GREEN = the defense (AI against AI). Say that up front so the colors read as good/bad.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Everyone jots 1–2 on paper / a sticky. No wrong answers — activate what they already know before the lecture enriches it. Tell them: hold onto your fightback idea — you can BUILD it as your Part B project this afternoon. We come back to these before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Convergent across the field: Weidinger et al. 2022 (FAccT), Shelby et al. 2023 (AIES), MIT AI Risk Repository, NIST AI RMF, EU AI Act all carve up roughly these categories. This is the general OVERVIEW; we go deep on the ones we can defend. Sources slide at the end.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Grounding slide: harms aren't one bug — they enter at data, training, AND deployment. This also previews WHERE defenses can intervene (poison the data, audit the model, detect the output).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Cited claims (source + date on each card), all verified. Sources: PBS/AP + NBC/CBS (Swift); NPR (NH robocall, FCC $6M); CNN Business (Arup, May 2024).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CBS/CNBC (Character.AI settlement, 2026); Al Jazeera (Dutch toeslagenaffaire, 2021); TechCrunch/Authors Guild (Bartz v. Anthropic ~$1.5B, 2025).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NYT (Kashmir Hill, Clearview 2020); ACLU (Williams, Woodruff, Parks, Reid wrongful arrests). Image is a facial-recognition demo, CC BY 2.0 — illustrative, not the actual cases.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Li et al. arXiv:2304.03271 + UC Riverside (water — per-session framing, not 'a bottle per prompt'); NPR (emissions); TIME (Sama/Kenya, Jan 2023, &lt;$2/hr).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Turn-to-your-neighbor. Surfaces the value each student cares about — which becomes the lens for their defense/Part B. Take 2–3 out loud, map each to the red grid.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Pivot from red to green. Not every harm has a clean technical fix — but some do, and that's where we go deep.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good/bad mirror: same 7 values, now the DEFENSE column. We go deep on three: obfuscation (privacy), the China labor case (labor), and the DSI paper (privacy of groups).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e.g. 'Co-founded a kombucha startup in 2019.' Verify with curl. Full walkthrough in the repo example (activity1_obfuscation-example).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PLACEHOLDER for Hauke's own slide on prompt injection as an obfuscation defense — replace this frame with your content after importing to Google Slides.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OfficeChai, 'China's workers are weaponizing AI…'. A vivid AI-against-AI case for LABOR autonomy: refusing to feed the model that would replace you. 60% of Chinese employees already use AI weekly.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Hauke's FAccT 2025 paper (paired reading). Uses inference (AI) to expose that individual anonymization fails at the GROUP level — a contextual-integrity argument. Refine framing to taste.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Glaze/Nightshade from the SAND Lab (UChicago); PhotoGuard from MIT. Defense for creative ownership + anti-deepfake. All student-buildable as conceptual demos. Ties back to the NYT/Getty/Anthropic harms.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C2PA content credentials (Adobe/BBC/etc.). The framing shift: 'proof of human' beats 'detect the machine' as detectors get worse. Detectors are probabilistic — teach students to state confidence,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Intellectual honesty: cloaks get broken, detectors get evaded, poisoning gets filtered. And the DSI paper is the flip — inference used defensively (to prove anonymization fails) is the SAME tool an attacker uses. Defense is a posture, not a finish line.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to the fightback idea they jotted at the start. Now they DECIDE: is that the thing they build for Part B? Seed with the counter-map + deep dives if stuck. A few shout one out; map each to a value. This is the hand-off into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A edits week1/7_13. Guided; the example project has the exact snippet. Keep it short so most of the session goes to Part B.</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B is the main event of the afternoon. Rotate who drives the AI. Template: vibe-report-template.md. Remind them: name who your tool could harm as well as protect.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Obfuscation, Ch. 1 (Brunton &amp; Nissenbaum). Every defense points a weapon somewhere — name where. The DSI paper is the cautionary flip: the same inference that defends can also expose.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incidents verified against these reputable sources. Caveats to state if asked: AI 'water per prompt' is per-session not per-prompt; 'X% of the web is AI' figures are single-vendor estimates — cite NewsGuard's tracked site counts instead.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286000"/>
            <a:ext cx="10515600" cy="457200"/>
          </a:xfrm>
          <a:prstGeom prst="rect">
            <a:avLst/>
          </a:prstGeom>
          <a:noFill/>
        </p:spPr>
        <p:txBody>
          <a:bodyPr wrap="square" anchor="t">
            <a:spAutoFit/>
          </a:bodyPr>
          <a:lstStyle/>
          <a:p>
            <a:pPr algn="l">
              <a:lnSpc>
                <a:spcPct val="100000"/>
              </a:lnSpc>
            </a:pPr>
            <a:r>
              <a:rPr sz="1600" b="1">
                <a:solidFill>
                  <a:srgbClr val="00FF41"/>
                </a:solidFill>
                <a:latin typeface="Courier New"/>
              </a:rPr>
              <a:t>WEEK 2 · WEDNESDAY</a:t>
            </a:r>
          </a:p>
        </p:txBody>
      </p:sp>
      <p:sp>
        <p:nvSpPr>
          <p:cNvPr id="4" name="TextBox 3"/>
          <p:cNvSpPr txBox="1"/>
          <p:nvPr/>
        </p:nvSpPr>
        <p:spPr>
          <a:xfrm>
            <a:off x="804672" y="2788920"/>
            <a:ext cx="10515600" cy="1463040"/>
          </a:xfrm>
          <a:prstGeom prst="rect">
            <a:avLst/>
          </a:prstGeom>
          <a:noFill/>
        </p:spPr>
        <p:txBody>
          <a:bodyPr wrap="square" anchor="t">
            <a:spAutoFit/>
          </a:bodyPr>
          <a:lstStyle/>
          <a:p>
            <a:pPr algn="l">
              <a:lnSpc>
                <a:spcPct val="100000"/>
              </a:lnSpc>
            </a:pPr>
            <a:r>
              <a:rPr sz="4600" b="1">
                <a:solidFill>
                  <a:srgbClr val="F5F7FA"/>
                </a:solidFill>
                <a:latin typeface="Arial"/>
              </a:rPr>
              <a:t>AI Against AI</a:t>
            </a:r>
          </a:p>
        </p:txBody>
      </p:sp>
      <p:sp>
        <p:nvSpPr>
          <p:cNvPr id="5" name="TextBox 4"/>
          <p:cNvSpPr txBox="1"/>
          <p:nvPr/>
        </p:nvSpPr>
        <p:spPr>
          <a:xfrm>
            <a:off x="841248" y="4160520"/>
            <a:ext cx="10058400" cy="457200"/>
          </a:xfrm>
          <a:prstGeom prst="rect">
            <a:avLst/>
          </a:prstGeom>
          <a:noFill/>
        </p:spPr>
        <p:txBody>
          <a:bodyPr wrap="square" anchor="t">
            <a:spAutoFit/>
          </a:bodyPr>
          <a:lstStyle/>
          <a:p>
            <a:pPr algn="l">
              <a:lnSpc>
                <a:spcPct val="100000"/>
              </a:lnSpc>
            </a:pPr>
            <a:r>
              <a:rPr sz="1500" b="0">
                <a:solidFill>
                  <a:srgbClr val="8A94A6"/>
                </a:solidFill>
                <a:latin typeface="Arial"/>
              </a:rPr>
              <a:t>Ethics — Doing the right thing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TODAY</a:t>
            </a:r>
          </a:p>
        </p:txBody>
      </p:sp>
      <p:sp>
        <p:nvSpPr>
          <p:cNvPr id="3" name="TextBox 2"/>
          <p:cNvSpPr txBox="1"/>
          <p:nvPr/>
        </p:nvSpPr>
        <p:spPr>
          <a:xfrm>
            <a:off x="1097280" y="548640"/>
            <a:ext cx="2743200" cy="1828800"/>
          </a:xfrm>
          <a:prstGeom prst="rect">
            <a:avLst/>
          </a:prstGeom>
          <a:noFill/>
        </p:spPr>
        <p:txBody>
          <a:bodyPr wrap="square" anchor="t">
            <a:spAutoFit/>
          </a:bodyPr>
          <a:lstStyle/>
          <a:p>
            <a:pPr algn="l">
              <a:lnSpc>
                <a:spcPct val="100000"/>
              </a:lnSpc>
            </a:pPr>
            <a:r>
              <a:rPr sz="12000" b="1">
                <a:solidFill>
                  <a:srgbClr val="00FF41"/>
                </a:solidFill>
                <a:latin typeface="Arial"/>
              </a:rPr>
              <a:t>?</a:t>
            </a:r>
          </a:p>
        </p:txBody>
      </p:sp>
      <p:sp>
        <p:nvSpPr>
          <p:cNvPr id="4" name="TextBox 3"/>
          <p:cNvSpPr txBox="1"/>
          <p:nvPr/>
        </p:nvSpPr>
        <p:spPr>
          <a:xfrm>
            <a:off x="1097280" y="2743200"/>
            <a:ext cx="10058400" cy="3108960"/>
          </a:xfrm>
          <a:prstGeom prst="rect">
            <a:avLst/>
          </a:prstGeom>
          <a:noFill/>
        </p:spPr>
        <p:txBody>
          <a:bodyPr wrap="square" anchor="t">
            <a:spAutoFit/>
          </a:bodyPr>
          <a:lstStyle/>
          <a:p>
            <a:pPr algn="l">
              <a:lnSpc>
                <a:spcPct val="112000"/>
              </a:lnSpc>
            </a:pPr>
            <a:r>
              <a:rPr sz="3000" b="1">
                <a:solidFill>
                  <a:srgbClr val="F5F7FA"/>
                </a:solidFill>
                <a:latin typeface="Arial"/>
              </a:rPr>
              <a:t>How is AI unethical —</a:t>
            </a:r>
          </a:p>
          <a:p>
            <a:pPr algn="l">
              <a:lnSpc>
                <a:spcPct val="112000"/>
              </a:lnSpc>
            </a:pPr>
            <a:r>
              <a:rPr sz="3000" b="1">
                <a:solidFill>
                  <a:srgbClr val="F5F7FA"/>
                </a:solidFill>
                <a:latin typeface="Arial"/>
              </a:rPr>
              <a:t>and can we fight back with it?</a:t>
            </a:r>
          </a:p>
        </p:txBody>
      </p:sp>
      <p:sp>
        <p:nvSpPr>
          <p:cNvPr id="5" name="TextBox 4"/>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WARM-UP · 5 MIN</a:t>
            </a:r>
          </a:p>
        </p:txBody>
      </p:sp>
      <p:sp>
        <p:nvSpPr>
          <p:cNvPr id="3" name="TextBox 2"/>
          <p:cNvSpPr txBox="1"/>
          <p:nvPr/>
        </p:nvSpPr>
        <p:spPr>
          <a:xfrm>
            <a:off x="1097280" y="548640"/>
            <a:ext cx="2743200" cy="1828800"/>
          </a:xfrm>
          <a:prstGeom prst="rect">
            <a:avLst/>
          </a:prstGeom>
          <a:noFill/>
        </p:spPr>
        <p:txBody>
          <a:bodyPr wrap="square" anchor="t">
            <a:spAutoFit/>
          </a:bodyPr>
          <a:lstStyle/>
          <a:p>
            <a:pPr algn="l">
              <a:lnSpc>
                <a:spcPct val="100000"/>
              </a:lnSpc>
            </a:pPr>
            <a:r>
              <a:rPr sz="12000" b="1">
                <a:solidFill>
                  <a:srgbClr val="00FF41"/>
                </a:solidFill>
                <a:latin typeface="Arial"/>
              </a:rPr>
              <a:t>?</a:t>
            </a:r>
          </a:p>
        </p:txBody>
      </p:sp>
      <p:sp>
        <p:nvSpPr>
          <p:cNvPr id="4" name="TextBox 3"/>
          <p:cNvSpPr txBox="1"/>
          <p:nvPr/>
        </p:nvSpPr>
        <p:spPr>
          <a:xfrm>
            <a:off x="1097280" y="2743200"/>
            <a:ext cx="10058400" cy="3108960"/>
          </a:xfrm>
          <a:prstGeom prst="rect">
            <a:avLst/>
          </a:prstGeom>
          <a:noFill/>
        </p:spPr>
        <p:txBody>
          <a:bodyPr wrap="square" anchor="t">
            <a:spAutoFit/>
          </a:bodyPr>
          <a:lstStyle/>
          <a:p>
            <a:pPr algn="l">
              <a:lnSpc>
                <a:spcPct val="112000"/>
              </a:lnSpc>
            </a:pPr>
            <a:r>
              <a:rPr sz="3000" b="1">
                <a:solidFill>
                  <a:srgbClr val="F5F7FA"/>
                </a:solidFill>
                <a:latin typeface="Arial"/>
              </a:rPr>
              <a:t>Name one AI harm you’ve felt or seen —</a:t>
            </a:r>
          </a:p>
          <a:p>
            <a:pPr algn="l">
              <a:lnSpc>
                <a:spcPct val="112000"/>
              </a:lnSpc>
            </a:pPr>
            <a:r>
              <a:rPr sz="3000" b="1">
                <a:solidFill>
                  <a:srgbClr val="F5F7FA"/>
                </a:solidFill>
                <a:latin typeface="Arial"/>
              </a:rPr>
              <a:t>and one way you’d fight back. Keep it.</a:t>
            </a:r>
          </a:p>
        </p:txBody>
      </p:sp>
      <p:sp>
        <p:nvSpPr>
          <p:cNvPr id="5" name="TextBox 4"/>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10515600" cy="548640"/>
          </a:xfrm>
          <a:prstGeom prst="rect">
            <a:avLst/>
          </a:prstGeom>
          <a:noFill/>
        </p:spPr>
        <p:txBody>
          <a:bodyPr wrap="square" anchor="t">
            <a:spAutoFit/>
          </a:bodyPr>
          <a:lstStyle/>
          <a:p>
            <a:pPr algn="l">
              <a:lnSpc>
                <a:spcPct val="100000"/>
              </a:lnSpc>
            </a:pPr>
            <a:r>
              <a:rPr sz="1800" b="1">
                <a:solidFill>
                  <a:srgbClr val="FF4D4D"/>
                </a:solidFill>
                <a:latin typeface="Courier New"/>
              </a:rPr>
              <a:t>⚠  ACT 1 · THE PROBLEM</a:t>
            </a:r>
          </a:p>
        </p:txBody>
      </p:sp>
      <p:sp>
        <p:nvSpPr>
          <p:cNvPr id="4" name="TextBox 3"/>
          <p:cNvSpPr txBox="1"/>
          <p:nvPr/>
        </p:nvSpPr>
        <p:spPr>
          <a:xfrm>
            <a:off x="804672" y="2743200"/>
            <a:ext cx="10515600" cy="1554480"/>
          </a:xfrm>
          <a:prstGeom prst="rect">
            <a:avLst/>
          </a:prstGeom>
          <a:noFill/>
        </p:spPr>
        <p:txBody>
          <a:bodyPr wrap="square" anchor="t">
            <a:spAutoFit/>
          </a:bodyPr>
          <a:lstStyle/>
          <a:p>
            <a:pPr algn="l">
              <a:lnSpc>
                <a:spcPct val="100000"/>
              </a:lnSpc>
            </a:pPr>
            <a:r>
              <a:rPr sz="4800" b="1">
                <a:solidFill>
                  <a:srgbClr val="F5F7FA"/>
                </a:solidFill>
                <a:latin typeface="Arial"/>
              </a:rPr>
              <a:t>How AI is unethical</a:t>
            </a:r>
          </a:p>
        </p:txBody>
      </p:sp>
      <p:sp>
        <p:nvSpPr>
          <p:cNvPr id="5" name="TextBox 4"/>
          <p:cNvSpPr txBox="1"/>
          <p:nvPr/>
        </p:nvSpPr>
        <p:spPr>
          <a:xfrm>
            <a:off x="841248" y="4297680"/>
            <a:ext cx="10058400" cy="640080"/>
          </a:xfrm>
          <a:prstGeom prst="rect">
            <a:avLst/>
          </a:prstGeom>
          <a:noFill/>
        </p:spPr>
        <p:txBody>
          <a:bodyPr wrap="square" anchor="t">
            <a:spAutoFit/>
          </a:bodyPr>
          <a:lstStyle/>
          <a:p>
            <a:pPr algn="l">
              <a:lnSpc>
                <a:spcPct val="100000"/>
              </a:lnSpc>
            </a:pPr>
            <a:r>
              <a:rPr sz="1900" b="0">
                <a:solidFill>
                  <a:srgbClr val="8A94A6"/>
                </a:solidFill>
                <a:latin typeface="Arial"/>
              </a:rPr>
              <a:t>A map of the values AI puts under threat — then the receipts.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FF4D4D"/>
                </a:solidFill>
                <a:latin typeface="Courier New"/>
              </a:rPr>
              <a:t>THE MAP · VALUES UNDER THREAT</a:t>
            </a:r>
          </a:p>
        </p:txBody>
      </p:sp>
      <p:sp>
        <p:nvSpPr>
          <p:cNvPr id="3" name="Rectangle 2"/>
          <p:cNvSpPr/>
          <p:nvPr/>
        </p:nvSpPr>
        <p:spPr>
          <a:xfrm>
            <a:off x="640080" y="932688"/>
            <a:ext cx="822960" cy="73152"/>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024128"/>
            <a:ext cx="10972800" cy="822960"/>
          </a:xfrm>
          <a:prstGeom prst="rect">
            <a:avLst/>
          </a:prstGeom>
          <a:noFill/>
        </p:spPr>
        <p:txBody>
          <a:bodyPr wrap="square" anchor="t">
            <a:spAutoFit/>
          </a:bodyPr>
          <a:lstStyle/>
          <a:p>
            <a:pPr algn="l">
              <a:lnSpc>
                <a:spcPct val="100000"/>
              </a:lnSpc>
            </a:pPr>
            <a:r>
              <a:rPr sz="3000" b="1">
                <a:solidFill>
                  <a:srgbClr val="F5F7FA"/>
                </a:solidFill>
                <a:latin typeface="Arial"/>
              </a:rPr>
              <a:t>What AI puts at risk</a:t>
            </a:r>
          </a:p>
        </p:txBody>
      </p:sp>
      <p:sp>
        <p:nvSpPr>
          <p:cNvPr id="5" name="Rounded Rectangle 4"/>
          <p:cNvSpPr/>
          <p:nvPr/>
        </p:nvSpPr>
        <p:spPr>
          <a:xfrm>
            <a:off x="640080" y="201168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011680"/>
            <a:ext cx="82296" cy="196596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223113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Fairness &amp; Justice</a:t>
            </a:r>
          </a:p>
        </p:txBody>
      </p:sp>
      <p:sp>
        <p:nvSpPr>
          <p:cNvPr id="8" name="TextBox 7"/>
          <p:cNvSpPr txBox="1"/>
          <p:nvPr/>
        </p:nvSpPr>
        <p:spPr>
          <a:xfrm>
            <a:off x="896112" y="318211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Bias encoded and amplified — unequal calls in hiring, lending, policing, and healthcare.</a:t>
            </a:r>
          </a:p>
        </p:txBody>
      </p:sp>
      <p:sp>
        <p:nvSpPr>
          <p:cNvPr id="9" name="Rounded Rectangle 8"/>
          <p:cNvSpPr/>
          <p:nvPr/>
        </p:nvSpPr>
        <p:spPr>
          <a:xfrm>
            <a:off x="3436543" y="201168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36543" y="2011680"/>
            <a:ext cx="82296" cy="196596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92575" y="223113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Privacy &amp; Surveillance</a:t>
            </a:r>
          </a:p>
        </p:txBody>
      </p:sp>
      <p:sp>
        <p:nvSpPr>
          <p:cNvPr id="12" name="TextBox 11"/>
          <p:cNvSpPr txBox="1"/>
          <p:nvPr/>
        </p:nvSpPr>
        <p:spPr>
          <a:xfrm>
            <a:off x="3692575" y="318211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Personal data scraped and memorized; biometric tracking and mass surveillance.</a:t>
            </a:r>
          </a:p>
        </p:txBody>
      </p:sp>
      <p:sp>
        <p:nvSpPr>
          <p:cNvPr id="13" name="Rounded Rectangle 12"/>
          <p:cNvSpPr/>
          <p:nvPr/>
        </p:nvSpPr>
        <p:spPr>
          <a:xfrm>
            <a:off x="6233006" y="201168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6" y="2011680"/>
            <a:ext cx="82296" cy="196596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8" y="223113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Truth &amp; Democracy</a:t>
            </a:r>
          </a:p>
        </p:txBody>
      </p:sp>
      <p:sp>
        <p:nvSpPr>
          <p:cNvPr id="16" name="TextBox 15"/>
          <p:cNvSpPr txBox="1"/>
          <p:nvPr/>
        </p:nvSpPr>
        <p:spPr>
          <a:xfrm>
            <a:off x="6489038" y="318211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Fluent falsehoods and cheap propaganda erode shared facts and fair elections.</a:t>
            </a:r>
          </a:p>
        </p:txBody>
      </p:sp>
      <p:sp>
        <p:nvSpPr>
          <p:cNvPr id="17" name="Rounded Rectangle 16"/>
          <p:cNvSpPr/>
          <p:nvPr/>
        </p:nvSpPr>
        <p:spPr>
          <a:xfrm>
            <a:off x="9029469" y="201168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29469" y="2011680"/>
            <a:ext cx="82296" cy="196596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5501" y="223113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Autonomy &amp; Dignity</a:t>
            </a:r>
          </a:p>
        </p:txBody>
      </p:sp>
      <p:sp>
        <p:nvSpPr>
          <p:cNvPr id="20" name="TextBox 19"/>
          <p:cNvSpPr txBox="1"/>
          <p:nvPr/>
        </p:nvSpPr>
        <p:spPr>
          <a:xfrm>
            <a:off x="9285501" y="318211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Manipulative, addictive design and social scoring strip human agency.</a:t>
            </a:r>
          </a:p>
        </p:txBody>
      </p:sp>
      <p:sp>
        <p:nvSpPr>
          <p:cNvPr id="21" name="Rounded Rectangle 20"/>
          <p:cNvSpPr/>
          <p:nvPr/>
        </p:nvSpPr>
        <p:spPr>
          <a:xfrm>
            <a:off x="640080" y="425196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 y="4251960"/>
            <a:ext cx="82296" cy="196596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47141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Safety</a:t>
            </a:r>
          </a:p>
        </p:txBody>
      </p:sp>
      <p:sp>
        <p:nvSpPr>
          <p:cNvPr id="24" name="TextBox 23"/>
          <p:cNvSpPr txBox="1"/>
          <p:nvPr/>
        </p:nvSpPr>
        <p:spPr>
          <a:xfrm>
            <a:off x="896112" y="542239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Malicious use, deepfakes, voice-clone fraud, and companion-bot harm.</a:t>
            </a:r>
          </a:p>
        </p:txBody>
      </p:sp>
      <p:sp>
        <p:nvSpPr>
          <p:cNvPr id="25" name="Rounded Rectangle 24"/>
          <p:cNvSpPr/>
          <p:nvPr/>
        </p:nvSpPr>
        <p:spPr>
          <a:xfrm>
            <a:off x="3436543" y="425196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436543" y="4251960"/>
            <a:ext cx="82296" cy="196596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92575" y="447141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Labor &amp; Environment</a:t>
            </a:r>
          </a:p>
        </p:txBody>
      </p:sp>
      <p:sp>
        <p:nvSpPr>
          <p:cNvPr id="28" name="TextBox 27"/>
          <p:cNvSpPr txBox="1"/>
          <p:nvPr/>
        </p:nvSpPr>
        <p:spPr>
          <a:xfrm>
            <a:off x="3692575" y="542239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Jobs displaced onto low-paid ‘ghost work’; energy and freshwater burned.</a:t>
            </a:r>
          </a:p>
        </p:txBody>
      </p:sp>
      <p:sp>
        <p:nvSpPr>
          <p:cNvPr id="29" name="Rounded Rectangle 28"/>
          <p:cNvSpPr/>
          <p:nvPr/>
        </p:nvSpPr>
        <p:spPr>
          <a:xfrm>
            <a:off x="6233006" y="425196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33006" y="4251960"/>
            <a:ext cx="82296" cy="196596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89038" y="447141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Accountability &amp; Authenticity</a:t>
            </a:r>
          </a:p>
        </p:txBody>
      </p:sp>
      <p:sp>
        <p:nvSpPr>
          <p:cNvPr id="32" name="TextBox 31"/>
          <p:cNvSpPr txBox="1"/>
          <p:nvPr/>
        </p:nvSpPr>
        <p:spPr>
          <a:xfrm>
            <a:off x="6489038" y="542239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Opaque decisions with no redress; synthetic media and style theft.</a:t>
            </a:r>
          </a:p>
        </p:txBody>
      </p:sp>
      <p:sp>
        <p:nvSpPr>
          <p:cNvPr id="33" name="TextBox 32"/>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FF4D4D"/>
                </a:solidFill>
                <a:latin typeface="Courier New"/>
              </a:rPr>
              <a:t>HOW IT HAPPENS</a:t>
            </a:r>
          </a:p>
        </p:txBody>
      </p:sp>
      <p:sp>
        <p:nvSpPr>
          <p:cNvPr id="3" name="Rectangle 2"/>
          <p:cNvSpPr/>
          <p:nvPr/>
        </p:nvSpPr>
        <p:spPr>
          <a:xfrm>
            <a:off x="640080" y="932688"/>
            <a:ext cx="822960" cy="73152"/>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914400"/>
          </a:xfrm>
          <a:prstGeom prst="rect">
            <a:avLst/>
          </a:prstGeom>
          <a:noFill/>
        </p:spPr>
        <p:txBody>
          <a:bodyPr wrap="square" anchor="t">
            <a:spAutoFit/>
          </a:bodyPr>
          <a:lstStyle/>
          <a:p>
            <a:pPr algn="l">
              <a:lnSpc>
                <a:spcPct val="100000"/>
              </a:lnSpc>
            </a:pPr>
            <a:r>
              <a:rPr sz="3200" b="1">
                <a:solidFill>
                  <a:srgbClr val="F5F7FA"/>
                </a:solidFill>
                <a:latin typeface="Arial"/>
              </a:rPr>
              <a:t>The harm enters at every stage</a:t>
            </a:r>
          </a:p>
        </p:txBody>
      </p:sp>
      <p:sp>
        <p:nvSpPr>
          <p:cNvPr id="5" name="Rounded Rectangle 4"/>
          <p:cNvSpPr/>
          <p:nvPr/>
        </p:nvSpPr>
        <p:spPr>
          <a:xfrm>
            <a:off x="640080" y="2468880"/>
            <a:ext cx="3393338" cy="338328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468880"/>
            <a:ext cx="3393338" cy="82296"/>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788920"/>
            <a:ext cx="2844698" cy="457200"/>
          </a:xfrm>
          <a:prstGeom prst="rect">
            <a:avLst/>
          </a:prstGeom>
          <a:noFill/>
        </p:spPr>
        <p:txBody>
          <a:bodyPr wrap="square" anchor="t">
            <a:spAutoFit/>
          </a:bodyPr>
          <a:lstStyle/>
          <a:p>
            <a:pPr algn="l">
              <a:lnSpc>
                <a:spcPct val="100000"/>
              </a:lnSpc>
            </a:pPr>
            <a:r>
              <a:rPr sz="1200" b="1">
                <a:solidFill>
                  <a:srgbClr val="FF4D4D"/>
                </a:solidFill>
                <a:latin typeface="Courier New"/>
              </a:rPr>
              <a:t>1 · DATA</a:t>
            </a:r>
          </a:p>
        </p:txBody>
      </p:sp>
      <p:sp>
        <p:nvSpPr>
          <p:cNvPr id="8" name="TextBox 7"/>
          <p:cNvSpPr txBox="1"/>
          <p:nvPr/>
        </p:nvSpPr>
        <p:spPr>
          <a:xfrm>
            <a:off x="914400" y="3246120"/>
            <a:ext cx="2844698" cy="822960"/>
          </a:xfrm>
          <a:prstGeom prst="rect">
            <a:avLst/>
          </a:prstGeom>
          <a:noFill/>
        </p:spPr>
        <p:txBody>
          <a:bodyPr wrap="square" anchor="t">
            <a:spAutoFit/>
          </a:bodyPr>
          <a:lstStyle/>
          <a:p>
            <a:pPr algn="l">
              <a:lnSpc>
                <a:spcPct val="100000"/>
              </a:lnSpc>
            </a:pPr>
            <a:r>
              <a:rPr sz="2000" b="1">
                <a:solidFill>
                  <a:srgbClr val="F5F7FA"/>
                </a:solidFill>
                <a:latin typeface="Arial"/>
              </a:rPr>
              <a:t>What it learns from</a:t>
            </a:r>
          </a:p>
        </p:txBody>
      </p:sp>
      <p:sp>
        <p:nvSpPr>
          <p:cNvPr id="9" name="TextBox 8"/>
          <p:cNvSpPr txBox="1"/>
          <p:nvPr/>
        </p:nvSpPr>
        <p:spPr>
          <a:xfrm>
            <a:off x="914400" y="4114800"/>
            <a:ext cx="2844698" cy="1554480"/>
          </a:xfrm>
          <a:prstGeom prst="rect">
            <a:avLst/>
          </a:prstGeom>
          <a:noFill/>
        </p:spPr>
        <p:txBody>
          <a:bodyPr wrap="square" anchor="t">
            <a:spAutoFit/>
          </a:bodyPr>
          <a:lstStyle/>
          <a:p>
            <a:pPr algn="l">
              <a:lnSpc>
                <a:spcPct val="110000"/>
              </a:lnSpc>
            </a:pPr>
            <a:r>
              <a:rPr sz="1500" b="0">
                <a:solidFill>
                  <a:srgbClr val="8A94A6"/>
                </a:solidFill>
                <a:latin typeface="Arial"/>
              </a:rPr>
              <a:t>Scraped without consent; carries society’s bias, private info, and copyrighted work into the model.</a:t>
            </a:r>
          </a:p>
        </p:txBody>
      </p:sp>
      <p:sp>
        <p:nvSpPr>
          <p:cNvPr id="10" name="Rounded Rectangle 9"/>
          <p:cNvSpPr/>
          <p:nvPr/>
        </p:nvSpPr>
        <p:spPr>
          <a:xfrm>
            <a:off x="4399178" y="2468880"/>
            <a:ext cx="3393338" cy="338328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99178" y="2468880"/>
            <a:ext cx="3393338" cy="82296"/>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73498" y="2788920"/>
            <a:ext cx="2844698" cy="457200"/>
          </a:xfrm>
          <a:prstGeom prst="rect">
            <a:avLst/>
          </a:prstGeom>
          <a:noFill/>
        </p:spPr>
        <p:txBody>
          <a:bodyPr wrap="square" anchor="t">
            <a:spAutoFit/>
          </a:bodyPr>
          <a:lstStyle/>
          <a:p>
            <a:pPr algn="l">
              <a:lnSpc>
                <a:spcPct val="100000"/>
              </a:lnSpc>
            </a:pPr>
            <a:r>
              <a:rPr sz="1200" b="1">
                <a:solidFill>
                  <a:srgbClr val="FF4D4D"/>
                </a:solidFill>
                <a:latin typeface="Courier New"/>
              </a:rPr>
              <a:t>2 · TRAINING</a:t>
            </a:r>
          </a:p>
        </p:txBody>
      </p:sp>
      <p:sp>
        <p:nvSpPr>
          <p:cNvPr id="13" name="TextBox 12"/>
          <p:cNvSpPr txBox="1"/>
          <p:nvPr/>
        </p:nvSpPr>
        <p:spPr>
          <a:xfrm>
            <a:off x="4673498" y="3246120"/>
            <a:ext cx="2844698" cy="822960"/>
          </a:xfrm>
          <a:prstGeom prst="rect">
            <a:avLst/>
          </a:prstGeom>
          <a:noFill/>
        </p:spPr>
        <p:txBody>
          <a:bodyPr wrap="square" anchor="t">
            <a:spAutoFit/>
          </a:bodyPr>
          <a:lstStyle/>
          <a:p>
            <a:pPr algn="l">
              <a:lnSpc>
                <a:spcPct val="100000"/>
              </a:lnSpc>
            </a:pPr>
            <a:r>
              <a:rPr sz="2000" b="1">
                <a:solidFill>
                  <a:srgbClr val="F5F7FA"/>
                </a:solidFill>
                <a:latin typeface="Arial"/>
              </a:rPr>
              <a:t>What gets baked in</a:t>
            </a:r>
          </a:p>
        </p:txBody>
      </p:sp>
      <p:sp>
        <p:nvSpPr>
          <p:cNvPr id="14" name="TextBox 13"/>
          <p:cNvSpPr txBox="1"/>
          <p:nvPr/>
        </p:nvSpPr>
        <p:spPr>
          <a:xfrm>
            <a:off x="4673498" y="4114800"/>
            <a:ext cx="2844698" cy="1554480"/>
          </a:xfrm>
          <a:prstGeom prst="rect">
            <a:avLst/>
          </a:prstGeom>
          <a:noFill/>
        </p:spPr>
        <p:txBody>
          <a:bodyPr wrap="square" anchor="t">
            <a:spAutoFit/>
          </a:bodyPr>
          <a:lstStyle/>
          <a:p>
            <a:pPr algn="l">
              <a:lnSpc>
                <a:spcPct val="110000"/>
              </a:lnSpc>
            </a:pPr>
            <a:r>
              <a:rPr sz="1500" b="0">
                <a:solidFill>
                  <a:srgbClr val="8A94A6"/>
                </a:solidFill>
                <a:latin typeface="Arial"/>
              </a:rPr>
              <a:t>The model memorizes and amplifies patterns — including the ones we’d never choose on purpose.</a:t>
            </a:r>
          </a:p>
        </p:txBody>
      </p:sp>
      <p:sp>
        <p:nvSpPr>
          <p:cNvPr id="15" name="Rounded Rectangle 14"/>
          <p:cNvSpPr/>
          <p:nvPr/>
        </p:nvSpPr>
        <p:spPr>
          <a:xfrm>
            <a:off x="8158276" y="2468880"/>
            <a:ext cx="3393338" cy="338328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58276" y="2468880"/>
            <a:ext cx="3393338" cy="82296"/>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32596" y="2788920"/>
            <a:ext cx="2844698" cy="457200"/>
          </a:xfrm>
          <a:prstGeom prst="rect">
            <a:avLst/>
          </a:prstGeom>
          <a:noFill/>
        </p:spPr>
        <p:txBody>
          <a:bodyPr wrap="square" anchor="t">
            <a:spAutoFit/>
          </a:bodyPr>
          <a:lstStyle/>
          <a:p>
            <a:pPr algn="l">
              <a:lnSpc>
                <a:spcPct val="100000"/>
              </a:lnSpc>
            </a:pPr>
            <a:r>
              <a:rPr sz="1200" b="1">
                <a:solidFill>
                  <a:srgbClr val="FF4D4D"/>
                </a:solidFill>
                <a:latin typeface="Courier New"/>
              </a:rPr>
              <a:t>3 · DEPLOYMENT</a:t>
            </a:r>
          </a:p>
        </p:txBody>
      </p:sp>
      <p:sp>
        <p:nvSpPr>
          <p:cNvPr id="18" name="TextBox 17"/>
          <p:cNvSpPr txBox="1"/>
          <p:nvPr/>
        </p:nvSpPr>
        <p:spPr>
          <a:xfrm>
            <a:off x="8432596" y="3246120"/>
            <a:ext cx="2844698" cy="822960"/>
          </a:xfrm>
          <a:prstGeom prst="rect">
            <a:avLst/>
          </a:prstGeom>
          <a:noFill/>
        </p:spPr>
        <p:txBody>
          <a:bodyPr wrap="square" anchor="t">
            <a:spAutoFit/>
          </a:bodyPr>
          <a:lstStyle/>
          <a:p>
            <a:pPr algn="l">
              <a:lnSpc>
                <a:spcPct val="100000"/>
              </a:lnSpc>
            </a:pPr>
            <a:r>
              <a:rPr sz="2000" b="1">
                <a:solidFill>
                  <a:srgbClr val="F5F7FA"/>
                </a:solidFill>
                <a:latin typeface="Arial"/>
              </a:rPr>
              <a:t>Where it lands</a:t>
            </a:r>
          </a:p>
        </p:txBody>
      </p:sp>
      <p:sp>
        <p:nvSpPr>
          <p:cNvPr id="19" name="TextBox 18"/>
          <p:cNvSpPr txBox="1"/>
          <p:nvPr/>
        </p:nvSpPr>
        <p:spPr>
          <a:xfrm>
            <a:off x="8432596" y="4114800"/>
            <a:ext cx="2844698" cy="1554480"/>
          </a:xfrm>
          <a:prstGeom prst="rect">
            <a:avLst/>
          </a:prstGeom>
          <a:noFill/>
        </p:spPr>
        <p:txBody>
          <a:bodyPr wrap="square" anchor="t">
            <a:spAutoFit/>
          </a:bodyPr>
          <a:lstStyle/>
          <a:p>
            <a:pPr algn="l">
              <a:lnSpc>
                <a:spcPct val="110000"/>
              </a:lnSpc>
            </a:pPr>
            <a:r>
              <a:rPr sz="1500" b="0">
                <a:solidFill>
                  <a:srgbClr val="8A94A6"/>
                </a:solidFill>
                <a:latin typeface="Arial"/>
              </a:rPr>
              <a:t>Confident output at massive scale, in hiring, courts, feeds, and chats — with no one accountable.</a:t>
            </a:r>
          </a:p>
        </p:txBody>
      </p:sp>
      <p:sp>
        <p:nvSpPr>
          <p:cNvPr id="20" name="TextBox 19"/>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FF4D4D"/>
                </a:solidFill>
                <a:latin typeface="Courier New"/>
              </a:rPr>
              <a:t>NOT HYPOTHETICAL · THE RECEIPTS</a:t>
            </a:r>
          </a:p>
        </p:txBody>
      </p:sp>
      <p:sp>
        <p:nvSpPr>
          <p:cNvPr id="3" name="Rectangle 2"/>
          <p:cNvSpPr/>
          <p:nvPr/>
        </p:nvSpPr>
        <p:spPr>
          <a:xfrm>
            <a:off x="640080" y="932688"/>
            <a:ext cx="822960" cy="73152"/>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972800" cy="822960"/>
          </a:xfrm>
          <a:prstGeom prst="rect">
            <a:avLst/>
          </a:prstGeom>
          <a:noFill/>
        </p:spPr>
        <p:txBody>
          <a:bodyPr wrap="square" anchor="t">
            <a:spAutoFit/>
          </a:bodyPr>
          <a:lstStyle/>
          <a:p>
            <a:pPr algn="l">
              <a:lnSpc>
                <a:spcPct val="100000"/>
              </a:lnSpc>
            </a:pPr>
            <a:r>
              <a:rPr sz="3000" b="1">
                <a:solidFill>
                  <a:srgbClr val="F5F7FA"/>
                </a:solidFill>
                <a:latin typeface="Arial"/>
              </a:rPr>
              <a:t>It’s already happening</a:t>
            </a:r>
          </a:p>
        </p:txBody>
      </p:sp>
      <p:sp>
        <p:nvSpPr>
          <p:cNvPr id="5" name="Rounded Rectangle 4"/>
          <p:cNvSpPr/>
          <p:nvPr/>
        </p:nvSpPr>
        <p:spPr>
          <a:xfrm>
            <a:off x="640080" y="2240280"/>
            <a:ext cx="3393338" cy="365760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240280"/>
            <a:ext cx="3393338" cy="4572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2295144"/>
            <a:ext cx="2881274" cy="365760"/>
          </a:xfrm>
          <a:prstGeom prst="rect">
            <a:avLst/>
          </a:prstGeom>
          <a:noFill/>
        </p:spPr>
        <p:txBody>
          <a:bodyPr wrap="square" anchor="ctr">
            <a:spAutoFit/>
          </a:bodyPr>
          <a:lstStyle/>
          <a:p>
            <a:pPr algn="l">
              <a:lnSpc>
                <a:spcPct val="100000"/>
              </a:lnSpc>
            </a:pPr>
            <a:r>
              <a:rPr sz="1100" b="1">
                <a:solidFill>
                  <a:srgbClr val="0B0E14"/>
                </a:solidFill>
                <a:latin typeface="Courier New"/>
              </a:rPr>
              <a:t>PBS / AP · JAN 2024</a:t>
            </a:r>
          </a:p>
        </p:txBody>
      </p:sp>
      <p:sp>
        <p:nvSpPr>
          <p:cNvPr id="8" name="TextBox 7"/>
          <p:cNvSpPr txBox="1"/>
          <p:nvPr/>
        </p:nvSpPr>
        <p:spPr>
          <a:xfrm>
            <a:off x="896112" y="2926080"/>
            <a:ext cx="2881274" cy="2194560"/>
          </a:xfrm>
          <a:prstGeom prst="rect">
            <a:avLst/>
          </a:prstGeom>
          <a:noFill/>
        </p:spPr>
        <p:txBody>
          <a:bodyPr wrap="square" anchor="t">
            <a:spAutoFit/>
          </a:bodyPr>
          <a:lstStyle/>
          <a:p>
            <a:pPr algn="l">
              <a:lnSpc>
                <a:spcPct val="110000"/>
              </a:lnSpc>
            </a:pPr>
            <a:r>
              <a:rPr sz="1800" b="1">
                <a:solidFill>
                  <a:srgbClr val="F5F7FA"/>
                </a:solidFill>
                <a:latin typeface="Arial"/>
              </a:rPr>
              <a:t>“X blocks Taylor Swift searches as explicit AI deepfakes circulate — one post seen ~47M times.”</a:t>
            </a:r>
          </a:p>
        </p:txBody>
      </p:sp>
      <p:sp>
        <p:nvSpPr>
          <p:cNvPr id="9" name="TextBox 8"/>
          <p:cNvSpPr txBox="1"/>
          <p:nvPr/>
        </p:nvSpPr>
        <p:spPr>
          <a:xfrm>
            <a:off x="896112" y="5330952"/>
            <a:ext cx="2881274" cy="457200"/>
          </a:xfrm>
          <a:prstGeom prst="rect">
            <a:avLst/>
          </a:prstGeom>
          <a:noFill/>
        </p:spPr>
        <p:txBody>
          <a:bodyPr wrap="square" anchor="t">
            <a:spAutoFit/>
          </a:bodyPr>
          <a:lstStyle/>
          <a:p>
            <a:pPr algn="l">
              <a:lnSpc>
                <a:spcPct val="100000"/>
              </a:lnSpc>
            </a:pPr>
            <a:r>
              <a:rPr sz="1200" b="0">
                <a:solidFill>
                  <a:srgbClr val="8A94A6"/>
                </a:solidFill>
                <a:latin typeface="Courier New"/>
              </a:rPr>
              <a:t>▸ threatens </a:t>
            </a:r>
            <a:r>
              <a:rPr sz="1200" b="1">
                <a:solidFill>
                  <a:srgbClr val="FF4D4D"/>
                </a:solidFill>
                <a:latin typeface="Courier New"/>
              </a:rPr>
              <a:t>Dignity</a:t>
            </a:r>
          </a:p>
        </p:txBody>
      </p:sp>
      <p:sp>
        <p:nvSpPr>
          <p:cNvPr id="10" name="Rounded Rectangle 9"/>
          <p:cNvSpPr/>
          <p:nvPr/>
        </p:nvSpPr>
        <p:spPr>
          <a:xfrm>
            <a:off x="4399178" y="2240280"/>
            <a:ext cx="3393338" cy="365760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99178" y="2240280"/>
            <a:ext cx="3393338" cy="4572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55210" y="2295144"/>
            <a:ext cx="2881274" cy="365760"/>
          </a:xfrm>
          <a:prstGeom prst="rect">
            <a:avLst/>
          </a:prstGeom>
          <a:noFill/>
        </p:spPr>
        <p:txBody>
          <a:bodyPr wrap="square" anchor="ctr">
            <a:spAutoFit/>
          </a:bodyPr>
          <a:lstStyle/>
          <a:p>
            <a:pPr algn="l">
              <a:lnSpc>
                <a:spcPct val="100000"/>
              </a:lnSpc>
            </a:pPr>
            <a:r>
              <a:rPr sz="1100" b="1">
                <a:solidFill>
                  <a:srgbClr val="0B0E14"/>
                </a:solidFill>
                <a:latin typeface="Courier New"/>
              </a:rPr>
              <a:t>NPR · 2024</a:t>
            </a:r>
          </a:p>
        </p:txBody>
      </p:sp>
      <p:sp>
        <p:nvSpPr>
          <p:cNvPr id="13" name="TextBox 12"/>
          <p:cNvSpPr txBox="1"/>
          <p:nvPr/>
        </p:nvSpPr>
        <p:spPr>
          <a:xfrm>
            <a:off x="4655210" y="2926080"/>
            <a:ext cx="2881274" cy="2194560"/>
          </a:xfrm>
          <a:prstGeom prst="rect">
            <a:avLst/>
          </a:prstGeom>
          <a:noFill/>
        </p:spPr>
        <p:txBody>
          <a:bodyPr wrap="square" anchor="t">
            <a:spAutoFit/>
          </a:bodyPr>
          <a:lstStyle/>
          <a:p>
            <a:pPr algn="l">
              <a:lnSpc>
                <a:spcPct val="110000"/>
              </a:lnSpc>
            </a:pPr>
            <a:r>
              <a:rPr sz="1800" b="1">
                <a:solidFill>
                  <a:srgbClr val="F5F7FA"/>
                </a:solidFill>
                <a:latin typeface="Arial"/>
              </a:rPr>
              <a:t>“An AI-cloned ‘Biden’ robocall told N.H. voters to stay home — the FCC issued a $6M fine.”</a:t>
            </a:r>
          </a:p>
        </p:txBody>
      </p:sp>
      <p:sp>
        <p:nvSpPr>
          <p:cNvPr id="14" name="TextBox 13"/>
          <p:cNvSpPr txBox="1"/>
          <p:nvPr/>
        </p:nvSpPr>
        <p:spPr>
          <a:xfrm>
            <a:off x="4655210" y="5330952"/>
            <a:ext cx="2881274" cy="457200"/>
          </a:xfrm>
          <a:prstGeom prst="rect">
            <a:avLst/>
          </a:prstGeom>
          <a:noFill/>
        </p:spPr>
        <p:txBody>
          <a:bodyPr wrap="square" anchor="t">
            <a:spAutoFit/>
          </a:bodyPr>
          <a:lstStyle/>
          <a:p>
            <a:pPr algn="l">
              <a:lnSpc>
                <a:spcPct val="100000"/>
              </a:lnSpc>
            </a:pPr>
            <a:r>
              <a:rPr sz="1200" b="0">
                <a:solidFill>
                  <a:srgbClr val="8A94A6"/>
                </a:solidFill>
                <a:latin typeface="Courier New"/>
              </a:rPr>
              <a:t>▸ threatens </a:t>
            </a:r>
            <a:r>
              <a:rPr sz="1200" b="1">
                <a:solidFill>
                  <a:srgbClr val="FF4D4D"/>
                </a:solidFill>
                <a:latin typeface="Courier New"/>
              </a:rPr>
              <a:t>Democracy</a:t>
            </a:r>
          </a:p>
        </p:txBody>
      </p:sp>
      <p:sp>
        <p:nvSpPr>
          <p:cNvPr id="15" name="Rounded Rectangle 14"/>
          <p:cNvSpPr/>
          <p:nvPr/>
        </p:nvSpPr>
        <p:spPr>
          <a:xfrm>
            <a:off x="8158276" y="2240280"/>
            <a:ext cx="3393338" cy="365760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58276" y="2240280"/>
            <a:ext cx="3393338" cy="4572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4308" y="2295144"/>
            <a:ext cx="2881274" cy="365760"/>
          </a:xfrm>
          <a:prstGeom prst="rect">
            <a:avLst/>
          </a:prstGeom>
          <a:noFill/>
        </p:spPr>
        <p:txBody>
          <a:bodyPr wrap="square" anchor="ctr">
            <a:spAutoFit/>
          </a:bodyPr>
          <a:lstStyle/>
          <a:p>
            <a:pPr algn="l">
              <a:lnSpc>
                <a:spcPct val="100000"/>
              </a:lnSpc>
            </a:pPr>
            <a:r>
              <a:rPr sz="1100" b="1">
                <a:solidFill>
                  <a:srgbClr val="0B0E14"/>
                </a:solidFill>
                <a:latin typeface="Courier New"/>
              </a:rPr>
              <a:t>CNN BUSINESS · MAY 2024</a:t>
            </a:r>
          </a:p>
        </p:txBody>
      </p:sp>
      <p:sp>
        <p:nvSpPr>
          <p:cNvPr id="18" name="TextBox 17"/>
          <p:cNvSpPr txBox="1"/>
          <p:nvPr/>
        </p:nvSpPr>
        <p:spPr>
          <a:xfrm>
            <a:off x="8414308" y="2926080"/>
            <a:ext cx="2881274" cy="2194560"/>
          </a:xfrm>
          <a:prstGeom prst="rect">
            <a:avLst/>
          </a:prstGeom>
          <a:noFill/>
        </p:spPr>
        <p:txBody>
          <a:bodyPr wrap="square" anchor="t">
            <a:spAutoFit/>
          </a:bodyPr>
          <a:lstStyle/>
          <a:p>
            <a:pPr algn="l">
              <a:lnSpc>
                <a:spcPct val="110000"/>
              </a:lnSpc>
            </a:pPr>
            <a:r>
              <a:rPr sz="1800" b="1">
                <a:solidFill>
                  <a:srgbClr val="F5F7FA"/>
                </a:solidFill>
                <a:latin typeface="Arial"/>
              </a:rPr>
              <a:t>“A deepfake ‘CFO’ on a video call cost engineering firm Arup $25M in transfers.”</a:t>
            </a:r>
          </a:p>
        </p:txBody>
      </p:sp>
      <p:sp>
        <p:nvSpPr>
          <p:cNvPr id="19" name="TextBox 18"/>
          <p:cNvSpPr txBox="1"/>
          <p:nvPr/>
        </p:nvSpPr>
        <p:spPr>
          <a:xfrm>
            <a:off x="8414308" y="5330952"/>
            <a:ext cx="2881274" cy="457200"/>
          </a:xfrm>
          <a:prstGeom prst="rect">
            <a:avLst/>
          </a:prstGeom>
          <a:noFill/>
        </p:spPr>
        <p:txBody>
          <a:bodyPr wrap="square" anchor="t">
            <a:spAutoFit/>
          </a:bodyPr>
          <a:lstStyle/>
          <a:p>
            <a:pPr algn="l">
              <a:lnSpc>
                <a:spcPct val="100000"/>
              </a:lnSpc>
            </a:pPr>
            <a:r>
              <a:rPr sz="1200" b="0">
                <a:solidFill>
                  <a:srgbClr val="8A94A6"/>
                </a:solidFill>
                <a:latin typeface="Courier New"/>
              </a:rPr>
              <a:t>▸ threatens </a:t>
            </a:r>
            <a:r>
              <a:rPr sz="1200" b="1">
                <a:solidFill>
                  <a:srgbClr val="FF4D4D"/>
                </a:solidFill>
                <a:latin typeface="Courier New"/>
              </a:rPr>
              <a:t>Security</a:t>
            </a:r>
          </a:p>
        </p:txBody>
      </p:sp>
      <p:sp>
        <p:nvSpPr>
          <p:cNvPr id="20" name="TextBox 19"/>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FF4D4D"/>
                </a:solidFill>
                <a:latin typeface="Courier New"/>
              </a:rPr>
              <a:t>NOT HYPOTHETICAL · THE RECEIPTS</a:t>
            </a:r>
          </a:p>
        </p:txBody>
      </p:sp>
      <p:sp>
        <p:nvSpPr>
          <p:cNvPr id="3" name="Rectangle 2"/>
          <p:cNvSpPr/>
          <p:nvPr/>
        </p:nvSpPr>
        <p:spPr>
          <a:xfrm>
            <a:off x="640080" y="932688"/>
            <a:ext cx="822960" cy="73152"/>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972800" cy="822960"/>
          </a:xfrm>
          <a:prstGeom prst="rect">
            <a:avLst/>
          </a:prstGeom>
          <a:noFill/>
        </p:spPr>
        <p:txBody>
          <a:bodyPr wrap="square" anchor="t">
            <a:spAutoFit/>
          </a:bodyPr>
          <a:lstStyle/>
          <a:p>
            <a:pPr algn="l">
              <a:lnSpc>
                <a:spcPct val="100000"/>
              </a:lnSpc>
            </a:pPr>
            <a:r>
              <a:rPr sz="3000" b="1">
                <a:solidFill>
                  <a:srgbClr val="F5F7FA"/>
                </a:solidFill>
                <a:latin typeface="Arial"/>
              </a:rPr>
              <a:t>The automated harms</a:t>
            </a:r>
          </a:p>
        </p:txBody>
      </p:sp>
      <p:sp>
        <p:nvSpPr>
          <p:cNvPr id="5" name="Rounded Rectangle 4"/>
          <p:cNvSpPr/>
          <p:nvPr/>
        </p:nvSpPr>
        <p:spPr>
          <a:xfrm>
            <a:off x="640080" y="2240280"/>
            <a:ext cx="3393338" cy="365760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240280"/>
            <a:ext cx="3393338" cy="4572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2295144"/>
            <a:ext cx="2881274" cy="365760"/>
          </a:xfrm>
          <a:prstGeom prst="rect">
            <a:avLst/>
          </a:prstGeom>
          <a:noFill/>
        </p:spPr>
        <p:txBody>
          <a:bodyPr wrap="square" anchor="ctr">
            <a:spAutoFit/>
          </a:bodyPr>
          <a:lstStyle/>
          <a:p>
            <a:pPr algn="l">
              <a:lnSpc>
                <a:spcPct val="100000"/>
              </a:lnSpc>
            </a:pPr>
            <a:r>
              <a:rPr sz="1100" b="1">
                <a:solidFill>
                  <a:srgbClr val="0B0E14"/>
                </a:solidFill>
                <a:latin typeface="Courier New"/>
              </a:rPr>
              <a:t>CBS / CNBC · 2026</a:t>
            </a:r>
          </a:p>
        </p:txBody>
      </p:sp>
      <p:sp>
        <p:nvSpPr>
          <p:cNvPr id="8" name="TextBox 7"/>
          <p:cNvSpPr txBox="1"/>
          <p:nvPr/>
        </p:nvSpPr>
        <p:spPr>
          <a:xfrm>
            <a:off x="896112" y="2926080"/>
            <a:ext cx="2881274" cy="2194560"/>
          </a:xfrm>
          <a:prstGeom prst="rect">
            <a:avLst/>
          </a:prstGeom>
          <a:noFill/>
        </p:spPr>
        <p:txBody>
          <a:bodyPr wrap="square" anchor="t">
            <a:spAutoFit/>
          </a:bodyPr>
          <a:lstStyle/>
          <a:p>
            <a:pPr algn="l">
              <a:lnSpc>
                <a:spcPct val="110000"/>
              </a:lnSpc>
            </a:pPr>
            <a:r>
              <a:rPr sz="1800" b="1">
                <a:solidFill>
                  <a:srgbClr val="F5F7FA"/>
                </a:solidFill>
                <a:latin typeface="Arial"/>
              </a:rPr>
              <a:t>“Google and Character.AI settle a suit over a 14-year-old’s suicide after months with a companion bot.”</a:t>
            </a:r>
          </a:p>
        </p:txBody>
      </p:sp>
      <p:sp>
        <p:nvSpPr>
          <p:cNvPr id="9" name="TextBox 8"/>
          <p:cNvSpPr txBox="1"/>
          <p:nvPr/>
        </p:nvSpPr>
        <p:spPr>
          <a:xfrm>
            <a:off x="896112" y="5330952"/>
            <a:ext cx="2881274" cy="457200"/>
          </a:xfrm>
          <a:prstGeom prst="rect">
            <a:avLst/>
          </a:prstGeom>
          <a:noFill/>
        </p:spPr>
        <p:txBody>
          <a:bodyPr wrap="square" anchor="t">
            <a:spAutoFit/>
          </a:bodyPr>
          <a:lstStyle/>
          <a:p>
            <a:pPr algn="l">
              <a:lnSpc>
                <a:spcPct val="100000"/>
              </a:lnSpc>
            </a:pPr>
            <a:r>
              <a:rPr sz="1200" b="0">
                <a:solidFill>
                  <a:srgbClr val="8A94A6"/>
                </a:solidFill>
                <a:latin typeface="Courier New"/>
              </a:rPr>
              <a:t>▸ threatens </a:t>
            </a:r>
            <a:r>
              <a:rPr sz="1200" b="1">
                <a:solidFill>
                  <a:srgbClr val="FF4D4D"/>
                </a:solidFill>
                <a:latin typeface="Courier New"/>
              </a:rPr>
              <a:t>Safety</a:t>
            </a:r>
          </a:p>
        </p:txBody>
      </p:sp>
      <p:sp>
        <p:nvSpPr>
          <p:cNvPr id="10" name="Rounded Rectangle 9"/>
          <p:cNvSpPr/>
          <p:nvPr/>
        </p:nvSpPr>
        <p:spPr>
          <a:xfrm>
            <a:off x="4399178" y="2240280"/>
            <a:ext cx="3393338" cy="365760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99178" y="2240280"/>
            <a:ext cx="3393338" cy="4572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55210" y="2295144"/>
            <a:ext cx="2881274" cy="365760"/>
          </a:xfrm>
          <a:prstGeom prst="rect">
            <a:avLst/>
          </a:prstGeom>
          <a:noFill/>
        </p:spPr>
        <p:txBody>
          <a:bodyPr wrap="square" anchor="ctr">
            <a:spAutoFit/>
          </a:bodyPr>
          <a:lstStyle/>
          <a:p>
            <a:pPr algn="l">
              <a:lnSpc>
                <a:spcPct val="100000"/>
              </a:lnSpc>
            </a:pPr>
            <a:r>
              <a:rPr sz="1100" b="1">
                <a:solidFill>
                  <a:srgbClr val="0B0E14"/>
                </a:solidFill>
                <a:latin typeface="Courier New"/>
              </a:rPr>
              <a:t>AL JAZEERA · 2021</a:t>
            </a:r>
          </a:p>
        </p:txBody>
      </p:sp>
      <p:sp>
        <p:nvSpPr>
          <p:cNvPr id="13" name="TextBox 12"/>
          <p:cNvSpPr txBox="1"/>
          <p:nvPr/>
        </p:nvSpPr>
        <p:spPr>
          <a:xfrm>
            <a:off x="4655210" y="2926080"/>
            <a:ext cx="2881274" cy="2194560"/>
          </a:xfrm>
          <a:prstGeom prst="rect">
            <a:avLst/>
          </a:prstGeom>
          <a:noFill/>
        </p:spPr>
        <p:txBody>
          <a:bodyPr wrap="square" anchor="t">
            <a:spAutoFit/>
          </a:bodyPr>
          <a:lstStyle/>
          <a:p>
            <a:pPr algn="l">
              <a:lnSpc>
                <a:spcPct val="110000"/>
              </a:lnSpc>
            </a:pPr>
            <a:r>
              <a:rPr sz="1800" b="1">
                <a:solidFill>
                  <a:srgbClr val="F5F7FA"/>
                </a:solidFill>
                <a:latin typeface="Arial"/>
              </a:rPr>
              <a:t>“A Dutch benefits algorithm branded ~26,000 families fraudsters — the government resigned.”</a:t>
            </a:r>
          </a:p>
        </p:txBody>
      </p:sp>
      <p:sp>
        <p:nvSpPr>
          <p:cNvPr id="14" name="TextBox 13"/>
          <p:cNvSpPr txBox="1"/>
          <p:nvPr/>
        </p:nvSpPr>
        <p:spPr>
          <a:xfrm>
            <a:off x="4655210" y="5330952"/>
            <a:ext cx="2881274" cy="457200"/>
          </a:xfrm>
          <a:prstGeom prst="rect">
            <a:avLst/>
          </a:prstGeom>
          <a:noFill/>
        </p:spPr>
        <p:txBody>
          <a:bodyPr wrap="square" anchor="t">
            <a:spAutoFit/>
          </a:bodyPr>
          <a:lstStyle/>
          <a:p>
            <a:pPr algn="l">
              <a:lnSpc>
                <a:spcPct val="100000"/>
              </a:lnSpc>
            </a:pPr>
            <a:r>
              <a:rPr sz="1200" b="0">
                <a:solidFill>
                  <a:srgbClr val="8A94A6"/>
                </a:solidFill>
                <a:latin typeface="Courier New"/>
              </a:rPr>
              <a:t>▸ threatens </a:t>
            </a:r>
            <a:r>
              <a:rPr sz="1200" b="1">
                <a:solidFill>
                  <a:srgbClr val="FF4D4D"/>
                </a:solidFill>
                <a:latin typeface="Courier New"/>
              </a:rPr>
              <a:t>Fairness</a:t>
            </a:r>
          </a:p>
        </p:txBody>
      </p:sp>
      <p:sp>
        <p:nvSpPr>
          <p:cNvPr id="15" name="Rounded Rectangle 14"/>
          <p:cNvSpPr/>
          <p:nvPr/>
        </p:nvSpPr>
        <p:spPr>
          <a:xfrm>
            <a:off x="8158276" y="2240280"/>
            <a:ext cx="3393338" cy="365760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58276" y="2240280"/>
            <a:ext cx="3393338" cy="4572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4308" y="2295144"/>
            <a:ext cx="2881274" cy="365760"/>
          </a:xfrm>
          <a:prstGeom prst="rect">
            <a:avLst/>
          </a:prstGeom>
          <a:noFill/>
        </p:spPr>
        <p:txBody>
          <a:bodyPr wrap="square" anchor="ctr">
            <a:spAutoFit/>
          </a:bodyPr>
          <a:lstStyle/>
          <a:p>
            <a:pPr algn="l">
              <a:lnSpc>
                <a:spcPct val="100000"/>
              </a:lnSpc>
            </a:pPr>
            <a:r>
              <a:rPr sz="1100" b="1">
                <a:solidFill>
                  <a:srgbClr val="0B0E14"/>
                </a:solidFill>
                <a:latin typeface="Courier New"/>
              </a:rPr>
              <a:t>TECHCRUNCH · 2025</a:t>
            </a:r>
          </a:p>
        </p:txBody>
      </p:sp>
      <p:sp>
        <p:nvSpPr>
          <p:cNvPr id="18" name="TextBox 17"/>
          <p:cNvSpPr txBox="1"/>
          <p:nvPr/>
        </p:nvSpPr>
        <p:spPr>
          <a:xfrm>
            <a:off x="8414308" y="2926080"/>
            <a:ext cx="2881274" cy="2194560"/>
          </a:xfrm>
          <a:prstGeom prst="rect">
            <a:avLst/>
          </a:prstGeom>
          <a:noFill/>
        </p:spPr>
        <p:txBody>
          <a:bodyPr wrap="square" anchor="t">
            <a:spAutoFit/>
          </a:bodyPr>
          <a:lstStyle/>
          <a:p>
            <a:pPr algn="l">
              <a:lnSpc>
                <a:spcPct val="110000"/>
              </a:lnSpc>
            </a:pPr>
            <a:r>
              <a:rPr sz="1800" b="1">
                <a:solidFill>
                  <a:srgbClr val="F5F7FA"/>
                </a:solidFill>
                <a:latin typeface="Arial"/>
              </a:rPr>
              <a:t>“Anthropic settles with authors for ~$1.5B over training on pirated books — a record.”</a:t>
            </a:r>
          </a:p>
        </p:txBody>
      </p:sp>
      <p:sp>
        <p:nvSpPr>
          <p:cNvPr id="19" name="TextBox 18"/>
          <p:cNvSpPr txBox="1"/>
          <p:nvPr/>
        </p:nvSpPr>
        <p:spPr>
          <a:xfrm>
            <a:off x="8414308" y="5330952"/>
            <a:ext cx="2881274" cy="457200"/>
          </a:xfrm>
          <a:prstGeom prst="rect">
            <a:avLst/>
          </a:prstGeom>
          <a:noFill/>
        </p:spPr>
        <p:txBody>
          <a:bodyPr wrap="square" anchor="t">
            <a:spAutoFit/>
          </a:bodyPr>
          <a:lstStyle/>
          <a:p>
            <a:pPr algn="l">
              <a:lnSpc>
                <a:spcPct val="100000"/>
              </a:lnSpc>
            </a:pPr>
            <a:r>
              <a:rPr sz="1200" b="0">
                <a:solidFill>
                  <a:srgbClr val="8A94A6"/>
                </a:solidFill>
                <a:latin typeface="Courier New"/>
              </a:rPr>
              <a:t>▸ threatens </a:t>
            </a:r>
            <a:r>
              <a:rPr sz="1200" b="1">
                <a:solidFill>
                  <a:srgbClr val="FF4D4D"/>
                </a:solidFill>
                <a:latin typeface="Courier New"/>
              </a:rPr>
              <a:t>Ownership</a:t>
            </a:r>
          </a:p>
        </p:txBody>
      </p:sp>
      <p:sp>
        <p:nvSpPr>
          <p:cNvPr id="20" name="TextBox 19"/>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FF4D4D"/>
                </a:solidFill>
                <a:latin typeface="Courier New"/>
              </a:rPr>
              <a:t>NOT HYPOTHETICAL · PRIVACY</a:t>
            </a:r>
          </a:p>
        </p:txBody>
      </p:sp>
      <p:sp>
        <p:nvSpPr>
          <p:cNvPr id="3" name="Rectangle 2"/>
          <p:cNvSpPr/>
          <p:nvPr/>
        </p:nvSpPr>
        <p:spPr>
          <a:xfrm>
            <a:off x="640080" y="932688"/>
            <a:ext cx="822960" cy="73152"/>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acerec.jpg"/>
          <p:cNvPicPr>
            <a:picLocks noChangeAspect="1"/>
          </p:cNvPicPr>
          <p:nvPr/>
        </p:nvPicPr>
        <p:blipFill>
          <a:blip r:embed="rId2"/>
          <a:srcRect l="25111" r="25111"/>
          <a:stretch>
            <a:fillRect/>
          </a:stretch>
        </p:blipFill>
        <p:spPr>
          <a:xfrm>
            <a:off x="7071055" y="0"/>
            <a:ext cx="5120640" cy="6858000"/>
          </a:xfrm>
          <a:prstGeom prst="rect">
            <a:avLst/>
          </a:prstGeom>
        </p:spPr>
      </p:pic>
      <p:sp>
        <p:nvSpPr>
          <p:cNvPr id="5" name="TextBox 4"/>
          <p:cNvSpPr txBox="1"/>
          <p:nvPr/>
        </p:nvSpPr>
        <p:spPr>
          <a:xfrm>
            <a:off x="640080" y="1188720"/>
            <a:ext cx="6019495" cy="1280160"/>
          </a:xfrm>
          <a:prstGeom prst="rect">
            <a:avLst/>
          </a:prstGeom>
          <a:noFill/>
        </p:spPr>
        <p:txBody>
          <a:bodyPr wrap="square" anchor="t">
            <a:spAutoFit/>
          </a:bodyPr>
          <a:lstStyle/>
          <a:p>
            <a:pPr algn="l">
              <a:lnSpc>
                <a:spcPct val="100000"/>
              </a:lnSpc>
            </a:pPr>
            <a:r>
              <a:rPr sz="3000" b="1">
                <a:solidFill>
                  <a:srgbClr val="F5F7FA"/>
                </a:solidFill>
                <a:latin typeface="Arial"/>
              </a:rPr>
              <a:t>Your face is in the training set</a:t>
            </a:r>
          </a:p>
        </p:txBody>
      </p:sp>
      <p:sp>
        <p:nvSpPr>
          <p:cNvPr id="6" name="TextBox 5"/>
          <p:cNvSpPr txBox="1"/>
          <p:nvPr/>
        </p:nvSpPr>
        <p:spPr>
          <a:xfrm>
            <a:off x="640080" y="2560320"/>
            <a:ext cx="6019495" cy="3108960"/>
          </a:xfrm>
          <a:prstGeom prst="rect">
            <a:avLst/>
          </a:prstGeom>
          <a:noFill/>
        </p:spPr>
        <p:txBody>
          <a:bodyPr wrap="square" anchor="t">
            <a:spAutoFit/>
          </a:bodyPr>
          <a:lstStyle/>
          <a:p>
            <a:pPr algn="l">
              <a:lnSpc>
                <a:spcPct val="116000"/>
              </a:lnSpc>
            </a:pPr>
            <a:r>
              <a:rPr sz="2000" b="0">
                <a:solidFill>
                  <a:srgbClr val="F5F7FA"/>
                </a:solidFill>
                <a:latin typeface="Arial"/>
              </a:rPr>
              <a:t>Clearview AI scraped </a:t>
            </a:r>
            <a:r>
              <a:rPr sz="2000" b="1">
                <a:solidFill>
                  <a:srgbClr val="FF4D4D"/>
                </a:solidFill>
                <a:latin typeface="Arial"/>
              </a:rPr>
              <a:t>3 billion+ faces</a:t>
            </a:r>
            <a:r>
              <a:rPr sz="2000" b="0">
                <a:solidFill>
                  <a:srgbClr val="F5F7FA"/>
                </a:solidFill>
                <a:latin typeface="Arial"/>
              </a:rPr>
              <a:t> from the web to sell facial ID to police — without anyone’s consent.</a:t>
            </a:r>
          </a:p>
          <a:p>
            <a:pPr algn="l">
              <a:lnSpc>
                <a:spcPct val="116000"/>
              </a:lnSpc>
            </a:pPr>
            <a:r>
              <a:rPr sz="1900" b="0">
                <a:solidFill>
                  <a:srgbClr val="F5F7FA"/>
                </a:solidFill>
                <a:latin typeface="Arial"/>
              </a:rPr>
              <a:t/>
            </a:r>
          </a:p>
          <a:p>
            <a:pPr algn="l">
              <a:lnSpc>
                <a:spcPct val="116000"/>
              </a:lnSpc>
            </a:pPr>
            <a:r>
              <a:rPr sz="2000" b="0">
                <a:solidFill>
                  <a:srgbClr val="F5F7FA"/>
                </a:solidFill>
                <a:latin typeface="Arial"/>
              </a:rPr>
              <a:t>At least </a:t>
            </a:r>
            <a:r>
              <a:rPr sz="2000" b="1">
                <a:solidFill>
                  <a:srgbClr val="FF4D4D"/>
                </a:solidFill>
                <a:latin typeface="Arial"/>
              </a:rPr>
              <a:t>four Black men</a:t>
            </a:r>
            <a:r>
              <a:rPr sz="2000" b="0">
                <a:solidFill>
                  <a:srgbClr val="F5F7FA"/>
                </a:solidFill>
                <a:latin typeface="Arial"/>
              </a:rPr>
              <a:t> have been wrongly arrested on false facial-recognition matches.</a:t>
            </a:r>
          </a:p>
        </p:txBody>
      </p:sp>
      <p:sp>
        <p:nvSpPr>
          <p:cNvPr id="7" name="Rectangle 6"/>
          <p:cNvSpPr/>
          <p:nvPr/>
        </p:nvSpPr>
        <p:spPr>
          <a:xfrm>
            <a:off x="7071055" y="6547104"/>
            <a:ext cx="5120640" cy="310896"/>
          </a:xfrm>
          <a:prstGeom prst="rect">
            <a:avLst/>
          </a:prstGeom>
          <a:solidFill>
            <a:srgbClr val="0B0E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08215" y="6565392"/>
            <a:ext cx="4846320" cy="274320"/>
          </a:xfrm>
          <a:prstGeom prst="rect">
            <a:avLst/>
          </a:prstGeom>
          <a:noFill/>
        </p:spPr>
        <p:txBody>
          <a:bodyPr wrap="square" anchor="t">
            <a:spAutoFit/>
          </a:bodyPr>
          <a:lstStyle/>
          <a:p>
            <a:pPr algn="l">
              <a:lnSpc>
                <a:spcPct val="100000"/>
              </a:lnSpc>
            </a:pPr>
            <a:r>
              <a:rPr sz="850" b="0">
                <a:solidFill>
                  <a:srgbClr val="8A94A6"/>
                </a:solidFill>
                <a:latin typeface="Courier New"/>
              </a:rPr>
              <a:t>Photo: Pete Woodhead / Wikimedia Commons · CC BY 2.0</a:t>
            </a:r>
          </a:p>
        </p:txBody>
      </p:sp>
      <p:sp>
        <p:nvSpPr>
          <p:cNvPr id="9" name="TextBox 8"/>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FF4D4D"/>
                </a:solidFill>
                <a:latin typeface="Courier New"/>
              </a:rPr>
              <a:t>NOT HYPOTHETICAL · THE HIDDEN COSTS</a:t>
            </a:r>
          </a:p>
        </p:txBody>
      </p:sp>
      <p:sp>
        <p:nvSpPr>
          <p:cNvPr id="3" name="Rectangle 2"/>
          <p:cNvSpPr/>
          <p:nvPr/>
        </p:nvSpPr>
        <p:spPr>
          <a:xfrm>
            <a:off x="640080" y="932688"/>
            <a:ext cx="822960" cy="73152"/>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atacenter.jpg"/>
          <p:cNvPicPr>
            <a:picLocks noChangeAspect="1"/>
          </p:cNvPicPr>
          <p:nvPr/>
        </p:nvPicPr>
        <p:blipFill>
          <a:blip r:embed="rId2"/>
          <a:srcRect l="25208" r="25208"/>
          <a:stretch>
            <a:fillRect/>
          </a:stretch>
        </p:blipFill>
        <p:spPr>
          <a:xfrm>
            <a:off x="7071055" y="0"/>
            <a:ext cx="5120640" cy="6858000"/>
          </a:xfrm>
          <a:prstGeom prst="rect">
            <a:avLst/>
          </a:prstGeom>
        </p:spPr>
      </p:pic>
      <p:sp>
        <p:nvSpPr>
          <p:cNvPr id="5" name="TextBox 4"/>
          <p:cNvSpPr txBox="1"/>
          <p:nvPr/>
        </p:nvSpPr>
        <p:spPr>
          <a:xfrm>
            <a:off x="640080" y="1188720"/>
            <a:ext cx="6019495" cy="1280160"/>
          </a:xfrm>
          <a:prstGeom prst="rect">
            <a:avLst/>
          </a:prstGeom>
          <a:noFill/>
        </p:spPr>
        <p:txBody>
          <a:bodyPr wrap="square" anchor="t">
            <a:spAutoFit/>
          </a:bodyPr>
          <a:lstStyle/>
          <a:p>
            <a:pPr algn="l">
              <a:lnSpc>
                <a:spcPct val="100000"/>
              </a:lnSpc>
            </a:pPr>
            <a:r>
              <a:rPr sz="3000" b="1">
                <a:solidFill>
                  <a:srgbClr val="F5F7FA"/>
                </a:solidFill>
                <a:latin typeface="Arial"/>
              </a:rPr>
              <a:t>Someone pays for the magic</a:t>
            </a:r>
          </a:p>
        </p:txBody>
      </p:sp>
      <p:sp>
        <p:nvSpPr>
          <p:cNvPr id="6" name="TextBox 5"/>
          <p:cNvSpPr txBox="1"/>
          <p:nvPr/>
        </p:nvSpPr>
        <p:spPr>
          <a:xfrm>
            <a:off x="640080" y="2560320"/>
            <a:ext cx="6019495" cy="3108960"/>
          </a:xfrm>
          <a:prstGeom prst="rect">
            <a:avLst/>
          </a:prstGeom>
          <a:noFill/>
        </p:spPr>
        <p:txBody>
          <a:bodyPr wrap="square" anchor="t">
            <a:spAutoFit/>
          </a:bodyPr>
          <a:lstStyle/>
          <a:p>
            <a:pPr algn="l">
              <a:lnSpc>
                <a:spcPct val="116000"/>
              </a:lnSpc>
            </a:pPr>
            <a:r>
              <a:rPr sz="2000" b="0">
                <a:solidFill>
                  <a:srgbClr val="F5F7FA"/>
                </a:solidFill>
                <a:latin typeface="Arial"/>
              </a:rPr>
              <a:t>Training GPT-3 evaporated an estimated </a:t>
            </a:r>
            <a:r>
              <a:rPr sz="2000" b="1">
                <a:solidFill>
                  <a:srgbClr val="FF4D4D"/>
                </a:solidFill>
                <a:latin typeface="Arial"/>
              </a:rPr>
              <a:t>~700,000 L of freshwater</a:t>
            </a:r>
            <a:r>
              <a:rPr sz="2000" b="0">
                <a:solidFill>
                  <a:srgbClr val="F5F7FA"/>
                </a:solidFill>
                <a:latin typeface="Arial"/>
              </a:rPr>
              <a:t>; datacenter emissions are spiking (Google +48% vs 2019).</a:t>
            </a:r>
          </a:p>
          <a:p>
            <a:pPr algn="l">
              <a:lnSpc>
                <a:spcPct val="116000"/>
              </a:lnSpc>
            </a:pPr>
            <a:r>
              <a:rPr sz="1900" b="0">
                <a:solidFill>
                  <a:srgbClr val="F5F7FA"/>
                </a:solidFill>
                <a:latin typeface="Arial"/>
              </a:rPr>
              <a:t/>
            </a:r>
          </a:p>
          <a:p>
            <a:pPr algn="l">
              <a:lnSpc>
                <a:spcPct val="116000"/>
              </a:lnSpc>
            </a:pPr>
            <a:r>
              <a:rPr sz="2000" b="0">
                <a:solidFill>
                  <a:srgbClr val="F5F7FA"/>
                </a:solidFill>
                <a:latin typeface="Arial"/>
              </a:rPr>
              <a:t>And the humans: Kenyan workers paid </a:t>
            </a:r>
            <a:r>
              <a:rPr sz="2000" b="1">
                <a:solidFill>
                  <a:srgbClr val="FF4D4D"/>
                </a:solidFill>
                <a:latin typeface="Arial"/>
              </a:rPr>
              <a:t>~$2/hour</a:t>
            </a:r>
            <a:r>
              <a:rPr sz="2000" b="0">
                <a:solidFill>
                  <a:srgbClr val="F5F7FA"/>
                </a:solidFill>
                <a:latin typeface="Arial"/>
              </a:rPr>
              <a:t> labeled graphic toxic content to build ChatGPT’s safety filter.</a:t>
            </a:r>
          </a:p>
        </p:txBody>
      </p:sp>
      <p:sp>
        <p:nvSpPr>
          <p:cNvPr id="7" name="Rectangle 6"/>
          <p:cNvSpPr/>
          <p:nvPr/>
        </p:nvSpPr>
        <p:spPr>
          <a:xfrm>
            <a:off x="7071055" y="6547104"/>
            <a:ext cx="5120640" cy="310896"/>
          </a:xfrm>
          <a:prstGeom prst="rect">
            <a:avLst/>
          </a:prstGeom>
          <a:solidFill>
            <a:srgbClr val="0B0E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08215" y="6565392"/>
            <a:ext cx="4846320" cy="274320"/>
          </a:xfrm>
          <a:prstGeom prst="rect">
            <a:avLst/>
          </a:prstGeom>
          <a:noFill/>
        </p:spPr>
        <p:txBody>
          <a:bodyPr wrap="square" anchor="t">
            <a:spAutoFit/>
          </a:bodyPr>
          <a:lstStyle/>
          <a:p>
            <a:pPr algn="l">
              <a:lnSpc>
                <a:spcPct val="100000"/>
              </a:lnSpc>
            </a:pPr>
            <a:r>
              <a:rPr sz="850" b="0">
                <a:solidFill>
                  <a:srgbClr val="8A94A6"/>
                </a:solidFill>
                <a:latin typeface="Courier New"/>
              </a:rPr>
              <a:t>Photo: BalticServers.com / Wikimedia Commons · CC BY-SA 3.0</a:t>
            </a:r>
          </a:p>
        </p:txBody>
      </p:sp>
      <p:sp>
        <p:nvSpPr>
          <p:cNvPr id="9" name="TextBox 8"/>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TALK · 3 MIN</a:t>
            </a:r>
          </a:p>
        </p:txBody>
      </p:sp>
      <p:sp>
        <p:nvSpPr>
          <p:cNvPr id="3" name="TextBox 2"/>
          <p:cNvSpPr txBox="1"/>
          <p:nvPr/>
        </p:nvSpPr>
        <p:spPr>
          <a:xfrm>
            <a:off x="1097280" y="548640"/>
            <a:ext cx="2743200" cy="1828800"/>
          </a:xfrm>
          <a:prstGeom prst="rect">
            <a:avLst/>
          </a:prstGeom>
          <a:noFill/>
        </p:spPr>
        <p:txBody>
          <a:bodyPr wrap="square" anchor="t">
            <a:spAutoFit/>
          </a:bodyPr>
          <a:lstStyle/>
          <a:p>
            <a:pPr algn="l">
              <a:lnSpc>
                <a:spcPct val="100000"/>
              </a:lnSpc>
            </a:pPr>
            <a:r>
              <a:rPr sz="12000" b="1">
                <a:solidFill>
                  <a:srgbClr val="00FF41"/>
                </a:solidFill>
                <a:latin typeface="Arial"/>
              </a:rPr>
              <a:t>?</a:t>
            </a:r>
          </a:p>
        </p:txBody>
      </p:sp>
      <p:sp>
        <p:nvSpPr>
          <p:cNvPr id="4" name="TextBox 3"/>
          <p:cNvSpPr txBox="1"/>
          <p:nvPr/>
        </p:nvSpPr>
        <p:spPr>
          <a:xfrm>
            <a:off x="1097280" y="2743200"/>
            <a:ext cx="10058400" cy="3108960"/>
          </a:xfrm>
          <a:prstGeom prst="rect">
            <a:avLst/>
          </a:prstGeom>
          <a:noFill/>
        </p:spPr>
        <p:txBody>
          <a:bodyPr wrap="square" anchor="t">
            <a:spAutoFit/>
          </a:bodyPr>
          <a:lstStyle/>
          <a:p>
            <a:pPr algn="l">
              <a:lnSpc>
                <a:spcPct val="112000"/>
              </a:lnSpc>
            </a:pPr>
            <a:r>
              <a:rPr sz="3000" b="1">
                <a:solidFill>
                  <a:srgbClr val="F5F7FA"/>
                </a:solidFill>
                <a:latin typeface="Arial"/>
              </a:rPr>
              <a:t>Which of these hits closest to home?</a:t>
            </a:r>
          </a:p>
          <a:p>
            <a:pPr algn="l">
              <a:lnSpc>
                <a:spcPct val="112000"/>
              </a:lnSpc>
            </a:pPr>
            <a:r>
              <a:rPr sz="3000" b="1">
                <a:solidFill>
                  <a:srgbClr val="F5F7FA"/>
                </a:solidFill>
                <a:latin typeface="Arial"/>
              </a:rPr>
              <a:t>Which value would YOU most want to protect?</a:t>
            </a:r>
          </a:p>
        </p:txBody>
      </p:sp>
      <p:sp>
        <p:nvSpPr>
          <p:cNvPr id="5" name="TextBox 4"/>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THE TURN</a:t>
            </a:r>
          </a:p>
        </p:txBody>
      </p:sp>
      <p:sp>
        <p:nvSpPr>
          <p:cNvPr id="3" name="TextBox 2"/>
          <p:cNvSpPr txBox="1"/>
          <p:nvPr/>
        </p:nvSpPr>
        <p:spPr>
          <a:xfrm>
            <a:off x="914400" y="1554480"/>
            <a:ext cx="1280160" cy="1280160"/>
          </a:xfrm>
          <a:prstGeom prst="rect">
            <a:avLst/>
          </a:prstGeom>
          <a:noFill/>
        </p:spPr>
        <p:txBody>
          <a:bodyPr wrap="square" anchor="t">
            <a:spAutoFit/>
          </a:bodyPr>
          <a:lstStyle/>
          <a:p>
            <a:pPr algn="l">
              <a:lnSpc>
                <a:spcPct val="100000"/>
              </a:lnSpc>
            </a:pPr>
            <a:r>
              <a:rPr sz="9000" b="1">
                <a:solidFill>
                  <a:srgbClr val="00FF41"/>
                </a:solidFill>
                <a:latin typeface="Arial"/>
              </a:rPr>
              <a:t>“</a:t>
            </a:r>
          </a:p>
        </p:txBody>
      </p:sp>
      <p:sp>
        <p:nvSpPr>
          <p:cNvPr id="4" name="TextBox 3"/>
          <p:cNvSpPr txBox="1"/>
          <p:nvPr/>
        </p:nvSpPr>
        <p:spPr>
          <a:xfrm>
            <a:off x="1188720" y="2194560"/>
            <a:ext cx="9784080" cy="2011680"/>
          </a:xfrm>
          <a:prstGeom prst="rect">
            <a:avLst/>
          </a:prstGeom>
          <a:noFill/>
        </p:spPr>
        <p:txBody>
          <a:bodyPr wrap="square" anchor="t">
            <a:spAutoFit/>
          </a:bodyPr>
          <a:lstStyle/>
          <a:p>
            <a:pPr algn="l">
              <a:lnSpc>
                <a:spcPct val="112000"/>
              </a:lnSpc>
            </a:pPr>
            <a:r>
              <a:rPr sz="3000" b="1">
                <a:solidFill>
                  <a:srgbClr val="F5F7FA"/>
                </a:solidFill>
                <a:latin typeface="Arial"/>
              </a:rPr>
              <a:t>You have a right to protect your personal narrative as AI companies vacuum up the internet.</a:t>
            </a:r>
          </a:p>
        </p:txBody>
      </p:sp>
      <p:sp>
        <p:nvSpPr>
          <p:cNvPr id="5" name="TextBox 4"/>
          <p:cNvSpPr txBox="1"/>
          <p:nvPr/>
        </p:nvSpPr>
        <p:spPr>
          <a:xfrm>
            <a:off x="1234440" y="4297680"/>
            <a:ext cx="9601200" cy="457200"/>
          </a:xfrm>
          <a:prstGeom prst="rect">
            <a:avLst/>
          </a:prstGeom>
          <a:noFill/>
        </p:spPr>
        <p:txBody>
          <a:bodyPr wrap="square" anchor="t">
            <a:spAutoFit/>
          </a:bodyPr>
          <a:lstStyle/>
          <a:p>
            <a:pPr algn="l">
              <a:lnSpc>
                <a:spcPct val="100000"/>
              </a:lnSpc>
            </a:pPr>
            <a:r>
              <a:rPr sz="1600" b="0">
                <a:solidFill>
                  <a:srgbClr val="8A94A6"/>
                </a:solidFill>
                <a:latin typeface="Arial"/>
              </a:rPr>
              <a:t>— after Brunton &amp; Nissenbaum, Obfuscation</a:t>
            </a:r>
          </a:p>
        </p:txBody>
      </p:sp>
      <p:sp>
        <p:nvSpPr>
          <p:cNvPr id="6" name="Rounded Rectangle 5"/>
          <p:cNvSpPr/>
          <p:nvPr/>
        </p:nvSpPr>
        <p:spPr>
          <a:xfrm>
            <a:off x="1188720" y="4937760"/>
            <a:ext cx="9784080" cy="914400"/>
          </a:xfrm>
          <a:prstGeom prst="roundRect">
            <a:avLst/>
          </a:prstGeom>
          <a:solidFill>
            <a:srgbClr val="151B26"/>
          </a:solidFill>
          <a:ln w="12700">
            <a:solidFill>
              <a:srgbClr val="00FF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63040" y="5074920"/>
            <a:ext cx="9235440" cy="731520"/>
          </a:xfrm>
          <a:prstGeom prst="rect">
            <a:avLst/>
          </a:prstGeom>
          <a:noFill/>
        </p:spPr>
        <p:txBody>
          <a:bodyPr wrap="square" anchor="ctr">
            <a:spAutoFit/>
          </a:bodyPr>
          <a:lstStyle/>
          <a:p>
            <a:pPr algn="l">
              <a:lnSpc>
                <a:spcPct val="100000"/>
              </a:lnSpc>
            </a:pPr>
            <a:r>
              <a:rPr sz="1800" b="0">
                <a:solidFill>
                  <a:srgbClr val="F5F7FA"/>
                </a:solidFill>
                <a:latin typeface="Arial"/>
              </a:rPr>
              <a:t>For every harm on that map — is there a defense?</a:t>
            </a:r>
          </a:p>
        </p:txBody>
      </p:sp>
      <p:sp>
        <p:nvSpPr>
          <p:cNvPr id="8" name="TextBox 7"/>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10515600" cy="548640"/>
          </a:xfrm>
          <a:prstGeom prst="rect">
            <a:avLst/>
          </a:prstGeom>
          <a:noFill/>
        </p:spPr>
        <p:txBody>
          <a:bodyPr wrap="square" anchor="t">
            <a:spAutoFit/>
          </a:bodyPr>
          <a:lstStyle/>
          <a:p>
            <a:pPr algn="l">
              <a:lnSpc>
                <a:spcPct val="100000"/>
              </a:lnSpc>
            </a:pPr>
            <a:r>
              <a:rPr sz="1800" b="1">
                <a:solidFill>
                  <a:srgbClr val="00FF41"/>
                </a:solidFill>
                <a:latin typeface="Courier New"/>
              </a:rPr>
              <a:t>✓  ACT 2 · THE DEFENSE</a:t>
            </a:r>
          </a:p>
        </p:txBody>
      </p:sp>
      <p:sp>
        <p:nvSpPr>
          <p:cNvPr id="4" name="TextBox 3"/>
          <p:cNvSpPr txBox="1"/>
          <p:nvPr/>
        </p:nvSpPr>
        <p:spPr>
          <a:xfrm>
            <a:off x="804672" y="2743200"/>
            <a:ext cx="10515600" cy="1554480"/>
          </a:xfrm>
          <a:prstGeom prst="rect">
            <a:avLst/>
          </a:prstGeom>
          <a:noFill/>
        </p:spPr>
        <p:txBody>
          <a:bodyPr wrap="square" anchor="t">
            <a:spAutoFit/>
          </a:bodyPr>
          <a:lstStyle/>
          <a:p>
            <a:pPr algn="l">
              <a:lnSpc>
                <a:spcPct val="100000"/>
              </a:lnSpc>
            </a:pPr>
            <a:r>
              <a:rPr sz="4800" b="1">
                <a:solidFill>
                  <a:srgbClr val="F5F7FA"/>
                </a:solidFill>
                <a:latin typeface="Arial"/>
              </a:rPr>
              <a:t>AI against AI</a:t>
            </a:r>
          </a:p>
        </p:txBody>
      </p:sp>
      <p:sp>
        <p:nvSpPr>
          <p:cNvPr id="5" name="TextBox 4"/>
          <p:cNvSpPr txBox="1"/>
          <p:nvPr/>
        </p:nvSpPr>
        <p:spPr>
          <a:xfrm>
            <a:off x="841248" y="4297680"/>
            <a:ext cx="10058400" cy="640080"/>
          </a:xfrm>
          <a:prstGeom prst="rect">
            <a:avLst/>
          </a:prstGeom>
          <a:noFill/>
        </p:spPr>
        <p:txBody>
          <a:bodyPr wrap="square" anchor="t">
            <a:spAutoFit/>
          </a:bodyPr>
          <a:lstStyle/>
          <a:p>
            <a:pPr algn="l">
              <a:lnSpc>
                <a:spcPct val="100000"/>
              </a:lnSpc>
            </a:pPr>
            <a:r>
              <a:rPr sz="1900" b="0">
                <a:solidFill>
                  <a:srgbClr val="8A94A6"/>
                </a:solidFill>
                <a:latin typeface="Arial"/>
              </a:rPr>
              <a:t>Turn the same tools back around — to protect instead of extract.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THE COUNTER-MAP · DEFENSES</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024128"/>
            <a:ext cx="10972800" cy="822960"/>
          </a:xfrm>
          <a:prstGeom prst="rect">
            <a:avLst/>
          </a:prstGeom>
          <a:noFill/>
        </p:spPr>
        <p:txBody>
          <a:bodyPr wrap="square" anchor="t">
            <a:spAutoFit/>
          </a:bodyPr>
          <a:lstStyle/>
          <a:p>
            <a:pPr algn="l">
              <a:lnSpc>
                <a:spcPct val="100000"/>
              </a:lnSpc>
            </a:pPr>
            <a:r>
              <a:rPr sz="3000" b="1">
                <a:solidFill>
                  <a:srgbClr val="F5F7FA"/>
                </a:solidFill>
                <a:latin typeface="Arial"/>
              </a:rPr>
              <a:t>Turning AI against AI</a:t>
            </a:r>
          </a:p>
        </p:txBody>
      </p:sp>
      <p:sp>
        <p:nvSpPr>
          <p:cNvPr id="5" name="Rounded Rectangle 4"/>
          <p:cNvSpPr/>
          <p:nvPr/>
        </p:nvSpPr>
        <p:spPr>
          <a:xfrm>
            <a:off x="640080" y="201168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011680"/>
            <a:ext cx="82296" cy="196596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223113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Fairness</a:t>
            </a:r>
          </a:p>
        </p:txBody>
      </p:sp>
      <p:sp>
        <p:nvSpPr>
          <p:cNvPr id="8" name="TextBox 7"/>
          <p:cNvSpPr txBox="1"/>
          <p:nvPr/>
        </p:nvSpPr>
        <p:spPr>
          <a:xfrm>
            <a:off x="896112" y="318211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Bias audits &amp; adversarial fairness testing — red-team the model before it ships.</a:t>
            </a:r>
          </a:p>
        </p:txBody>
      </p:sp>
      <p:sp>
        <p:nvSpPr>
          <p:cNvPr id="9" name="Rounded Rectangle 8"/>
          <p:cNvSpPr/>
          <p:nvPr/>
        </p:nvSpPr>
        <p:spPr>
          <a:xfrm>
            <a:off x="3436543" y="201168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36543" y="2011680"/>
            <a:ext cx="82296" cy="196596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92575" y="223113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Privacy</a:t>
            </a:r>
          </a:p>
        </p:txBody>
      </p:sp>
      <p:sp>
        <p:nvSpPr>
          <p:cNvPr id="12" name="TextBox 11"/>
          <p:cNvSpPr txBox="1"/>
          <p:nvPr/>
        </p:nvSpPr>
        <p:spPr>
          <a:xfrm>
            <a:off x="3692575" y="318211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Obfuscation, scraper-poisoning, Glaze/Nightshade cloaking — poison the training set.</a:t>
            </a:r>
          </a:p>
        </p:txBody>
      </p:sp>
      <p:sp>
        <p:nvSpPr>
          <p:cNvPr id="13" name="Rounded Rectangle 12"/>
          <p:cNvSpPr/>
          <p:nvPr/>
        </p:nvSpPr>
        <p:spPr>
          <a:xfrm>
            <a:off x="6233006" y="201168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6" y="2011680"/>
            <a:ext cx="82296" cy="196596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8" y="223113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Truth</a:t>
            </a:r>
          </a:p>
        </p:txBody>
      </p:sp>
      <p:sp>
        <p:nvSpPr>
          <p:cNvPr id="16" name="TextBox 15"/>
          <p:cNvSpPr txBox="1"/>
          <p:nvPr/>
        </p:nvSpPr>
        <p:spPr>
          <a:xfrm>
            <a:off x="6489038" y="318211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Provenance &amp; watermarking (C2PA), deepfake &amp; AI-text detectors.</a:t>
            </a:r>
          </a:p>
        </p:txBody>
      </p:sp>
      <p:sp>
        <p:nvSpPr>
          <p:cNvPr id="17" name="Rounded Rectangle 16"/>
          <p:cNvSpPr/>
          <p:nvPr/>
        </p:nvSpPr>
        <p:spPr>
          <a:xfrm>
            <a:off x="9029469" y="201168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29469" y="2011680"/>
            <a:ext cx="82296" cy="196596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5501" y="223113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Autonomy</a:t>
            </a:r>
          </a:p>
        </p:txBody>
      </p:sp>
      <p:sp>
        <p:nvSpPr>
          <p:cNvPr id="20" name="TextBox 19"/>
          <p:cNvSpPr txBox="1"/>
          <p:nvPr/>
        </p:nvSpPr>
        <p:spPr>
          <a:xfrm>
            <a:off x="9285501" y="318211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Bright patterns &amp; dark-pattern detectors that hand control back to the user.</a:t>
            </a:r>
          </a:p>
        </p:txBody>
      </p:sp>
      <p:sp>
        <p:nvSpPr>
          <p:cNvPr id="21" name="Rounded Rectangle 20"/>
          <p:cNvSpPr/>
          <p:nvPr/>
        </p:nvSpPr>
        <p:spPr>
          <a:xfrm>
            <a:off x="640080" y="425196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 y="4251960"/>
            <a:ext cx="82296" cy="196596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47141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Safety</a:t>
            </a:r>
          </a:p>
        </p:txBody>
      </p:sp>
      <p:sp>
        <p:nvSpPr>
          <p:cNvPr id="24" name="TextBox 23"/>
          <p:cNvSpPr txBox="1"/>
          <p:nvPr/>
        </p:nvSpPr>
        <p:spPr>
          <a:xfrm>
            <a:off x="896112" y="542239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Scam &amp; voice-clone detectors; guardrail red-teaming; hash-matching.</a:t>
            </a:r>
          </a:p>
        </p:txBody>
      </p:sp>
      <p:sp>
        <p:nvSpPr>
          <p:cNvPr id="25" name="Rounded Rectangle 24"/>
          <p:cNvSpPr/>
          <p:nvPr/>
        </p:nvSpPr>
        <p:spPr>
          <a:xfrm>
            <a:off x="3436543" y="425196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436543" y="4251960"/>
            <a:ext cx="82296" cy="196596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92575" y="447141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Labor</a:t>
            </a:r>
          </a:p>
        </p:txBody>
      </p:sp>
      <p:sp>
        <p:nvSpPr>
          <p:cNvPr id="28" name="TextBox 27"/>
          <p:cNvSpPr txBox="1"/>
          <p:nvPr/>
        </p:nvSpPr>
        <p:spPr>
          <a:xfrm>
            <a:off x="3692575" y="542239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Withhold your tacit skill from capture; carbon/water dashboards for models.</a:t>
            </a:r>
          </a:p>
        </p:txBody>
      </p:sp>
      <p:sp>
        <p:nvSpPr>
          <p:cNvPr id="29" name="Rounded Rectangle 28"/>
          <p:cNvSpPr/>
          <p:nvPr/>
        </p:nvSpPr>
        <p:spPr>
          <a:xfrm>
            <a:off x="6233006" y="425196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33006" y="4251960"/>
            <a:ext cx="82296" cy="196596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89038" y="447141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Authenticity</a:t>
            </a:r>
          </a:p>
        </p:txBody>
      </p:sp>
      <p:sp>
        <p:nvSpPr>
          <p:cNvPr id="32" name="TextBox 31"/>
          <p:cNvSpPr txBox="1"/>
          <p:nvPr/>
        </p:nvSpPr>
        <p:spPr>
          <a:xfrm>
            <a:off x="6489038" y="542239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Content credentials, model cards, audit logs — make provenance legible.</a:t>
            </a:r>
          </a:p>
        </p:txBody>
      </p:sp>
      <p:sp>
        <p:nvSpPr>
          <p:cNvPr id="33" name="TextBox 32"/>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DEEP DIVE · PRIVACY</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1097280"/>
          </a:xfrm>
          <a:prstGeom prst="rect">
            <a:avLst/>
          </a:prstGeom>
          <a:noFill/>
        </p:spPr>
        <p:txBody>
          <a:bodyPr wrap="square" anchor="t">
            <a:spAutoFit/>
          </a:bodyPr>
          <a:lstStyle/>
          <a:p>
            <a:pPr algn="l">
              <a:lnSpc>
                <a:spcPct val="100000"/>
              </a:lnSpc>
            </a:pPr>
            <a:r>
              <a:rPr sz="3400" b="1">
                <a:solidFill>
                  <a:srgbClr val="F5F7FA"/>
                </a:solidFill>
                <a:latin typeface="Arial"/>
              </a:rPr>
              <a:t>Poison the scraper (this is Part A)</a:t>
            </a:r>
          </a:p>
        </p:txBody>
      </p:sp>
      <p:sp>
        <p:nvSpPr>
          <p:cNvPr id="5" name="TextBox 4"/>
          <p:cNvSpPr txBox="1"/>
          <p:nvPr/>
        </p:nvSpPr>
        <p:spPr>
          <a:xfrm>
            <a:off x="658368" y="2286000"/>
            <a:ext cx="10881360" cy="3657600"/>
          </a:xfrm>
          <a:prstGeom prst="rect">
            <a:avLst/>
          </a:prstGeom>
          <a:noFill/>
        </p:spPr>
        <p:txBody>
          <a:bodyPr wrap="square" anchor="t">
            <a:spAutoFit/>
          </a:bodyPr>
          <a:lstStyle/>
          <a:p>
            <a:pPr algn="l">
              <a:lnSpc>
                <a:spcPct val="112000"/>
              </a:lnSpc>
            </a:pPr>
            <a:r>
              <a:rPr sz="2200" b="0">
                <a:solidFill>
                  <a:srgbClr val="F5F7FA"/>
                </a:solidFill>
                <a:latin typeface="Arial"/>
              </a:rPr>
              <a:t>Inject plausible but </a:t>
            </a:r>
            <a:r>
              <a:rPr sz="2000" b="1">
                <a:solidFill>
                  <a:srgbClr val="00FF41"/>
                </a:solidFill>
                <a:latin typeface="Arial"/>
              </a:rPr>
              <a:t>fabricated</a:t>
            </a:r>
            <a:r>
              <a:rPr sz="2200" b="0">
                <a:solidFill>
                  <a:srgbClr val="F5F7FA"/>
                </a:solidFill>
                <a:latin typeface="Arial"/>
              </a:rPr>
              <a:t> facts into your own site — invisible to humans, visible to AI scrapers. Obfuscation as self-defense.</a:t>
            </a:r>
          </a:p>
          <a:p>
            <a:pPr algn="l">
              <a:lnSpc>
                <a:spcPct val="112000"/>
              </a:lnSpc>
            </a:pPr>
            <a:r>
              <a:rPr sz="2000" b="0">
                <a:solidFill>
                  <a:srgbClr val="F5F7FA"/>
                </a:solidFill>
                <a:latin typeface="Arial"/>
              </a:rPr>
              <a:t/>
            </a:r>
          </a:p>
          <a:p>
            <a:pPr algn="l">
              <a:lnSpc>
                <a:spcPct val="112000"/>
              </a:lnSpc>
            </a:pPr>
            <a:r>
              <a:rPr sz="1800" b="0">
                <a:solidFill>
                  <a:srgbClr val="00FF41"/>
                </a:solidFill>
                <a:latin typeface="Courier New"/>
              </a:rPr>
              <a:t>clip: rect(0,0,0,0)</a:t>
            </a:r>
            <a:r>
              <a:rPr sz="1800" b="0">
                <a:solidFill>
                  <a:srgbClr val="8A94A6"/>
                </a:solidFill>
                <a:latin typeface="Arial"/>
              </a:rPr>
              <a:t> keeps the text in the render tree but trims it to 0px — the scraper ingests your decoy; the human sees nothing.</a:t>
            </a:r>
          </a:p>
        </p:txBody>
      </p:sp>
      <p:sp>
        <p:nvSpPr>
          <p:cNvPr id="6" name="TextBox 5"/>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DEEP DIVE · PRIVACY</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914400"/>
          </a:xfrm>
          <a:prstGeom prst="rect">
            <a:avLst/>
          </a:prstGeom>
          <a:noFill/>
        </p:spPr>
        <p:txBody>
          <a:bodyPr wrap="square" anchor="t">
            <a:spAutoFit/>
          </a:bodyPr>
          <a:lstStyle/>
          <a:p>
            <a:pPr algn="l">
              <a:lnSpc>
                <a:spcPct val="100000"/>
              </a:lnSpc>
            </a:pPr>
            <a:r>
              <a:rPr sz="3000" b="1">
                <a:solidFill>
                  <a:srgbClr val="F5F7FA"/>
                </a:solidFill>
                <a:latin typeface="Arial"/>
              </a:rPr>
              <a:t>Prompt injection as obfuscation</a:t>
            </a:r>
          </a:p>
        </p:txBody>
      </p:sp>
      <p:sp>
        <p:nvSpPr>
          <p:cNvPr id="5" name="Rounded Rectangle 4"/>
          <p:cNvSpPr/>
          <p:nvPr/>
        </p:nvSpPr>
        <p:spPr>
          <a:xfrm>
            <a:off x="2194560" y="2331720"/>
            <a:ext cx="7772400" cy="3566160"/>
          </a:xfrm>
          <a:prstGeom prst="roundRect">
            <a:avLst/>
          </a:prstGeom>
          <a:solidFill>
            <a:srgbClr val="151B26"/>
          </a:solidFill>
          <a:ln w="19050">
            <a:solidFill>
              <a:srgbClr val="00FF4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94560" y="3383280"/>
            <a:ext cx="7772400" cy="731520"/>
          </a:xfrm>
          <a:prstGeom prst="rect">
            <a:avLst/>
          </a:prstGeom>
          <a:noFill/>
        </p:spPr>
        <p:txBody>
          <a:bodyPr wrap="square" anchor="t">
            <a:spAutoFit/>
          </a:bodyPr>
          <a:lstStyle/>
          <a:p>
            <a:pPr algn="ctr">
              <a:lnSpc>
                <a:spcPct val="100000"/>
              </a:lnSpc>
            </a:pPr>
            <a:r>
              <a:rPr sz="2200" b="1">
                <a:solidFill>
                  <a:srgbClr val="00FF41"/>
                </a:solidFill>
                <a:latin typeface="Courier New"/>
              </a:rPr>
              <a:t>🎤 Hauke’s slide</a:t>
            </a:r>
          </a:p>
        </p:txBody>
      </p:sp>
      <p:sp>
        <p:nvSpPr>
          <p:cNvPr id="7" name="TextBox 6"/>
          <p:cNvSpPr txBox="1"/>
          <p:nvPr/>
        </p:nvSpPr>
        <p:spPr>
          <a:xfrm>
            <a:off x="2194560" y="4114800"/>
            <a:ext cx="7772400" cy="731520"/>
          </a:xfrm>
          <a:prstGeom prst="rect">
            <a:avLst/>
          </a:prstGeom>
          <a:noFill/>
        </p:spPr>
        <p:txBody>
          <a:bodyPr wrap="square" anchor="t">
            <a:spAutoFit/>
          </a:bodyPr>
          <a:lstStyle/>
          <a:p>
            <a:pPr algn="ctr">
              <a:lnSpc>
                <a:spcPct val="100000"/>
              </a:lnSpc>
            </a:pPr>
            <a:r>
              <a:rPr sz="1400" b="0">
                <a:solidFill>
                  <a:srgbClr val="8A94A6"/>
                </a:solidFill>
                <a:latin typeface="Arial"/>
              </a:rPr>
              <a:t>Drop in the prompt-injection-as-obfuscation material here (hidden instructions that redirect a scraping agent).</a:t>
            </a:r>
          </a:p>
        </p:txBody>
      </p:sp>
      <p:sp>
        <p:nvSpPr>
          <p:cNvPr id="8" name="TextBox 7"/>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DEEP DIVE · LABOR</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1097280"/>
          </a:xfrm>
          <a:prstGeom prst="rect">
            <a:avLst/>
          </a:prstGeom>
          <a:noFill/>
        </p:spPr>
        <p:txBody>
          <a:bodyPr wrap="square" anchor="t">
            <a:spAutoFit/>
          </a:bodyPr>
          <a:lstStyle/>
          <a:p>
            <a:pPr algn="l">
              <a:lnSpc>
                <a:spcPct val="100000"/>
              </a:lnSpc>
            </a:pPr>
            <a:r>
              <a:rPr sz="3400" b="1">
                <a:solidFill>
                  <a:srgbClr val="F5F7FA"/>
                </a:solidFill>
                <a:latin typeface="Arial"/>
              </a:rPr>
              <a:t>Hide your knowledge from the machine</a:t>
            </a:r>
          </a:p>
        </p:txBody>
      </p:sp>
      <p:sp>
        <p:nvSpPr>
          <p:cNvPr id="5" name="TextBox 4"/>
          <p:cNvSpPr txBox="1"/>
          <p:nvPr/>
        </p:nvSpPr>
        <p:spPr>
          <a:xfrm>
            <a:off x="658368" y="2286000"/>
            <a:ext cx="10881360" cy="3657600"/>
          </a:xfrm>
          <a:prstGeom prst="rect">
            <a:avLst/>
          </a:prstGeom>
          <a:noFill/>
        </p:spPr>
        <p:txBody>
          <a:bodyPr wrap="square" anchor="t">
            <a:spAutoFit/>
          </a:bodyPr>
          <a:lstStyle/>
          <a:p>
            <a:pPr algn="l">
              <a:lnSpc>
                <a:spcPct val="112000"/>
              </a:lnSpc>
            </a:pPr>
            <a:r>
              <a:rPr sz="2100" b="0">
                <a:solidFill>
                  <a:srgbClr val="F5F7FA"/>
                </a:solidFill>
                <a:latin typeface="Arial"/>
              </a:rPr>
              <a:t>In China, workers build </a:t>
            </a:r>
            <a:r>
              <a:rPr sz="2100" b="0">
                <a:solidFill>
                  <a:srgbClr val="00FF41"/>
                </a:solidFill>
                <a:latin typeface="Courier New"/>
              </a:rPr>
              <a:t>colleague.skill</a:t>
            </a:r>
            <a:r>
              <a:rPr sz="2100" b="0">
                <a:solidFill>
                  <a:srgbClr val="F5F7FA"/>
                </a:solidFill>
                <a:latin typeface="Arial"/>
              </a:rPr>
              <a:t> files — AI replicas of a coworker’s know-how — to make each other redundant.</a:t>
            </a:r>
          </a:p>
          <a:p>
            <a:pPr algn="l">
              <a:lnSpc>
                <a:spcPct val="112000"/>
              </a:lnSpc>
            </a:pPr>
            <a:r>
              <a:rPr sz="2000" b="0">
                <a:solidFill>
                  <a:srgbClr val="F5F7FA"/>
                </a:solidFill>
                <a:latin typeface="Arial"/>
              </a:rPr>
              <a:t/>
            </a:r>
          </a:p>
          <a:p>
            <a:pPr algn="l">
              <a:lnSpc>
                <a:spcPct val="112000"/>
              </a:lnSpc>
            </a:pPr>
            <a:r>
              <a:rPr sz="2100" b="0">
                <a:solidFill>
                  <a:srgbClr val="F5F7FA"/>
                </a:solidFill>
                <a:latin typeface="Arial"/>
              </a:rPr>
              <a:t>The counter-move: </a:t>
            </a:r>
            <a:r>
              <a:rPr sz="2100" b="0">
                <a:solidFill>
                  <a:srgbClr val="00FF41"/>
                </a:solidFill>
                <a:latin typeface="Courier New"/>
              </a:rPr>
              <a:t>anti-distillation.skill</a:t>
            </a:r>
            <a:r>
              <a:rPr sz="2100" b="0">
                <a:solidFill>
                  <a:srgbClr val="F5F7FA"/>
                </a:solidFill>
                <a:latin typeface="Arial"/>
              </a:rPr>
              <a:t> — strip your tacit knowledge before it’s captured. “Nobody wants to be turned into a skill file and lose their job.”</a:t>
            </a:r>
          </a:p>
        </p:txBody>
      </p:sp>
      <p:sp>
        <p:nvSpPr>
          <p:cNvPr id="6" name="TextBox 5"/>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DEEP DIVE · PRIVACY OF GROUPS</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1097280"/>
          </a:xfrm>
          <a:prstGeom prst="rect">
            <a:avLst/>
          </a:prstGeom>
          <a:noFill/>
        </p:spPr>
        <p:txBody>
          <a:bodyPr wrap="square" anchor="t">
            <a:spAutoFit/>
          </a:bodyPr>
          <a:lstStyle/>
          <a:p>
            <a:pPr algn="l">
              <a:lnSpc>
                <a:spcPct val="100000"/>
              </a:lnSpc>
            </a:pPr>
            <a:r>
              <a:rPr sz="3400" b="1">
                <a:solidFill>
                  <a:srgbClr val="F5F7FA"/>
                </a:solidFill>
                <a:latin typeface="Arial"/>
              </a:rPr>
              <a:t>When blurring isn’t enough (Franchi, Sandhaus et al.)</a:t>
            </a:r>
          </a:p>
        </p:txBody>
      </p:sp>
      <p:sp>
        <p:nvSpPr>
          <p:cNvPr id="5" name="TextBox 4"/>
          <p:cNvSpPr txBox="1"/>
          <p:nvPr/>
        </p:nvSpPr>
        <p:spPr>
          <a:xfrm>
            <a:off x="658368" y="2286000"/>
            <a:ext cx="10881360" cy="3657600"/>
          </a:xfrm>
          <a:prstGeom prst="rect">
            <a:avLst/>
          </a:prstGeom>
          <a:noFill/>
        </p:spPr>
        <p:txBody>
          <a:bodyPr wrap="square" anchor="t">
            <a:spAutoFit/>
          </a:bodyPr>
          <a:lstStyle/>
          <a:p>
            <a:pPr algn="l">
              <a:lnSpc>
                <a:spcPct val="112000"/>
              </a:lnSpc>
            </a:pPr>
            <a:r>
              <a:rPr sz="2000" b="0">
                <a:solidFill>
                  <a:srgbClr val="F5F7FA"/>
                </a:solidFill>
                <a:latin typeface="Arial"/>
              </a:rPr>
              <a:t>Dense Street Imagery: ~3 trillion photos of public streets (dashcams, Waymo, Lyft). Faces and plates are blurred.</a:t>
            </a:r>
          </a:p>
          <a:p>
            <a:pPr algn="l">
              <a:lnSpc>
                <a:spcPct val="112000"/>
              </a:lnSpc>
            </a:pPr>
            <a:r>
              <a:rPr sz="2000" b="0">
                <a:solidFill>
                  <a:srgbClr val="F5F7FA"/>
                </a:solidFill>
                <a:latin typeface="Arial"/>
              </a:rPr>
              <a:t/>
            </a:r>
          </a:p>
          <a:p>
            <a:pPr algn="l">
              <a:lnSpc>
                <a:spcPct val="112000"/>
              </a:lnSpc>
            </a:pPr>
            <a:r>
              <a:rPr sz="2000" b="1">
                <a:solidFill>
                  <a:srgbClr val="00FF41"/>
                </a:solidFill>
                <a:latin typeface="Arial"/>
              </a:rPr>
              <a:t>The finding: </a:t>
            </a:r>
            <a:r>
              <a:rPr sz="2000" b="0">
                <a:solidFill>
                  <a:srgbClr val="F5F7FA"/>
                </a:solidFill>
                <a:latin typeface="Arial"/>
              </a:rPr>
              <a:t>AI can still infer sensitive GROUP membership from ‘anonymized’ people. The paper red-teams the blur — then maps who’s exposed and how to protect them.</a:t>
            </a:r>
          </a:p>
        </p:txBody>
      </p:sp>
      <p:sp>
        <p:nvSpPr>
          <p:cNvPr id="6" name="TextBox 5"/>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DEEP DIVE · CREATIVE OWNERSHIP</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1097280"/>
          </a:xfrm>
          <a:prstGeom prst="rect">
            <a:avLst/>
          </a:prstGeom>
          <a:noFill/>
        </p:spPr>
        <p:txBody>
          <a:bodyPr wrap="square" anchor="t">
            <a:spAutoFit/>
          </a:bodyPr>
          <a:lstStyle/>
          <a:p>
            <a:pPr algn="l">
              <a:lnSpc>
                <a:spcPct val="100000"/>
              </a:lnSpc>
            </a:pPr>
            <a:r>
              <a:rPr sz="3400" b="1">
                <a:solidFill>
                  <a:srgbClr val="F5F7FA"/>
                </a:solidFill>
                <a:latin typeface="Arial"/>
              </a:rPr>
              <a:t>Cloak it, or poison it</a:t>
            </a:r>
          </a:p>
        </p:txBody>
      </p:sp>
      <p:sp>
        <p:nvSpPr>
          <p:cNvPr id="5" name="TextBox 4"/>
          <p:cNvSpPr txBox="1"/>
          <p:nvPr/>
        </p:nvSpPr>
        <p:spPr>
          <a:xfrm>
            <a:off x="658368" y="2286000"/>
            <a:ext cx="10881360" cy="3657600"/>
          </a:xfrm>
          <a:prstGeom prst="rect">
            <a:avLst/>
          </a:prstGeom>
          <a:noFill/>
        </p:spPr>
        <p:txBody>
          <a:bodyPr wrap="square" anchor="t">
            <a:spAutoFit/>
          </a:bodyPr>
          <a:lstStyle/>
          <a:p>
            <a:pPr algn="l">
              <a:lnSpc>
                <a:spcPct val="112000"/>
              </a:lnSpc>
            </a:pPr>
            <a:r>
              <a:rPr sz="2100" b="1">
                <a:solidFill>
                  <a:srgbClr val="00FF41"/>
                </a:solidFill>
                <a:latin typeface="Arial"/>
              </a:rPr>
              <a:t>Glaze</a:t>
            </a:r>
            <a:r>
              <a:rPr sz="2100" b="0">
                <a:solidFill>
                  <a:srgbClr val="F5F7FA"/>
                </a:solidFill>
                <a:latin typeface="Arial"/>
              </a:rPr>
              <a:t> adds perturbations invisible to you but confusing to a model — it can’t copy your style.</a:t>
            </a:r>
          </a:p>
          <a:p>
            <a:pPr algn="l">
              <a:lnSpc>
                <a:spcPct val="112000"/>
              </a:lnSpc>
            </a:pPr>
            <a:r>
              <a:rPr sz="2000" b="0">
                <a:solidFill>
                  <a:srgbClr val="F5F7FA"/>
                </a:solidFill>
                <a:latin typeface="Arial"/>
              </a:rPr>
              <a:t/>
            </a:r>
          </a:p>
          <a:p>
            <a:pPr algn="l">
              <a:lnSpc>
                <a:spcPct val="112000"/>
              </a:lnSpc>
            </a:pPr>
            <a:r>
              <a:rPr sz="2100" b="1">
                <a:solidFill>
                  <a:srgbClr val="00FF41"/>
                </a:solidFill>
                <a:latin typeface="Arial"/>
              </a:rPr>
              <a:t>Nightshade</a:t>
            </a:r>
            <a:r>
              <a:rPr sz="2100" b="0">
                <a:solidFill>
                  <a:srgbClr val="F5F7FA"/>
                </a:solidFill>
                <a:latin typeface="Arial"/>
              </a:rPr>
              <a:t> goes further — poisoned images corrupt any model that trains on them. </a:t>
            </a:r>
            <a:r>
              <a:rPr sz="2100" b="1">
                <a:solidFill>
                  <a:srgbClr val="00FF41"/>
                </a:solidFill>
                <a:latin typeface="Arial"/>
              </a:rPr>
              <a:t>PhotoGuard</a:t>
            </a:r>
            <a:r>
              <a:rPr sz="2100" b="0">
                <a:solidFill>
                  <a:srgbClr val="F5F7FA"/>
                </a:solidFill>
                <a:latin typeface="Arial"/>
              </a:rPr>
              <a:t> immunizes photos so AI can’t edit them into deepfakes.</a:t>
            </a:r>
          </a:p>
        </p:txBody>
      </p:sp>
      <p:sp>
        <p:nvSpPr>
          <p:cNvPr id="6" name="TextBox 5"/>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DEEP DIVE · TRUTH</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1097280"/>
          </a:xfrm>
          <a:prstGeom prst="rect">
            <a:avLst/>
          </a:prstGeom>
          <a:noFill/>
        </p:spPr>
        <p:txBody>
          <a:bodyPr wrap="square" anchor="t">
            <a:spAutoFit/>
          </a:bodyPr>
          <a:lstStyle/>
          <a:p>
            <a:pPr algn="l">
              <a:lnSpc>
                <a:spcPct val="100000"/>
              </a:lnSpc>
            </a:pPr>
            <a:r>
              <a:rPr sz="3400" b="1">
                <a:solidFill>
                  <a:srgbClr val="F5F7FA"/>
                </a:solidFill>
                <a:latin typeface="Arial"/>
              </a:rPr>
              <a:t>Prove what’s real</a:t>
            </a:r>
          </a:p>
        </p:txBody>
      </p:sp>
      <p:sp>
        <p:nvSpPr>
          <p:cNvPr id="5" name="TextBox 4"/>
          <p:cNvSpPr txBox="1"/>
          <p:nvPr/>
        </p:nvSpPr>
        <p:spPr>
          <a:xfrm>
            <a:off x="658368" y="2286000"/>
            <a:ext cx="10881360" cy="3657600"/>
          </a:xfrm>
          <a:prstGeom prst="rect">
            <a:avLst/>
          </a:prstGeom>
          <a:noFill/>
        </p:spPr>
        <p:txBody>
          <a:bodyPr wrap="square" anchor="t">
            <a:spAutoFit/>
          </a:bodyPr>
          <a:lstStyle/>
          <a:p>
            <a:pPr algn="l">
              <a:lnSpc>
                <a:spcPct val="112000"/>
              </a:lnSpc>
            </a:pPr>
            <a:r>
              <a:rPr sz="2100" b="0">
                <a:solidFill>
                  <a:srgbClr val="F5F7FA"/>
                </a:solidFill>
                <a:latin typeface="Arial"/>
              </a:rPr>
              <a:t>Instead of spotting fakes after the fact, sign the </a:t>
            </a:r>
            <a:r>
              <a:rPr sz="2100" b="1">
                <a:solidFill>
                  <a:srgbClr val="00FF41"/>
                </a:solidFill>
                <a:latin typeface="Arial"/>
              </a:rPr>
              <a:t>real</a:t>
            </a:r>
            <a:r>
              <a:rPr sz="2100" b="0">
                <a:solidFill>
                  <a:srgbClr val="F5F7FA"/>
                </a:solidFill>
                <a:latin typeface="Arial"/>
              </a:rPr>
              <a:t> thing at creation.</a:t>
            </a:r>
          </a:p>
          <a:p>
            <a:pPr algn="l">
              <a:lnSpc>
                <a:spcPct val="112000"/>
              </a:lnSpc>
            </a:pPr>
            <a:r>
              <a:rPr sz="2000" b="0">
                <a:solidFill>
                  <a:srgbClr val="F5F7FA"/>
                </a:solidFill>
                <a:latin typeface="Arial"/>
              </a:rPr>
              <a:t/>
            </a:r>
          </a:p>
          <a:p>
            <a:pPr algn="l">
              <a:lnSpc>
                <a:spcPct val="112000"/>
              </a:lnSpc>
            </a:pPr>
            <a:r>
              <a:rPr sz="2000" b="1">
                <a:solidFill>
                  <a:srgbClr val="00FF41"/>
                </a:solidFill>
                <a:latin typeface="Arial"/>
              </a:rPr>
              <a:t>C2PA / Content Credentials</a:t>
            </a:r>
            <a:r>
              <a:rPr sz="2000" b="0">
                <a:solidFill>
                  <a:srgbClr val="F5F7FA"/>
                </a:solidFill>
                <a:latin typeface="Arial"/>
              </a:rPr>
              <a:t> attach tamper-evident provenance to media. Pair with AI-text and deepfake detectors — imperfect, but a signal.</a:t>
            </a:r>
          </a:p>
        </p:txBody>
      </p:sp>
      <p:sp>
        <p:nvSpPr>
          <p:cNvPr id="6" name="TextBox 5"/>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THE CATCH</a:t>
            </a:r>
          </a:p>
        </p:txBody>
      </p:sp>
      <p:sp>
        <p:nvSpPr>
          <p:cNvPr id="3" name="TextBox 2"/>
          <p:cNvSpPr txBox="1"/>
          <p:nvPr/>
        </p:nvSpPr>
        <p:spPr>
          <a:xfrm>
            <a:off x="1097280" y="548640"/>
            <a:ext cx="2743200" cy="1828800"/>
          </a:xfrm>
          <a:prstGeom prst="rect">
            <a:avLst/>
          </a:prstGeom>
          <a:noFill/>
        </p:spPr>
        <p:txBody>
          <a:bodyPr wrap="square" anchor="t">
            <a:spAutoFit/>
          </a:bodyPr>
          <a:lstStyle/>
          <a:p>
            <a:pPr algn="l">
              <a:lnSpc>
                <a:spcPct val="100000"/>
              </a:lnSpc>
            </a:pPr>
            <a:r>
              <a:rPr sz="12000" b="1">
                <a:solidFill>
                  <a:srgbClr val="00FF41"/>
                </a:solidFill>
                <a:latin typeface="Arial"/>
              </a:rPr>
              <a:t>?</a:t>
            </a:r>
          </a:p>
        </p:txBody>
      </p:sp>
      <p:sp>
        <p:nvSpPr>
          <p:cNvPr id="4" name="TextBox 3"/>
          <p:cNvSpPr txBox="1"/>
          <p:nvPr/>
        </p:nvSpPr>
        <p:spPr>
          <a:xfrm>
            <a:off x="1097280" y="2743200"/>
            <a:ext cx="10058400" cy="3108960"/>
          </a:xfrm>
          <a:prstGeom prst="rect">
            <a:avLst/>
          </a:prstGeom>
          <a:noFill/>
        </p:spPr>
        <p:txBody>
          <a:bodyPr wrap="square" anchor="t">
            <a:spAutoFit/>
          </a:bodyPr>
          <a:lstStyle/>
          <a:p>
            <a:pPr algn="l">
              <a:lnSpc>
                <a:spcPct val="112000"/>
              </a:lnSpc>
            </a:pPr>
            <a:r>
              <a:rPr sz="3000" b="1">
                <a:solidFill>
                  <a:srgbClr val="F5F7FA"/>
                </a:solidFill>
                <a:latin typeface="Arial"/>
              </a:rPr>
              <a:t>Every defense provokes a counter-move.</a:t>
            </a:r>
          </a:p>
          <a:p>
            <a:pPr algn="l">
              <a:lnSpc>
                <a:spcPct val="112000"/>
              </a:lnSpc>
            </a:pPr>
            <a:r>
              <a:rPr sz="3000" b="1">
                <a:solidFill>
                  <a:srgbClr val="F5F7FA"/>
                </a:solidFill>
                <a:latin typeface="Arial"/>
              </a:rPr>
              <a:t>The same inference that protects can also expose.</a:t>
            </a:r>
          </a:p>
        </p:txBody>
      </p:sp>
      <p:sp>
        <p:nvSpPr>
          <p:cNvPr id="5" name="TextBox 4"/>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BACK TO YOUR WARM-UP</a:t>
            </a:r>
          </a:p>
        </p:txBody>
      </p:sp>
      <p:sp>
        <p:nvSpPr>
          <p:cNvPr id="3" name="TextBox 2"/>
          <p:cNvSpPr txBox="1"/>
          <p:nvPr/>
        </p:nvSpPr>
        <p:spPr>
          <a:xfrm>
            <a:off x="1097280" y="548640"/>
            <a:ext cx="2743200" cy="1828800"/>
          </a:xfrm>
          <a:prstGeom prst="rect">
            <a:avLst/>
          </a:prstGeom>
          <a:noFill/>
        </p:spPr>
        <p:txBody>
          <a:bodyPr wrap="square" anchor="t">
            <a:spAutoFit/>
          </a:bodyPr>
          <a:lstStyle/>
          <a:p>
            <a:pPr algn="l">
              <a:lnSpc>
                <a:spcPct val="100000"/>
              </a:lnSpc>
            </a:pPr>
            <a:r>
              <a:rPr sz="12000" b="1">
                <a:solidFill>
                  <a:srgbClr val="00FF41"/>
                </a:solidFill>
                <a:latin typeface="Arial"/>
              </a:rPr>
              <a:t>?</a:t>
            </a:r>
          </a:p>
        </p:txBody>
      </p:sp>
      <p:sp>
        <p:nvSpPr>
          <p:cNvPr id="4" name="TextBox 3"/>
          <p:cNvSpPr txBox="1"/>
          <p:nvPr/>
        </p:nvSpPr>
        <p:spPr>
          <a:xfrm>
            <a:off x="1097280" y="2743200"/>
            <a:ext cx="10058400" cy="3108960"/>
          </a:xfrm>
          <a:prstGeom prst="rect">
            <a:avLst/>
          </a:prstGeom>
          <a:noFill/>
        </p:spPr>
        <p:txBody>
          <a:bodyPr wrap="square" anchor="t">
            <a:spAutoFit/>
          </a:bodyPr>
          <a:lstStyle/>
          <a:p>
            <a:pPr algn="l">
              <a:lnSpc>
                <a:spcPct val="112000"/>
              </a:lnSpc>
            </a:pPr>
            <a:r>
              <a:rPr sz="3000" b="1">
                <a:solidFill>
                  <a:srgbClr val="F5F7FA"/>
                </a:solidFill>
                <a:latin typeface="Arial"/>
              </a:rPr>
              <a:t>Pick a harm from the red map —</a:t>
            </a:r>
          </a:p>
          <a:p>
            <a:pPr algn="l">
              <a:lnSpc>
                <a:spcPct val="112000"/>
              </a:lnSpc>
            </a:pPr>
            <a:r>
              <a:rPr sz="3000" b="1">
                <a:solidFill>
                  <a:srgbClr val="F5F7FA"/>
                </a:solidFill>
                <a:latin typeface="Arial"/>
              </a:rPr>
              <a:t>your defense becomes your Part B. Build it.</a:t>
            </a:r>
          </a:p>
        </p:txBody>
      </p:sp>
      <p:sp>
        <p:nvSpPr>
          <p:cNvPr id="5" name="TextBox 4"/>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DO IT · PART A</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1097280"/>
          </a:xfrm>
          <a:prstGeom prst="rect">
            <a:avLst/>
          </a:prstGeom>
          <a:noFill/>
        </p:spPr>
        <p:txBody>
          <a:bodyPr wrap="square" anchor="t">
            <a:spAutoFit/>
          </a:bodyPr>
          <a:lstStyle/>
          <a:p>
            <a:pPr algn="l">
              <a:lnSpc>
                <a:spcPct val="100000"/>
              </a:lnSpc>
            </a:pPr>
            <a:r>
              <a:rPr sz="3400" b="1">
                <a:solidFill>
                  <a:srgbClr val="F5F7FA"/>
                </a:solidFill>
                <a:latin typeface="Arial"/>
              </a:rPr>
              <a:t>First: poison your own scraper</a:t>
            </a:r>
          </a:p>
        </p:txBody>
      </p:sp>
      <p:sp>
        <p:nvSpPr>
          <p:cNvPr id="5" name="TextBox 4"/>
          <p:cNvSpPr txBox="1"/>
          <p:nvPr/>
        </p:nvSpPr>
        <p:spPr>
          <a:xfrm>
            <a:off x="658368" y="2286000"/>
            <a:ext cx="10881360" cy="3657600"/>
          </a:xfrm>
          <a:prstGeom prst="rect">
            <a:avLst/>
          </a:prstGeom>
          <a:noFill/>
        </p:spPr>
        <p:txBody>
          <a:bodyPr wrap="square" anchor="t">
            <a:spAutoFit/>
          </a:bodyPr>
          <a:lstStyle/>
          <a:p>
            <a:pPr algn="l">
              <a:lnSpc>
                <a:spcPct val="112000"/>
              </a:lnSpc>
            </a:pPr>
            <a:r>
              <a:rPr sz="2000" b="1">
                <a:solidFill>
                  <a:srgbClr val="00FF41"/>
                </a:solidFill>
                <a:latin typeface="Arial"/>
              </a:rPr>
              <a:t>•  </a:t>
            </a:r>
            <a:r>
              <a:rPr sz="2000" b="0">
                <a:solidFill>
                  <a:srgbClr val="F5F7FA"/>
                </a:solidFill>
                <a:latin typeface="Arial"/>
              </a:rPr>
              <a:t>Open your Week 1 site (week1/7_13).</a:t>
            </a:r>
          </a:p>
          <a:p>
            <a:pPr algn="l">
              <a:lnSpc>
                <a:spcPct val="112000"/>
              </a:lnSpc>
            </a:pPr>
            <a:r>
              <a:rPr sz="2000" b="1">
                <a:solidFill>
                  <a:srgbClr val="00FF41"/>
                </a:solidFill>
                <a:latin typeface="Arial"/>
              </a:rPr>
              <a:t>•  </a:t>
            </a:r>
            <a:r>
              <a:rPr sz="2000" b="0">
                <a:solidFill>
                  <a:srgbClr val="F5F7FA"/>
                </a:solidFill>
                <a:latin typeface="Arial"/>
              </a:rPr>
              <a:t>Add 2–3 plausible fake facts, hidden with CSS clip + aria-hidden — NOT display:none.</a:t>
            </a:r>
          </a:p>
          <a:p>
            <a:pPr algn="l">
              <a:lnSpc>
                <a:spcPct val="112000"/>
              </a:lnSpc>
            </a:pPr>
            <a:r>
              <a:rPr sz="2000" b="1">
                <a:solidFill>
                  <a:srgbClr val="00FF41"/>
                </a:solidFill>
                <a:latin typeface="Arial"/>
              </a:rPr>
              <a:t>•  </a:t>
            </a:r>
            <a:r>
              <a:rPr sz="2000" b="0">
                <a:solidFill>
                  <a:srgbClr val="F5F7FA"/>
                </a:solidFill>
                <a:latin typeface="Arial"/>
              </a:rPr>
              <a:t>Verify with curl that the decoy is in the raw payload but invisible on the page.</a:t>
            </a:r>
          </a:p>
          <a:p>
            <a:pPr algn="l">
              <a:lnSpc>
                <a:spcPct val="112000"/>
              </a:lnSpc>
            </a:pPr>
            <a:r>
              <a:rPr sz="2000" b="1">
                <a:solidFill>
                  <a:srgbClr val="00FF41"/>
                </a:solidFill>
                <a:latin typeface="Arial"/>
              </a:rPr>
              <a:t>•  </a:t>
            </a:r>
            <a:r>
              <a:rPr sz="2000" b="0">
                <a:solidFill>
                  <a:srgbClr val="F5F7FA"/>
                </a:solidFill>
                <a:latin typeface="Arial"/>
              </a:rPr>
              <a:t>~30 minutes — then move to your own build.</a:t>
            </a:r>
          </a:p>
        </p:txBody>
      </p:sp>
      <p:sp>
        <p:nvSpPr>
          <p:cNvPr id="6" name="TextBox 5"/>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DO IT · PART B</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1097280"/>
          </a:xfrm>
          <a:prstGeom prst="rect">
            <a:avLst/>
          </a:prstGeom>
          <a:noFill/>
        </p:spPr>
        <p:txBody>
          <a:bodyPr wrap="square" anchor="t">
            <a:spAutoFit/>
          </a:bodyPr>
          <a:lstStyle/>
          <a:p>
            <a:pPr algn="l">
              <a:lnSpc>
                <a:spcPct val="100000"/>
              </a:lnSpc>
            </a:pPr>
            <a:r>
              <a:rPr sz="3400" b="1">
                <a:solidFill>
                  <a:srgbClr val="F5F7FA"/>
                </a:solidFill>
                <a:latin typeface="Arial"/>
              </a:rPr>
              <a:t>Then: build your AI-against-AI project</a:t>
            </a:r>
          </a:p>
        </p:txBody>
      </p:sp>
      <p:sp>
        <p:nvSpPr>
          <p:cNvPr id="5" name="TextBox 4"/>
          <p:cNvSpPr txBox="1"/>
          <p:nvPr/>
        </p:nvSpPr>
        <p:spPr>
          <a:xfrm>
            <a:off x="658368" y="2286000"/>
            <a:ext cx="10881360" cy="3657600"/>
          </a:xfrm>
          <a:prstGeom prst="rect">
            <a:avLst/>
          </a:prstGeom>
          <a:noFill/>
        </p:spPr>
        <p:txBody>
          <a:bodyPr wrap="square" anchor="t">
            <a:spAutoFit/>
          </a:bodyPr>
          <a:lstStyle/>
          <a:p>
            <a:pPr algn="l">
              <a:lnSpc>
                <a:spcPct val="112000"/>
              </a:lnSpc>
            </a:pPr>
            <a:r>
              <a:rPr sz="2000" b="1">
                <a:solidFill>
                  <a:srgbClr val="00FF41"/>
                </a:solidFill>
                <a:latin typeface="Arial"/>
              </a:rPr>
              <a:t>•  </a:t>
            </a:r>
            <a:r>
              <a:rPr sz="2000" b="0">
                <a:solidFill>
                  <a:srgbClr val="F5F7FA"/>
                </a:solidFill>
                <a:latin typeface="Arial"/>
              </a:rPr>
              <a:t>Build the defense you picked — hosted, in week2/7_22/code_deliverable.</a:t>
            </a:r>
          </a:p>
          <a:p>
            <a:pPr algn="l">
              <a:lnSpc>
                <a:spcPct val="112000"/>
              </a:lnSpc>
            </a:pPr>
            <a:r>
              <a:rPr sz="2000" b="1">
                <a:solidFill>
                  <a:srgbClr val="00FF41"/>
                </a:solidFill>
                <a:latin typeface="Arial"/>
              </a:rPr>
              <a:t>•  </a:t>
            </a:r>
            <a:r>
              <a:rPr sz="2000" b="0">
                <a:solidFill>
                  <a:srgbClr val="F5F7FA"/>
                </a:solidFill>
                <a:latin typeface="Arial"/>
              </a:rPr>
              <a:t>Starting points: style cloaking · privacy noise (TrackMeNot) · block-the-bots · AI-vs-AI detector · worker-autonomy tool.</a:t>
            </a:r>
          </a:p>
          <a:p>
            <a:pPr algn="l">
              <a:lnSpc>
                <a:spcPct val="112000"/>
              </a:lnSpc>
            </a:pPr>
            <a:r>
              <a:rPr sz="2000" b="1">
                <a:solidFill>
                  <a:srgbClr val="00FF41"/>
                </a:solidFill>
                <a:latin typeface="Arial"/>
              </a:rPr>
              <a:t>•  </a:t>
            </a:r>
            <a:r>
              <a:rPr sz="2000" b="0">
                <a:solidFill>
                  <a:srgbClr val="F5F7FA"/>
                </a:solidFill>
                <a:latin typeface="Arial"/>
              </a:rPr>
              <a:t>Scope it to one page you can finish and demo — a working slice beats a grand plan.</a:t>
            </a:r>
          </a:p>
          <a:p>
            <a:pPr algn="l">
              <a:lnSpc>
                <a:spcPct val="112000"/>
              </a:lnSpc>
            </a:pPr>
            <a:r>
              <a:rPr sz="2000" b="1">
                <a:solidFill>
                  <a:srgbClr val="00FF41"/>
                </a:solidFill>
                <a:latin typeface="Arial"/>
              </a:rPr>
              <a:t>•  </a:t>
            </a:r>
            <a:r>
              <a:rPr sz="2000" b="0">
                <a:solidFill>
                  <a:srgbClr val="F5F7FA"/>
                </a:solidFill>
                <a:latin typeface="Arial"/>
              </a:rPr>
              <a:t>The live link is your submission; the report documents BOTH parts.</a:t>
            </a:r>
          </a:p>
        </p:txBody>
      </p:sp>
      <p:sp>
        <p:nvSpPr>
          <p:cNvPr id="6" name="TextBox 5"/>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THE ETHICS</a:t>
            </a:r>
          </a:p>
        </p:txBody>
      </p:sp>
      <p:sp>
        <p:nvSpPr>
          <p:cNvPr id="3" name="TextBox 2"/>
          <p:cNvSpPr txBox="1"/>
          <p:nvPr/>
        </p:nvSpPr>
        <p:spPr>
          <a:xfrm>
            <a:off x="1097280" y="548640"/>
            <a:ext cx="2743200" cy="1828800"/>
          </a:xfrm>
          <a:prstGeom prst="rect">
            <a:avLst/>
          </a:prstGeom>
          <a:noFill/>
        </p:spPr>
        <p:txBody>
          <a:bodyPr wrap="square" anchor="t">
            <a:spAutoFit/>
          </a:bodyPr>
          <a:lstStyle/>
          <a:p>
            <a:pPr algn="l">
              <a:lnSpc>
                <a:spcPct val="100000"/>
              </a:lnSpc>
            </a:pPr>
            <a:r>
              <a:rPr sz="12000" b="1">
                <a:solidFill>
                  <a:srgbClr val="00FF41"/>
                </a:solidFill>
                <a:latin typeface="Arial"/>
              </a:rPr>
              <a:t>?</a:t>
            </a:r>
          </a:p>
        </p:txBody>
      </p:sp>
      <p:sp>
        <p:nvSpPr>
          <p:cNvPr id="4" name="TextBox 3"/>
          <p:cNvSpPr txBox="1"/>
          <p:nvPr/>
        </p:nvSpPr>
        <p:spPr>
          <a:xfrm>
            <a:off x="1097280" y="2743200"/>
            <a:ext cx="10058400" cy="3108960"/>
          </a:xfrm>
          <a:prstGeom prst="rect">
            <a:avLst/>
          </a:prstGeom>
          <a:noFill/>
        </p:spPr>
        <p:txBody>
          <a:bodyPr wrap="square" anchor="t">
            <a:spAutoFit/>
          </a:bodyPr>
          <a:lstStyle/>
          <a:p>
            <a:pPr algn="l">
              <a:lnSpc>
                <a:spcPct val="112000"/>
              </a:lnSpc>
            </a:pPr>
            <a:r>
              <a:rPr sz="3000" b="1">
                <a:solidFill>
                  <a:srgbClr val="F5F7FA"/>
                </a:solidFill>
                <a:latin typeface="Arial"/>
              </a:rPr>
              <a:t>Defense vs. deception — where’s the line?</a:t>
            </a:r>
          </a:p>
          <a:p>
            <a:pPr algn="l">
              <a:lnSpc>
                <a:spcPct val="112000"/>
              </a:lnSpc>
            </a:pPr>
            <a:r>
              <a:rPr sz="3000" b="1">
                <a:solidFill>
                  <a:srgbClr val="F5F7FA"/>
                </a:solidFill>
                <a:latin typeface="Arial"/>
              </a:rPr>
              <a:t>Who could your technique harm, as well as protect?</a:t>
            </a:r>
          </a:p>
        </p:txBody>
      </p:sp>
      <p:sp>
        <p:nvSpPr>
          <p:cNvPr id="5" name="TextBox 4"/>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SOURCES</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1097280"/>
          </a:xfrm>
          <a:prstGeom prst="rect">
            <a:avLst/>
          </a:prstGeom>
          <a:noFill/>
        </p:spPr>
        <p:txBody>
          <a:bodyPr wrap="square" anchor="t">
            <a:spAutoFit/>
          </a:bodyPr>
          <a:lstStyle/>
          <a:p>
            <a:pPr algn="l">
              <a:lnSpc>
                <a:spcPct val="100000"/>
              </a:lnSpc>
            </a:pPr>
            <a:r>
              <a:rPr sz="3400" b="1">
                <a:solidFill>
                  <a:srgbClr val="F5F7FA"/>
                </a:solidFill>
                <a:latin typeface="Arial"/>
              </a:rPr>
              <a:t>Where the map comes from</a:t>
            </a:r>
          </a:p>
        </p:txBody>
      </p:sp>
      <p:sp>
        <p:nvSpPr>
          <p:cNvPr id="5" name="TextBox 4"/>
          <p:cNvSpPr txBox="1"/>
          <p:nvPr/>
        </p:nvSpPr>
        <p:spPr>
          <a:xfrm>
            <a:off x="658368" y="2286000"/>
            <a:ext cx="10881360" cy="3657600"/>
          </a:xfrm>
          <a:prstGeom prst="rect">
            <a:avLst/>
          </a:prstGeom>
          <a:noFill/>
        </p:spPr>
        <p:txBody>
          <a:bodyPr wrap="square" anchor="t">
            <a:spAutoFit/>
          </a:bodyPr>
          <a:lstStyle/>
          <a:p>
            <a:pPr algn="l">
              <a:lnSpc>
                <a:spcPct val="112000"/>
              </a:lnSpc>
            </a:pPr>
            <a:r>
              <a:rPr sz="2000" b="1">
                <a:solidFill>
                  <a:srgbClr val="00FF41"/>
                </a:solidFill>
                <a:latin typeface="Arial"/>
              </a:rPr>
              <a:t>•  </a:t>
            </a:r>
            <a:r>
              <a:rPr sz="2000" b="0">
                <a:solidFill>
                  <a:srgbClr val="F5F7FA"/>
                </a:solidFill>
                <a:latin typeface="Arial"/>
              </a:rPr>
              <a:t>Weidinger et al. 2022 — Taxonomy of Risks posed by Language Models (FAccT).</a:t>
            </a:r>
          </a:p>
          <a:p>
            <a:pPr algn="l">
              <a:lnSpc>
                <a:spcPct val="112000"/>
              </a:lnSpc>
            </a:pPr>
            <a:r>
              <a:rPr sz="2000" b="1">
                <a:solidFill>
                  <a:srgbClr val="00FF41"/>
                </a:solidFill>
                <a:latin typeface="Arial"/>
              </a:rPr>
              <a:t>•  </a:t>
            </a:r>
            <a:r>
              <a:rPr sz="2000" b="0">
                <a:solidFill>
                  <a:srgbClr val="F5F7FA"/>
                </a:solidFill>
                <a:latin typeface="Arial"/>
              </a:rPr>
              <a:t>Shelby et al. 2023 — Sociotechnical Harms of Algorithmic Systems (AIES).</a:t>
            </a:r>
          </a:p>
          <a:p>
            <a:pPr algn="l">
              <a:lnSpc>
                <a:spcPct val="112000"/>
              </a:lnSpc>
            </a:pPr>
            <a:r>
              <a:rPr sz="2000" b="1">
                <a:solidFill>
                  <a:srgbClr val="00FF41"/>
                </a:solidFill>
                <a:latin typeface="Arial"/>
              </a:rPr>
              <a:t>•  </a:t>
            </a:r>
            <a:r>
              <a:rPr sz="2000" b="0">
                <a:solidFill>
                  <a:srgbClr val="F5F7FA"/>
                </a:solidFill>
                <a:latin typeface="Arial"/>
              </a:rPr>
              <a:t>MIT AI Risk Repository (2024) · NIST AI Risk Management Framework (2023) · EU AI Act (2024).</a:t>
            </a:r>
          </a:p>
          <a:p>
            <a:pPr algn="l">
              <a:lnSpc>
                <a:spcPct val="112000"/>
              </a:lnSpc>
            </a:pPr>
            <a:r>
              <a:rPr sz="2000" b="1">
                <a:solidFill>
                  <a:srgbClr val="00FF41"/>
                </a:solidFill>
                <a:latin typeface="Arial"/>
              </a:rPr>
              <a:t>•  </a:t>
            </a:r>
            <a:r>
              <a:rPr sz="2000" b="0">
                <a:solidFill>
                  <a:srgbClr val="F5F7FA"/>
                </a:solidFill>
                <a:latin typeface="Arial"/>
              </a:rPr>
              <a:t>Incidents: NYT, CNN, NBC, NPR, TIME, CBS, Al Jazeera, Authors Guild; Li et al. 2023 (water).</a:t>
            </a:r>
          </a:p>
          <a:p>
            <a:pPr algn="l">
              <a:lnSpc>
                <a:spcPct val="112000"/>
              </a:lnSpc>
            </a:pPr>
            <a:r>
              <a:rPr sz="2000" b="1">
                <a:solidFill>
                  <a:srgbClr val="00FF41"/>
                </a:solidFill>
                <a:latin typeface="Arial"/>
              </a:rPr>
              <a:t>•  </a:t>
            </a:r>
            <a:r>
              <a:rPr sz="2000" b="0">
                <a:solidFill>
                  <a:srgbClr val="F5F7FA"/>
                </a:solidFill>
                <a:latin typeface="Arial"/>
              </a:rPr>
              <a:t>Defenses: Brunton &amp; Nissenbaum, Obfuscation · Franchi, Sandhaus et al. 2025 (DSI, FAccT).</a:t>
            </a:r>
          </a:p>
        </p:txBody>
      </p:sp>
      <p:sp>
        <p:nvSpPr>
          <p:cNvPr id="6" name="TextBox 5"/>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