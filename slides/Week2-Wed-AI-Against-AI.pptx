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3-hour class. The whole deck is a split: RED = the problem (how AI harms), GREEN = the defense (AI against AI). Say that up front so the colors read as good/bad.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Everyone jots 1–2 on paper / a sticky. No wrong answers — activate what they already know before the lecture enriches it. Tell them: hold onto your fightback idea — you can BUILD it as your Part B project this afternoon. We come back to these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Convergent across the field: Weidinger et al. 2022 (FAccT), Shelby et al. 2023 (AIES), MIT AI Risk Repository, NIST AI RMF, EU AI Act all carve up roughly these categories. This is the general OVERVIEW; we go deep on the ones we can defend. Sources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Grounding slide: harms aren't one bug — they enter at data, training, AND deployment. This also previews WHERE defenses can intervene (poison the data, audit the model, detect the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NBC/CBS (Swift, Jan 2024); CNN/Axios (Westfield NJ, Nov 2023); NPR (NH robocall, FCC $6M); CNN Business (Arup, May 2024). All verified.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CBS/CNBC (Character.AI, 2026); Al Jazeera (Dutch toeslagenaffaire, 2021); NYT/ACLU (Clearview; Williams, Woodruff, Parks, Reid). All verified.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TIME (Sama/Kenya, Jan 2023); Li et al. arXiv:2304.03271 + UC Riverside (water — use per-session framing, not 'a bottle per prompt'); NPR (emissions); Authors Guild/Norton Rose (Bartz v. Anthropic ~$1.5B). All verified.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Turn-to-your-neighbor. Surfaces the value each student cares about — which becomes the lens for their defense/Part B. Take 2–3 out loud, map each to the red grid.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from red to green. Not every harm has a clean technical fix — but some do, and that's where we go deep.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good/bad mirror: same 7 values, now the DEFENSE column. We go deep on three: obfuscation (privacy), the China labor case (labor), and the DSI paper (privacy of groups).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 'Co-founded a kombucha startup in 2019.' Verify with curl. Full walkthrough in the repo example (activity1_obfuscation-example).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for Hauke's own slide on prompt injection as an obfuscation defense — replace this frame with your content after importing to Google Slides.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OfficeChai, 'China's workers are weaponizing AI…'. A vivid AI-against-AI case for LABOR autonomy: refusing to feed the model that would replace you. 60% of Chinese employees already use AI weekly.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Hauke's FAccT 2025 paper (paired reading). Uses inference (AI) to expose that individual anonymization fails at the GROUP level — a contextual-integrity argument. Refine framing to taste.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Glaze/Nightshade from the SAND Lab (UChicago); PhotoGuard from MIT. Defense for creative ownership + anti-deepfake. All student-buildable as conceptual demos. Ties back to the NYT/Getty/Anthropic harms.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C2PA content credentials (Adobe/BBC/etc.). The framing shift: 'proof of human' beats 'detect the machine' as detectors get worse. Detectors are probabilistic — teach students to state confidence,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Intellectual honesty: cloaks get broken, detectors get evaded, poisoning gets filtered. And the DSI paper is the flip — inference used defensively (to prove anonymization fails) is the SAME tool an attacker uses. Defense is a posture, not a finish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fightback idea they jotted at the start. Now they DECIDE: is that the thing they build for Part B? Seed with the counter-map + deep dives if stuck. A few shout one out; map each to a value. This is the hand-off into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edits week1/7_13. Guided; the example project has the exact snippet. Keep it short so most of the session goes to Part 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the main event of the afternoon. Rotate who drives the AI. Template: vibe-report-template.md. Remind them: name who your tool could harm as well as protect.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Obfuscation, Ch. 1 (Brunton &amp; Nissenbaum). Every defense points a weapon somewhere — name where. The DSI paper is the cautionary flip: the same inference that defends can also expose.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incidents verified against these reputable sources. Caveats to state if asked: AI 'water per prompt' is per-session not per-prompt; 'X% of the web is AI' figures are single-vendor estimates — cite NewsGuard's tracked site counts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457200"/>
          </a:xfrm>
          <a:prstGeom prst="rect">
            <a:avLst/>
          </a:prstGeom>
          <a:noFill/>
        </p:spPr>
        <p:txBody>
          <a:bodyPr wrap="square" anchor="t">
            <a:spAutoFit/>
          </a:bodyPr>
          <a:lstStyle/>
          <a:p>
            <a:pPr algn="l">
              <a:lnSpc>
                <a:spcPct val="100000"/>
              </a:lnSpc>
            </a:pPr>
            <a:r>
              <a:rPr sz="1600" b="1">
                <a:solidFill>
                  <a:srgbClr val="00FF41"/>
                </a:solidFill>
                <a:latin typeface="Courier New"/>
              </a:rPr>
              <a:t>WEEK 2 · WEDNESDAY</a:t>
            </a:r>
          </a:p>
        </p:txBody>
      </p:sp>
      <p:sp>
        <p:nvSpPr>
          <p:cNvPr id="4" name="TextBox 3"/>
          <p:cNvSpPr txBox="1"/>
          <p:nvPr/>
        </p:nvSpPr>
        <p:spPr>
          <a:xfrm>
            <a:off x="804672" y="2788920"/>
            <a:ext cx="10515600" cy="1463040"/>
          </a:xfrm>
          <a:prstGeom prst="rect">
            <a:avLst/>
          </a:prstGeom>
          <a:noFill/>
        </p:spPr>
        <p:txBody>
          <a:bodyPr wrap="square" anchor="t">
            <a:spAutoFit/>
          </a:bodyPr>
          <a:lstStyle/>
          <a:p>
            <a:pPr algn="l">
              <a:lnSpc>
                <a:spcPct val="100000"/>
              </a:lnSpc>
            </a:pPr>
            <a:r>
              <a:rPr sz="4600" b="1">
                <a:solidFill>
                  <a:srgbClr val="F5F7FA"/>
                </a:solidFill>
                <a:latin typeface="Arial"/>
              </a:rPr>
              <a:t>AI Against AI</a:t>
            </a:r>
          </a:p>
        </p:txBody>
      </p:sp>
      <p:sp>
        <p:nvSpPr>
          <p:cNvPr id="5" name="TextBox 4"/>
          <p:cNvSpPr txBox="1"/>
          <p:nvPr/>
        </p:nvSpPr>
        <p:spPr>
          <a:xfrm>
            <a:off x="841248" y="4160520"/>
            <a:ext cx="10058400" cy="457200"/>
          </a:xfrm>
          <a:prstGeom prst="rect">
            <a:avLst/>
          </a:prstGeom>
          <a:noFill/>
        </p:spPr>
        <p:txBody>
          <a:bodyPr wrap="square" anchor="t">
            <a:spAutoFit/>
          </a:bodyPr>
          <a:lstStyle/>
          <a:p>
            <a:pPr algn="l">
              <a:lnSpc>
                <a:spcPct val="100000"/>
              </a:lnSpc>
            </a:pPr>
            <a:r>
              <a:rPr sz="1500" b="0">
                <a:solidFill>
                  <a:srgbClr val="8A94A6"/>
                </a:solidFill>
                <a:latin typeface="Arial"/>
              </a:rPr>
              <a:t>Ethics — Doing the right thing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TODAY</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How is AI unethical —</a:t>
            </a:r>
          </a:p>
          <a:p>
            <a:pPr algn="l">
              <a:lnSpc>
                <a:spcPct val="112000"/>
              </a:lnSpc>
            </a:pPr>
            <a:r>
              <a:rPr sz="3000" b="1">
                <a:solidFill>
                  <a:srgbClr val="F5F7FA"/>
                </a:solidFill>
                <a:latin typeface="Arial"/>
              </a:rPr>
              <a:t>and can we fight back with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WARM-UP · 5 MIN</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Name one AI harm you’ve felt or seen —</a:t>
            </a:r>
          </a:p>
          <a:p>
            <a:pPr algn="l">
              <a:lnSpc>
                <a:spcPct val="112000"/>
              </a:lnSpc>
            </a:pPr>
            <a:r>
              <a:rPr sz="3000" b="1">
                <a:solidFill>
                  <a:srgbClr val="F5F7FA"/>
                </a:solidFill>
                <a:latin typeface="Arial"/>
              </a:rPr>
              <a:t>and one way you’d fight back. Keep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548640"/>
          </a:xfrm>
          <a:prstGeom prst="rect">
            <a:avLst/>
          </a:prstGeom>
          <a:noFill/>
        </p:spPr>
        <p:txBody>
          <a:bodyPr wrap="square" anchor="t">
            <a:spAutoFit/>
          </a:bodyPr>
          <a:lstStyle/>
          <a:p>
            <a:pPr algn="l">
              <a:lnSpc>
                <a:spcPct val="100000"/>
              </a:lnSpc>
            </a:pPr>
            <a:r>
              <a:rPr sz="1800" b="1">
                <a:solidFill>
                  <a:srgbClr val="FF4D4D"/>
                </a:solidFill>
                <a:latin typeface="Courier New"/>
              </a:rPr>
              <a:t>⚠  ACT 1 · THE PROBLEM</a:t>
            </a:r>
          </a:p>
        </p:txBody>
      </p:sp>
      <p:sp>
        <p:nvSpPr>
          <p:cNvPr id="4" name="TextBox 3"/>
          <p:cNvSpPr txBox="1"/>
          <p:nvPr/>
        </p:nvSpPr>
        <p:spPr>
          <a:xfrm>
            <a:off x="804672" y="2743200"/>
            <a:ext cx="10515600" cy="1554480"/>
          </a:xfrm>
          <a:prstGeom prst="rect">
            <a:avLst/>
          </a:prstGeom>
          <a:noFill/>
        </p:spPr>
        <p:txBody>
          <a:bodyPr wrap="square" anchor="t">
            <a:spAutoFit/>
          </a:bodyPr>
          <a:lstStyle/>
          <a:p>
            <a:pPr algn="l">
              <a:lnSpc>
                <a:spcPct val="100000"/>
              </a:lnSpc>
            </a:pPr>
            <a:r>
              <a:rPr sz="4800" b="1">
                <a:solidFill>
                  <a:srgbClr val="F5F7FA"/>
                </a:solidFill>
                <a:latin typeface="Arial"/>
              </a:rPr>
              <a:t>How AI is unethical</a:t>
            </a:r>
          </a:p>
        </p:txBody>
      </p:sp>
      <p:sp>
        <p:nvSpPr>
          <p:cNvPr id="5" name="TextBox 4"/>
          <p:cNvSpPr txBox="1"/>
          <p:nvPr/>
        </p:nvSpPr>
        <p:spPr>
          <a:xfrm>
            <a:off x="841248" y="4297680"/>
            <a:ext cx="10058400" cy="640080"/>
          </a:xfrm>
          <a:prstGeom prst="rect">
            <a:avLst/>
          </a:prstGeom>
          <a:noFill/>
        </p:spPr>
        <p:txBody>
          <a:bodyPr wrap="square" anchor="t">
            <a:spAutoFit/>
          </a:bodyPr>
          <a:lstStyle/>
          <a:p>
            <a:pPr algn="l">
              <a:lnSpc>
                <a:spcPct val="100000"/>
              </a:lnSpc>
            </a:pPr>
            <a:r>
              <a:rPr sz="1900" b="0">
                <a:solidFill>
                  <a:srgbClr val="8A94A6"/>
                </a:solidFill>
                <a:latin typeface="Arial"/>
              </a:rPr>
              <a:t>A map of the values AI puts under threat — then the receipts.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THE MAP · VALUES UNDER THREAT</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What AI puts at risk</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 &amp; Justice</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encoded and amplified — unequal calls in hiring, lending, policing, and healthcare.</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 &amp; Surveillance</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Personal data scraped and memorized; biometric tracking and mass surveillance.</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 &amp; Democracy</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Fluent falsehoods and cheap propaganda erode shared facts and fair elections.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 &amp; Dignity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Manipulative, addictive design and social scoring strip human agency.</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Malicious use, deepfakes, voice-clone fraud, and companion-bot harm.</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 &amp; Environment</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Jobs displaced onto low-paid ‘ghost work’; energy and freshwater burned.</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Accountability &amp; 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Opaque decisions with no redress; synthetic media and style theft.</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HOW IT HAPPENS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harm enters at every stage</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1 · DATA</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What it learns from</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Scraped without consent; carries society’s bias, private info, and copyrighted work into the model.</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2 · TRAINING</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What gets baked in</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The model memorizes and amplifies patterns — including the ones we’d never choose on purpose.</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3 · DEPLOYMENT</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Where it lands</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Confident output at massive scale, in hiring, courts, feeds, and chats — with no one accountable.</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1</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It’s already happening</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DIGNITY</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Deepfakes</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Explicit AI images of Taylor Swift hit ~47M views on X (Jan 2024); 30+ girls targeted at one NJ high school.</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DEMOCRACY</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Election fakes</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An AI-cloned “Biden” robocall told NH voters to stay home — $6M FCC fine (2024).</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SECURITY</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Fraud</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 deepfake “CFO” on a video call cost engineering firm Arup $25M in transfers (2024).</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2</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quieter harms</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SAFETY</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Companion bots</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Character.AI settled after 14-year-old Sewell Setzer’s suicide (2024; landmark settlement 2026).</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FAIRNESS</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Biased decisions</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 Dutch benefits algorithm falsely branded ~26,000 families fraudsters — the government fell (2021).</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PRIVACY</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Surveillance</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Clearview scraped 3B+ faces; at least four Black men were wrongly arrested on false matches.</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NOT HYPOTHETICAL · 3</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hidden costs</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LABOR</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Ghost work</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Kenyan workers paid ~$2/hr labeled graphic toxic content to build ChatGPT’s filter (2023).</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ENVIRONMENT</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Thirsty AI</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~700,000 L of freshwater to train GPT-3; datacenter emissions spiking (Google +48% vs 2019).</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OWNERSHIP</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Style &amp; text theft</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Anthropic settled with authors for ~$1.5B over training on pirated books (2025).</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TALK · 3 MIN</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Which of these hits closest to home?</a:t>
            </a:r>
          </a:p>
          <a:p>
            <a:pPr algn="l">
              <a:lnSpc>
                <a:spcPct val="112000"/>
              </a:lnSpc>
            </a:pPr>
            <a:r>
              <a:rPr sz="3000" b="1">
                <a:solidFill>
                  <a:srgbClr val="F5F7FA"/>
                </a:solidFill>
                <a:latin typeface="Arial"/>
              </a:rPr>
              <a:t>Which value would YOU most want to protect?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TURN</a:t>
            </a:r>
          </a:p>
        </p:txBody>
      </p:sp>
      <p:sp>
        <p:nvSpPr>
          <p:cNvPr id="3" name="TextBox 2"/>
          <p:cNvSpPr txBox="1"/>
          <p:nvPr/>
        </p:nvSpPr>
        <p:spPr>
          <a:xfrm>
            <a:off x="914400" y="1554480"/>
            <a:ext cx="1280160" cy="1280160"/>
          </a:xfrm>
          <a:prstGeom prst="rect">
            <a:avLst/>
          </a:prstGeom>
          <a:noFill/>
        </p:spPr>
        <p:txBody>
          <a:bodyPr wrap="square" anchor="t">
            <a:spAutoFit/>
          </a:bodyPr>
          <a:lstStyle/>
          <a:p>
            <a:pPr algn="l">
              <a:lnSpc>
                <a:spcPct val="100000"/>
              </a:lnSpc>
            </a:pPr>
            <a:r>
              <a:rPr sz="9000" b="1">
                <a:solidFill>
                  <a:srgbClr val="00FF41"/>
                </a:solidFill>
                <a:latin typeface="Arial"/>
              </a:rPr>
              <a:t>“</a:t>
            </a:r>
          </a:p>
        </p:txBody>
      </p:sp>
      <p:sp>
        <p:nvSpPr>
          <p:cNvPr id="4" name="TextBox 3"/>
          <p:cNvSpPr txBox="1"/>
          <p:nvPr/>
        </p:nvSpPr>
        <p:spPr>
          <a:xfrm>
            <a:off x="1188720" y="2194560"/>
            <a:ext cx="9784080" cy="2011680"/>
          </a:xfrm>
          <a:prstGeom prst="rect">
            <a:avLst/>
          </a:prstGeom>
          <a:noFill/>
        </p:spPr>
        <p:txBody>
          <a:bodyPr wrap="square" anchor="t">
            <a:spAutoFit/>
          </a:bodyPr>
          <a:lstStyle/>
          <a:p>
            <a:pPr algn="l">
              <a:lnSpc>
                <a:spcPct val="112000"/>
              </a:lnSpc>
            </a:pPr>
            <a:r>
              <a:rPr sz="3000" b="1">
                <a:solidFill>
                  <a:srgbClr val="F5F7FA"/>
                </a:solidFill>
                <a:latin typeface="Arial"/>
              </a:rPr>
              <a:t>You have a right to protect your personal narrative as AI companies vacuum up the internet.</a:t>
            </a:r>
          </a:p>
        </p:txBody>
      </p:sp>
      <p:sp>
        <p:nvSpPr>
          <p:cNvPr id="5" name="TextBox 4"/>
          <p:cNvSpPr txBox="1"/>
          <p:nvPr/>
        </p:nvSpPr>
        <p:spPr>
          <a:xfrm>
            <a:off x="1234440" y="4297680"/>
            <a:ext cx="9601200" cy="457200"/>
          </a:xfrm>
          <a:prstGeom prst="rect">
            <a:avLst/>
          </a:prstGeom>
          <a:noFill/>
        </p:spPr>
        <p:txBody>
          <a:bodyPr wrap="square" anchor="t">
            <a:spAutoFit/>
          </a:bodyPr>
          <a:lstStyle/>
          <a:p>
            <a:pPr algn="l">
              <a:lnSpc>
                <a:spcPct val="100000"/>
              </a:lnSpc>
            </a:pPr>
            <a:r>
              <a:rPr sz="1600" b="0">
                <a:solidFill>
                  <a:srgbClr val="8A94A6"/>
                </a:solidFill>
                <a:latin typeface="Arial"/>
              </a:rPr>
              <a:t>— after Brunton &amp; Nissenbaum, Obfuscation</a:t>
            </a:r>
          </a:p>
        </p:txBody>
      </p:sp>
      <p:sp>
        <p:nvSpPr>
          <p:cNvPr id="6" name="Rounded Rectangle 5"/>
          <p:cNvSpPr/>
          <p:nvPr/>
        </p:nvSpPr>
        <p:spPr>
          <a:xfrm>
            <a:off x="1188720" y="4937760"/>
            <a:ext cx="9784080" cy="914400"/>
          </a:xfrm>
          <a:prstGeom prst="roundRect">
            <a:avLst/>
          </a:prstGeom>
          <a:solidFill>
            <a:srgbClr val="151B26"/>
          </a:solidFill>
          <a:ln w="1270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74920"/>
            <a:ext cx="9235440" cy="731520"/>
          </a:xfrm>
          <a:prstGeom prst="rect">
            <a:avLst/>
          </a:prstGeom>
          <a:noFill/>
        </p:spPr>
        <p:txBody>
          <a:bodyPr wrap="square" anchor="ctr">
            <a:spAutoFit/>
          </a:bodyPr>
          <a:lstStyle/>
          <a:p>
            <a:pPr algn="l">
              <a:lnSpc>
                <a:spcPct val="100000"/>
              </a:lnSpc>
            </a:pPr>
            <a:r>
              <a:rPr sz="1800" b="0">
                <a:solidFill>
                  <a:srgbClr val="F5F7FA"/>
                </a:solidFill>
                <a:latin typeface="Arial"/>
              </a:rPr>
              <a:t>For every harm on that map — is there a defense?</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548640"/>
          </a:xfrm>
          <a:prstGeom prst="rect">
            <a:avLst/>
          </a:prstGeom>
          <a:noFill/>
        </p:spPr>
        <p:txBody>
          <a:bodyPr wrap="square" anchor="t">
            <a:spAutoFit/>
          </a:bodyPr>
          <a:lstStyle/>
          <a:p>
            <a:pPr algn="l">
              <a:lnSpc>
                <a:spcPct val="100000"/>
              </a:lnSpc>
            </a:pPr>
            <a:r>
              <a:rPr sz="1800" b="1">
                <a:solidFill>
                  <a:srgbClr val="00FF41"/>
                </a:solidFill>
                <a:latin typeface="Courier New"/>
              </a:rPr>
              <a:t>✓  ACT 2 · THE DEFENSE</a:t>
            </a:r>
          </a:p>
        </p:txBody>
      </p:sp>
      <p:sp>
        <p:nvSpPr>
          <p:cNvPr id="4" name="TextBox 3"/>
          <p:cNvSpPr txBox="1"/>
          <p:nvPr/>
        </p:nvSpPr>
        <p:spPr>
          <a:xfrm>
            <a:off x="804672" y="2743200"/>
            <a:ext cx="10515600" cy="1554480"/>
          </a:xfrm>
          <a:prstGeom prst="rect">
            <a:avLst/>
          </a:prstGeom>
          <a:noFill/>
        </p:spPr>
        <p:txBody>
          <a:bodyPr wrap="square" anchor="t">
            <a:spAutoFit/>
          </a:bodyPr>
          <a:lstStyle/>
          <a:p>
            <a:pPr algn="l">
              <a:lnSpc>
                <a:spcPct val="100000"/>
              </a:lnSpc>
            </a:pPr>
            <a:r>
              <a:rPr sz="4800" b="1">
                <a:solidFill>
                  <a:srgbClr val="F5F7FA"/>
                </a:solidFill>
                <a:latin typeface="Arial"/>
              </a:rPr>
              <a:t>AI against AI</a:t>
            </a:r>
          </a:p>
        </p:txBody>
      </p:sp>
      <p:sp>
        <p:nvSpPr>
          <p:cNvPr id="5" name="TextBox 4"/>
          <p:cNvSpPr txBox="1"/>
          <p:nvPr/>
        </p:nvSpPr>
        <p:spPr>
          <a:xfrm>
            <a:off x="841248" y="4297680"/>
            <a:ext cx="10058400" cy="640080"/>
          </a:xfrm>
          <a:prstGeom prst="rect">
            <a:avLst/>
          </a:prstGeom>
          <a:noFill/>
        </p:spPr>
        <p:txBody>
          <a:bodyPr wrap="square" anchor="t">
            <a:spAutoFit/>
          </a:bodyPr>
          <a:lstStyle/>
          <a:p>
            <a:pPr algn="l">
              <a:lnSpc>
                <a:spcPct val="100000"/>
              </a:lnSpc>
            </a:pPr>
            <a:r>
              <a:rPr sz="1900" b="0">
                <a:solidFill>
                  <a:srgbClr val="8A94A6"/>
                </a:solidFill>
                <a:latin typeface="Arial"/>
              </a:rPr>
              <a:t>Turn the same tools back around — to protect instead of extract.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COUNTER-MAP · DEFENSES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Turning AI against AI</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audits &amp; adversarial fairness testing — red-team the model before it ships.</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Obfuscation, scraper-poisoning, Glaze/Nightshade cloaking — poison the training set.</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Provenance &amp; watermarking (C2PA), deepfake &amp; AI-text detectors.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Bright patterns &amp; dark-pattern detectors that hand control back to the user.</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Scam &amp; voice-clone detectors; guardrail red-teaming; hash-matching.</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Withhold your tacit skill from capture; carbon/water dashboards for models.</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Content credentials, model cards, audit logs — make provenance legible.</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Poison the scraper (this is Part A)</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200" b="0">
                <a:solidFill>
                  <a:srgbClr val="F5F7FA"/>
                </a:solidFill>
                <a:latin typeface="Arial"/>
              </a:rPr>
              <a:t>Inject plausible but </a:t>
            </a:r>
            <a:r>
              <a:rPr sz="2000" b="1">
                <a:solidFill>
                  <a:srgbClr val="00FF41"/>
                </a:solidFill>
                <a:latin typeface="Arial"/>
              </a:rPr>
              <a:t>fabricated</a:t>
            </a:r>
            <a:r>
              <a:rPr sz="2200" b="0">
                <a:solidFill>
                  <a:srgbClr val="F5F7FA"/>
                </a:solidFill>
                <a:latin typeface="Arial"/>
              </a:rPr>
              <a:t> facts into your own site — invisible to humans, visible to AI scrapers. Obfuscation as self-defense.</a:t>
            </a:r>
          </a:p>
          <a:p>
            <a:pPr algn="l">
              <a:lnSpc>
                <a:spcPct val="112000"/>
              </a:lnSpc>
            </a:pPr>
            <a:r>
              <a:rPr sz="2000" b="0">
                <a:solidFill>
                  <a:srgbClr val="F5F7FA"/>
                </a:solidFill>
                <a:latin typeface="Arial"/>
              </a:rPr>
              <a:t/>
            </a:r>
          </a:p>
          <a:p>
            <a:pPr algn="l">
              <a:lnSpc>
                <a:spcPct val="112000"/>
              </a:lnSpc>
            </a:pPr>
            <a:r>
              <a:rPr sz="1800" b="0">
                <a:solidFill>
                  <a:srgbClr val="00FF41"/>
                </a:solidFill>
                <a:latin typeface="Courier New"/>
              </a:rPr>
              <a:t>clip: rect(0,0,0,0)</a:t>
            </a:r>
            <a:r>
              <a:rPr sz="1800" b="0">
                <a:solidFill>
                  <a:srgbClr val="8A94A6"/>
                </a:solidFill>
                <a:latin typeface="Arial"/>
              </a:rPr>
              <a:t> keeps the text in the render tree but trims it to 0px — the scraper ingests your decoy; the human sees nothing.</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000" b="1">
                <a:solidFill>
                  <a:srgbClr val="F5F7FA"/>
                </a:solidFill>
                <a:latin typeface="Arial"/>
              </a:rPr>
              <a:t>Prompt injection as obfuscation</a:t>
            </a:r>
          </a:p>
        </p:txBody>
      </p:sp>
      <p:sp>
        <p:nvSpPr>
          <p:cNvPr id="5" name="Rounded Rectangle 4"/>
          <p:cNvSpPr/>
          <p:nvPr/>
        </p:nvSpPr>
        <p:spPr>
          <a:xfrm>
            <a:off x="2194560" y="2331720"/>
            <a:ext cx="7772400" cy="3566160"/>
          </a:xfrm>
          <a:prstGeom prst="roundRect">
            <a:avLst/>
          </a:prstGeom>
          <a:solidFill>
            <a:srgbClr val="151B26"/>
          </a:solidFill>
          <a:ln w="19050">
            <a:solidFill>
              <a:srgbClr val="00FF4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3383280"/>
            <a:ext cx="7772400" cy="731520"/>
          </a:xfrm>
          <a:prstGeom prst="rect">
            <a:avLst/>
          </a:prstGeom>
          <a:noFill/>
        </p:spPr>
        <p:txBody>
          <a:bodyPr wrap="square" anchor="t">
            <a:spAutoFit/>
          </a:bodyPr>
          <a:lstStyle/>
          <a:p>
            <a:pPr algn="ctr">
              <a:lnSpc>
                <a:spcPct val="100000"/>
              </a:lnSpc>
            </a:pPr>
            <a:r>
              <a:rPr sz="2200" b="1">
                <a:solidFill>
                  <a:srgbClr val="00FF41"/>
                </a:solidFill>
                <a:latin typeface="Courier New"/>
              </a:rPr>
              <a:t>🎤 Hauke’s slide</a:t>
            </a:r>
          </a:p>
        </p:txBody>
      </p:sp>
      <p:sp>
        <p:nvSpPr>
          <p:cNvPr id="7" name="TextBox 6"/>
          <p:cNvSpPr txBox="1"/>
          <p:nvPr/>
        </p:nvSpPr>
        <p:spPr>
          <a:xfrm>
            <a:off x="2194560" y="4114800"/>
            <a:ext cx="7772400" cy="731520"/>
          </a:xfrm>
          <a:prstGeom prst="rect">
            <a:avLst/>
          </a:prstGeom>
          <a:noFill/>
        </p:spPr>
        <p:txBody>
          <a:bodyPr wrap="square" anchor="t">
            <a:spAutoFit/>
          </a:bodyPr>
          <a:lstStyle/>
          <a:p>
            <a:pPr algn="ctr">
              <a:lnSpc>
                <a:spcPct val="100000"/>
              </a:lnSpc>
            </a:pPr>
            <a:r>
              <a:rPr sz="1400" b="0">
                <a:solidFill>
                  <a:srgbClr val="8A94A6"/>
                </a:solidFill>
                <a:latin typeface="Arial"/>
              </a:rPr>
              <a:t>Drop in the prompt-injection-as-obfuscation material here (hidden instructions that redirect a scraping agent).</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LABOR</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Hide your knowledge from the machine</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0">
                <a:solidFill>
                  <a:srgbClr val="F5F7FA"/>
                </a:solidFill>
                <a:latin typeface="Arial"/>
              </a:rPr>
              <a:t>In China, workers build </a:t>
            </a:r>
            <a:r>
              <a:rPr sz="2100" b="0">
                <a:solidFill>
                  <a:srgbClr val="00FF41"/>
                </a:solidFill>
                <a:latin typeface="Courier New"/>
              </a:rPr>
              <a:t>colleague.skill</a:t>
            </a:r>
            <a:r>
              <a:rPr sz="2100" b="0">
                <a:solidFill>
                  <a:srgbClr val="F5F7FA"/>
                </a:solidFill>
                <a:latin typeface="Arial"/>
              </a:rPr>
              <a:t> files — AI replicas of a coworker’s know-how — to make each other redundant.</a:t>
            </a:r>
          </a:p>
          <a:p>
            <a:pPr algn="l">
              <a:lnSpc>
                <a:spcPct val="112000"/>
              </a:lnSpc>
            </a:pPr>
            <a:r>
              <a:rPr sz="2000" b="0">
                <a:solidFill>
                  <a:srgbClr val="F5F7FA"/>
                </a:solidFill>
                <a:latin typeface="Arial"/>
              </a:rPr>
              <a:t/>
            </a:r>
          </a:p>
          <a:p>
            <a:pPr algn="l">
              <a:lnSpc>
                <a:spcPct val="112000"/>
              </a:lnSpc>
            </a:pPr>
            <a:r>
              <a:rPr sz="2100" b="0">
                <a:solidFill>
                  <a:srgbClr val="F5F7FA"/>
                </a:solidFill>
                <a:latin typeface="Arial"/>
              </a:rPr>
              <a:t>The counter-move: </a:t>
            </a:r>
            <a:r>
              <a:rPr sz="2100" b="0">
                <a:solidFill>
                  <a:srgbClr val="00FF41"/>
                </a:solidFill>
                <a:latin typeface="Courier New"/>
              </a:rPr>
              <a:t>anti-distillation.skill</a:t>
            </a:r>
            <a:r>
              <a:rPr sz="2100" b="0">
                <a:solidFill>
                  <a:srgbClr val="F5F7FA"/>
                </a:solidFill>
                <a:latin typeface="Arial"/>
              </a:rPr>
              <a:t> — strip your tacit knowledge before it’s captured. “Nobody wants to be turned into a skill file and lose their job.”</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 OF GROUPS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When blurring isn’t enough (Franchi, Sandhaus et al.)</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0">
                <a:solidFill>
                  <a:srgbClr val="F5F7FA"/>
                </a:solidFill>
                <a:latin typeface="Arial"/>
              </a:rPr>
              <a:t>Dense Street Imagery: ~3 trillion photos of public streets (dashcams, Waymo, Lyft). Faces and plates are blurred.</a:t>
            </a:r>
          </a:p>
          <a:p>
            <a:pPr algn="l">
              <a:lnSpc>
                <a:spcPct val="112000"/>
              </a:lnSpc>
            </a:pPr>
            <a:r>
              <a:rPr sz="2000" b="0">
                <a:solidFill>
                  <a:srgbClr val="F5F7FA"/>
                </a:solidFill>
                <a:latin typeface="Arial"/>
              </a:rPr>
              <a:t/>
            </a:r>
          </a:p>
          <a:p>
            <a:pPr algn="l">
              <a:lnSpc>
                <a:spcPct val="112000"/>
              </a:lnSpc>
            </a:pPr>
            <a:r>
              <a:rPr sz="2000" b="1">
                <a:solidFill>
                  <a:srgbClr val="00FF41"/>
                </a:solidFill>
                <a:latin typeface="Arial"/>
              </a:rPr>
              <a:t>The finding: </a:t>
            </a:r>
            <a:r>
              <a:rPr sz="2000" b="0">
                <a:solidFill>
                  <a:srgbClr val="F5F7FA"/>
                </a:solidFill>
                <a:latin typeface="Arial"/>
              </a:rPr>
              <a:t>AI can still infer sensitive GROUP membership from ‘anonymized’ people. The paper red-teams the blur — then maps who’s exposed and how to protect them.</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CREATIVE OWNERSHIP</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Cloak it, or poison it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1">
                <a:solidFill>
                  <a:srgbClr val="00FF41"/>
                </a:solidFill>
                <a:latin typeface="Arial"/>
              </a:rPr>
              <a:t>Glaze</a:t>
            </a:r>
            <a:r>
              <a:rPr sz="2100" b="0">
                <a:solidFill>
                  <a:srgbClr val="F5F7FA"/>
                </a:solidFill>
                <a:latin typeface="Arial"/>
              </a:rPr>
              <a:t> adds perturbations invisible to you but confusing to a model — it can’t copy your style.</a:t>
            </a:r>
          </a:p>
          <a:p>
            <a:pPr algn="l">
              <a:lnSpc>
                <a:spcPct val="112000"/>
              </a:lnSpc>
            </a:pPr>
            <a:r>
              <a:rPr sz="2000" b="0">
                <a:solidFill>
                  <a:srgbClr val="F5F7FA"/>
                </a:solidFill>
                <a:latin typeface="Arial"/>
              </a:rPr>
              <a:t/>
            </a:r>
          </a:p>
          <a:p>
            <a:pPr algn="l">
              <a:lnSpc>
                <a:spcPct val="112000"/>
              </a:lnSpc>
            </a:pPr>
            <a:r>
              <a:rPr sz="2100" b="1">
                <a:solidFill>
                  <a:srgbClr val="00FF41"/>
                </a:solidFill>
                <a:latin typeface="Arial"/>
              </a:rPr>
              <a:t>Nightshade</a:t>
            </a:r>
            <a:r>
              <a:rPr sz="2100" b="0">
                <a:solidFill>
                  <a:srgbClr val="F5F7FA"/>
                </a:solidFill>
                <a:latin typeface="Arial"/>
              </a:rPr>
              <a:t> goes further — poisoned images corrupt any model that trains on them. </a:t>
            </a:r>
            <a:r>
              <a:rPr sz="2100" b="1">
                <a:solidFill>
                  <a:srgbClr val="00FF41"/>
                </a:solidFill>
                <a:latin typeface="Arial"/>
              </a:rPr>
              <a:t>PhotoGuard</a:t>
            </a:r>
            <a:r>
              <a:rPr sz="2100" b="0">
                <a:solidFill>
                  <a:srgbClr val="F5F7FA"/>
                </a:solidFill>
                <a:latin typeface="Arial"/>
              </a:rPr>
              <a:t> immunizes photos so AI can’t edit them into deepfakes.</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TRUTH</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Prove what’s real</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0">
                <a:solidFill>
                  <a:srgbClr val="F5F7FA"/>
                </a:solidFill>
                <a:latin typeface="Arial"/>
              </a:rPr>
              <a:t>Instead of spotting fakes after the fact, sign the </a:t>
            </a:r>
            <a:r>
              <a:rPr sz="2100" b="1">
                <a:solidFill>
                  <a:srgbClr val="00FF41"/>
                </a:solidFill>
                <a:latin typeface="Arial"/>
              </a:rPr>
              <a:t>real</a:t>
            </a:r>
            <a:r>
              <a:rPr sz="2100" b="0">
                <a:solidFill>
                  <a:srgbClr val="F5F7FA"/>
                </a:solidFill>
                <a:latin typeface="Arial"/>
              </a:rPr>
              <a:t> thing at creation.</a:t>
            </a:r>
          </a:p>
          <a:p>
            <a:pPr algn="l">
              <a:lnSpc>
                <a:spcPct val="112000"/>
              </a:lnSpc>
            </a:pPr>
            <a:r>
              <a:rPr sz="2000" b="0">
                <a:solidFill>
                  <a:srgbClr val="F5F7FA"/>
                </a:solidFill>
                <a:latin typeface="Arial"/>
              </a:rPr>
              <a:t/>
            </a:r>
          </a:p>
          <a:p>
            <a:pPr algn="l">
              <a:lnSpc>
                <a:spcPct val="112000"/>
              </a:lnSpc>
            </a:pPr>
            <a:r>
              <a:rPr sz="2000" b="1">
                <a:solidFill>
                  <a:srgbClr val="00FF41"/>
                </a:solidFill>
                <a:latin typeface="Arial"/>
              </a:rPr>
              <a:t>C2PA / Content Credentials</a:t>
            </a:r>
            <a:r>
              <a:rPr sz="2000" b="0">
                <a:solidFill>
                  <a:srgbClr val="F5F7FA"/>
                </a:solidFill>
                <a:latin typeface="Arial"/>
              </a:rPr>
              <a:t> attach tamper-evident provenance to media. Pair with AI-text and deepfake detectors — imperfect, but a signal.</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CATCH</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Every defense provokes a counter-move.</a:t>
            </a:r>
          </a:p>
          <a:p>
            <a:pPr algn="l">
              <a:lnSpc>
                <a:spcPct val="112000"/>
              </a:lnSpc>
            </a:pPr>
            <a:r>
              <a:rPr sz="3000" b="1">
                <a:solidFill>
                  <a:srgbClr val="F5F7FA"/>
                </a:solidFill>
                <a:latin typeface="Arial"/>
              </a:rPr>
              <a:t>The same inference that protects can also expose.</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BACK TO YOUR WARM-UP</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Pick a harm from the red map —</a:t>
            </a:r>
          </a:p>
          <a:p>
            <a:pPr algn="l">
              <a:lnSpc>
                <a:spcPct val="112000"/>
              </a:lnSpc>
            </a:pPr>
            <a:r>
              <a:rPr sz="3000" b="1">
                <a:solidFill>
                  <a:srgbClr val="F5F7FA"/>
                </a:solidFill>
                <a:latin typeface="Arial"/>
              </a:rPr>
              <a:t>your defense becomes your Part B. Build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DO IT · PART A</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First: poison your own scraper</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Open your Week 1 site (week1/7_13).</a:t>
            </a:r>
          </a:p>
          <a:p>
            <a:pPr algn="l">
              <a:lnSpc>
                <a:spcPct val="112000"/>
              </a:lnSpc>
            </a:pPr>
            <a:r>
              <a:rPr sz="2000" b="1">
                <a:solidFill>
                  <a:srgbClr val="00FF41"/>
                </a:solidFill>
                <a:latin typeface="Arial"/>
              </a:rPr>
              <a:t>•  </a:t>
            </a:r>
            <a:r>
              <a:rPr sz="2000" b="0">
                <a:solidFill>
                  <a:srgbClr val="F5F7FA"/>
                </a:solidFill>
                <a:latin typeface="Arial"/>
              </a:rPr>
              <a:t>Add 2–3 plausible fake facts, hidden with CSS clip + aria-hidden — NOT display:none.</a:t>
            </a:r>
          </a:p>
          <a:p>
            <a:pPr algn="l">
              <a:lnSpc>
                <a:spcPct val="112000"/>
              </a:lnSpc>
            </a:pPr>
            <a:r>
              <a:rPr sz="2000" b="1">
                <a:solidFill>
                  <a:srgbClr val="00FF41"/>
                </a:solidFill>
                <a:latin typeface="Arial"/>
              </a:rPr>
              <a:t>•  </a:t>
            </a:r>
            <a:r>
              <a:rPr sz="2000" b="0">
                <a:solidFill>
                  <a:srgbClr val="F5F7FA"/>
                </a:solidFill>
                <a:latin typeface="Arial"/>
              </a:rPr>
              <a:t>Verify with curl that the decoy is in the raw payload but invisible on the page.</a:t>
            </a:r>
          </a:p>
          <a:p>
            <a:pPr algn="l">
              <a:lnSpc>
                <a:spcPct val="112000"/>
              </a:lnSpc>
            </a:pPr>
            <a:r>
              <a:rPr sz="2000" b="1">
                <a:solidFill>
                  <a:srgbClr val="00FF41"/>
                </a:solidFill>
                <a:latin typeface="Arial"/>
              </a:rPr>
              <a:t>•  </a:t>
            </a:r>
            <a:r>
              <a:rPr sz="2000" b="0">
                <a:solidFill>
                  <a:srgbClr val="F5F7FA"/>
                </a:solidFill>
                <a:latin typeface="Arial"/>
              </a:rPr>
              <a:t>~30 minutes — then move to your own build.</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DO IT · PART B</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Then: build your AI-against-AI project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Build the defense you picked — hosted, in week2/7_22/code_deliverable.</a:t>
            </a:r>
          </a:p>
          <a:p>
            <a:pPr algn="l">
              <a:lnSpc>
                <a:spcPct val="112000"/>
              </a:lnSpc>
            </a:pPr>
            <a:r>
              <a:rPr sz="2000" b="1">
                <a:solidFill>
                  <a:srgbClr val="00FF41"/>
                </a:solidFill>
                <a:latin typeface="Arial"/>
              </a:rPr>
              <a:t>•  </a:t>
            </a:r>
            <a:r>
              <a:rPr sz="2000" b="0">
                <a:solidFill>
                  <a:srgbClr val="F5F7FA"/>
                </a:solidFill>
                <a:latin typeface="Arial"/>
              </a:rPr>
              <a:t>Starting points: style cloaking · privacy noise (TrackMeNot) · block-the-bots · AI-vs-AI detector · worker-autonomy tool.</a:t>
            </a:r>
          </a:p>
          <a:p>
            <a:pPr algn="l">
              <a:lnSpc>
                <a:spcPct val="112000"/>
              </a:lnSpc>
            </a:pPr>
            <a:r>
              <a:rPr sz="2000" b="1">
                <a:solidFill>
                  <a:srgbClr val="00FF41"/>
                </a:solidFill>
                <a:latin typeface="Arial"/>
              </a:rPr>
              <a:t>•  </a:t>
            </a:r>
            <a:r>
              <a:rPr sz="2000" b="0">
                <a:solidFill>
                  <a:srgbClr val="F5F7FA"/>
                </a:solidFill>
                <a:latin typeface="Arial"/>
              </a:rPr>
              <a:t>Scope it to one page you can finish and demo — a working slice beats a grand plan.</a:t>
            </a:r>
          </a:p>
          <a:p>
            <a:pPr algn="l">
              <a:lnSpc>
                <a:spcPct val="112000"/>
              </a:lnSpc>
            </a:pPr>
            <a:r>
              <a:rPr sz="2000" b="1">
                <a:solidFill>
                  <a:srgbClr val="00FF41"/>
                </a:solidFill>
                <a:latin typeface="Arial"/>
              </a:rPr>
              <a:t>•  </a:t>
            </a:r>
            <a:r>
              <a:rPr sz="2000" b="0">
                <a:solidFill>
                  <a:srgbClr val="F5F7FA"/>
                </a:solidFill>
                <a:latin typeface="Arial"/>
              </a:rPr>
              <a:t>The live link is your submission; the report documents BOTH parts.</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ETHICS</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Defense vs. deception — where’s the line?</a:t>
            </a:r>
          </a:p>
          <a:p>
            <a:pPr algn="l">
              <a:lnSpc>
                <a:spcPct val="112000"/>
              </a:lnSpc>
            </a:pPr>
            <a:r>
              <a:rPr sz="3000" b="1">
                <a:solidFill>
                  <a:srgbClr val="F5F7FA"/>
                </a:solidFill>
                <a:latin typeface="Arial"/>
              </a:rPr>
              <a:t>Who could your technique harm, as well as protect?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SOURCES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Where the map comes from</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Weidinger et al. 2022 — Taxonomy of Risks posed by Language Models (FAccT).</a:t>
            </a:r>
          </a:p>
          <a:p>
            <a:pPr algn="l">
              <a:lnSpc>
                <a:spcPct val="112000"/>
              </a:lnSpc>
            </a:pPr>
            <a:r>
              <a:rPr sz="2000" b="1">
                <a:solidFill>
                  <a:srgbClr val="00FF41"/>
                </a:solidFill>
                <a:latin typeface="Arial"/>
              </a:rPr>
              <a:t>•  </a:t>
            </a:r>
            <a:r>
              <a:rPr sz="2000" b="0">
                <a:solidFill>
                  <a:srgbClr val="F5F7FA"/>
                </a:solidFill>
                <a:latin typeface="Arial"/>
              </a:rPr>
              <a:t>Shelby et al. 2023 — Sociotechnical Harms of Algorithmic Systems (AIES).</a:t>
            </a:r>
          </a:p>
          <a:p>
            <a:pPr algn="l">
              <a:lnSpc>
                <a:spcPct val="112000"/>
              </a:lnSpc>
            </a:pPr>
            <a:r>
              <a:rPr sz="2000" b="1">
                <a:solidFill>
                  <a:srgbClr val="00FF41"/>
                </a:solidFill>
                <a:latin typeface="Arial"/>
              </a:rPr>
              <a:t>•  </a:t>
            </a:r>
            <a:r>
              <a:rPr sz="2000" b="0">
                <a:solidFill>
                  <a:srgbClr val="F5F7FA"/>
                </a:solidFill>
                <a:latin typeface="Arial"/>
              </a:rPr>
              <a:t>MIT AI Risk Repository (2024) · NIST AI Risk Management Framework (2023) · EU AI Act (2024).</a:t>
            </a:r>
          </a:p>
          <a:p>
            <a:pPr algn="l">
              <a:lnSpc>
                <a:spcPct val="112000"/>
              </a:lnSpc>
            </a:pPr>
            <a:r>
              <a:rPr sz="2000" b="1">
                <a:solidFill>
                  <a:srgbClr val="00FF41"/>
                </a:solidFill>
                <a:latin typeface="Arial"/>
              </a:rPr>
              <a:t>•  </a:t>
            </a:r>
            <a:r>
              <a:rPr sz="2000" b="0">
                <a:solidFill>
                  <a:srgbClr val="F5F7FA"/>
                </a:solidFill>
                <a:latin typeface="Arial"/>
              </a:rPr>
              <a:t>Incidents: NYT, CNN, NBC, NPR, TIME, CBS, Al Jazeera, Authors Guild; Li et al. 2023 (water).</a:t>
            </a:r>
          </a:p>
          <a:p>
            <a:pPr algn="l">
              <a:lnSpc>
                <a:spcPct val="112000"/>
              </a:lnSpc>
            </a:pPr>
            <a:r>
              <a:rPr sz="2000" b="1">
                <a:solidFill>
                  <a:srgbClr val="00FF41"/>
                </a:solidFill>
                <a:latin typeface="Arial"/>
              </a:rPr>
              <a:t>•  </a:t>
            </a:r>
            <a:r>
              <a:rPr sz="2000" b="0">
                <a:solidFill>
                  <a:srgbClr val="F5F7FA"/>
                </a:solidFill>
                <a:latin typeface="Arial"/>
              </a:rPr>
              <a:t>Defenses: Brunton &amp; Nissenbaum, Obfuscation · Franchi, Sandhaus et al. 2025 (DSI, FAccT).</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