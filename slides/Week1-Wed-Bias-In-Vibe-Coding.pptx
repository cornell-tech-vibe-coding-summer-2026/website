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'What is Bias?' slide was a title only — added a one-line working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Kept your 'Vibe Bias' definition; the lead definition line: 'The tendency of LLMs to generate UI/UX patterns based on the most frequent (often Western-centric) data in their training sets.'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Article (interactive — great live demo: readers edit the system prompt and rewrite the article): washingtonpost.com/technology/interactive/2026/chatbots-hidden-rules-system-prompts/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Leaked prompts run 2,300–27,000 words. Numbers = words per category per chatbot, from the WaPo graphic.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Bridges the Mirror Effect (bias from training data) to bias imposed deliberately upstream. The 'try it' bullet is an optional 5-min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Courier New"/>
              </a:rPr>
              <a:t>WEEK 1 · WEDNESDAY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889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Bias in Vibe Coding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Led by Jonathan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LEARNING OBJECTIVES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Learning objectives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VISIBILITY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Visual &amp; functional bias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Identify how LLM training data manifests as visual and functional bias in generated apps.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ANALYTICS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Tool evaluation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Evaluate different vibe coding tools (Lovable, Bolt, Vibe Code App) for consistency and stereotyping.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AUTO-AWESOME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Inclusive 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Develop strategies for ‘de-biasing’ prompts to ensure more inclusive outputs.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FOUNDATION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What is bias?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8A94A6"/>
                </a:solidFill>
                <a:latin typeface="Arial"/>
              </a:rPr>
              <a:t>Bias is a systematic skew in outputs — patterns the model treats as the default because they dominate its training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DEFINITION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is “Vibe Bias”?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VISUAL STEREOTYPES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Palette &amp; aesthetics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e.g. ‘Professional’ defaults to blue, white, corporate aesthetics.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FUNCTIONAL ASSUMPTIONS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Defaults baked 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e.g. assuming US-style addresses or phone-number formats.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ACCESSIBILITY OVERSIGHTS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Who’s left 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e.g. low contrast ratios or non-semantic HTML structures.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CORE CONCEPT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The Mirror Effect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F5F7FA"/>
                </a:solidFill>
                <a:latin typeface="Arial"/>
              </a:rPr>
              <a:t>LLMs don’t “design” — they predict the next most likely token.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8A94A6"/>
                </a:solidFill>
                <a:latin typeface="Arial"/>
              </a:rPr>
              <a:t>Prompt for a “Healthcare Dashboard” and the tool reflects the average of 10,000 existing dashboards — including all their flaws and lack of diversity.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HIDDEN RULES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System prompts — the rules you never 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48840"/>
            <a:ext cx="557784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F5F7FA"/>
                </a:solidFill>
                <a:latin typeface="Arial"/>
              </a:rPr>
              <a:t>Before your words reach the model, its maker invisibly prepends thousands of words of instructions.</a:t>
            </a:r>
          </a:p>
          <a:p>
            <a:pPr algn="l">
              <a:lnSpc>
                <a:spcPct val="120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F5F7FA"/>
                </a:solidFill>
                <a:latin typeface="Arial"/>
              </a:rPr>
              <a:t>The system prompt outranks you — it “can sometimes override a person’s request.”</a:t>
            </a:r>
          </a:p>
          <a:p>
            <a:pPr algn="l">
              <a:lnSpc>
                <a:spcPct val="120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F5F7FA"/>
                </a:solidFill>
                <a:latin typeface="Arial"/>
              </a:rPr>
              <a:t>It’s plain natural language: cheap, instant behavior fixes without retraining.</a:t>
            </a:r>
          </a:p>
          <a:p>
            <a:pPr algn="l">
              <a:lnSpc>
                <a:spcPct val="120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F5F7FA"/>
                </a:solidFill>
                <a:latin typeface="Arial"/>
              </a:rPr>
              <a:t>Really: OpenAI’s Codex was told “Never talk about goblins, gremlins, raccoons, trolls…” — a real fix to a real bug.</a:t>
            </a:r>
          </a:p>
        </p:txBody>
      </p:sp>
      <p:pic>
        <p:nvPicPr>
          <p:cNvPr id="6" name="Picture 5" descr="wapo-system-promp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48840"/>
            <a:ext cx="5029200" cy="335699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92240" y="5596128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Illustration: The Washington Post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5332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474"/>
                </a:solidFill>
                <a:latin typeface="Courier New"/>
              </a:rPr>
              <a:t>Source: Kevin Schaul, “See the hidden rules behind AI”, The Washington Post, May 11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HIDDEN RULES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the hidden words are spent 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PERSONALITY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Claude 4,200 · GPT 510 · Grok 420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“Claude does not use emojis unless the person in the conversation asks it to.”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POLICIES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Claude 7,900 · GPT 2,300 · Grok 260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“NEVER reproduce song lyrics (not even one line).” · “Do not mention ads unless the user asks.”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TOOLS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Claude 12,000 · GPT 13,000 · Grok 1,600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How and when to search the web, read files, make PDFs — the biggest share by far.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05332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474"/>
                </a:solidFill>
                <a:latin typeface="Courier New"/>
              </a:rPr>
              <a:t>Source: word counts &amp; quotes: system prompts extracted by Ásgeir Thor Johnson · analysis: K. Schaul, The Washington Post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HIDDEN RULES · SO WHAT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Whose values? Read them yourself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A system prompt is bias by design: someone chose the persona, the taboos, and the defaults before you typed a word.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Quick fixes happen here too: after Grok’s antisemitic tirade, xAI deleted one line — “You tell like it is and you are not afraid to offend people who are politically correct.”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“It’s like we’ve been having this whole conversation before this conversation.” — Ásgeir Thor Johnson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Read the leaks: github.com/asgeirtj/system_prompts_leaks (57k★) — Claude, ChatGPT, Gemini, Grok, Copilot &amp; more.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Try it: skim your own tool’s system prompt and find three value judgments its maker made for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05332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474"/>
                </a:solidFill>
                <a:latin typeface="Courier New"/>
              </a:rPr>
              <a:t>Source: K. Schaul, The Washington Post, May 11 2026 · github.com/asgeirtj/system_prompts_leaks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TRANSITION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27432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>
                <a:solidFill>
                  <a:srgbClr val="00FF41"/>
                </a:solidFill>
                <a:latin typeface="Arial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0584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Time for some activities.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CASE STUDY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Case study: “Make it Professional”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5212080" cy="2377440"/>
          </a:xfrm>
          <a:prstGeom prst="roundRect">
            <a:avLst/>
          </a:prstGeom>
          <a:solidFill>
            <a:srgbClr val="151B26"/>
          </a:solidFill>
          <a:ln w="1524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200400"/>
            <a:ext cx="5212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🖼  Result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49039"/>
            <a:ext cx="5212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“A standard landing page.”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377440"/>
            <a:ext cx="5212080" cy="2377440"/>
          </a:xfrm>
          <a:prstGeom prst="roundRect">
            <a:avLst/>
          </a:prstGeom>
          <a:solidFill>
            <a:srgbClr val="151B26"/>
          </a:solidFill>
          <a:ln w="1524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3200400"/>
            <a:ext cx="5212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🖼  Result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3749039"/>
            <a:ext cx="5212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“A professional landing page.”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029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F7FA"/>
                </a:solidFill>
                <a:latin typeface="Arial"/>
              </a:rPr>
              <a:t>The question: why does “professional” often default to one specific layout or design?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ACTIVITY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The cross-tool benchmark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The mission: run the SAME prompt across three different platforms.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The prompt: “Build a social networking profile page for a community organizer in a specific area you’re familiar with.”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Look for: did it use relevant imagery or icons?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Is the terminology correct for the location?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Does the wording or layout assume anything about who uses the site?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AUDIT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The Vibe Audit checklist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REPRESENTATION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Who is this for?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Who is this interface designed for? Who might be left out or overlooked?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ACCESSIBILITY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Does it meet the bar?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Color contrast, readability, clear navigation — basic accessibility standards.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ASSUMPTIONS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What’s baked in?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What does the design assume — payment access, name formats, language?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STRATEGIES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Strategies for control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EXPLICIT PROMPTING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Say what you mean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From “Make a login” to “Make an accessible login using semantic HTML and high-contrast tokens.”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CONTEXT LOADING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Feed diverse refs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Provide the AI with diverse design-system references before generating.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HUMAN-IN-THE-LOOP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Audit, don’t trust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Use your own critical lens to audit the code — not just the ‘vibe.’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