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Reading: Nielsen — 10 Usability Heuristics (NN/g). Use these as the lens for the peer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 7_27 peer-testing. Bring your findings to Tuesday's values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from Week 2 Monday's teaser — now we go deeper on Discovery and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VAP Discovery heuristic (Ch. 5). Trace each source to the values it carries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Hauke's own PiTech case (YAI). Real example of a genuine value conflict — sets up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van de Poel / VAP. The goal is to reach for Dissolve first, and to make Trade-offs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real PiTech resolutions from the VAP deck — one per strategy. Vivid, and each maps to a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'light 3-question check' the syllabus asks for. Adapt each team's project into these three, then verify with a real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 7_28 peer-testing round 2 (values). Ties Monday usability + Tuesday values into the final iteration.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VAP deck's 'most critical finding'. Gives the session intellectual honesty and connects straight to the peer-testing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Rubric straight from the syllabus. Flag the 25% ethical-reflection AI-writing rule loudly.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3 · MONDAY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User Testing I: Does It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Outcomes — Designing systems that are useful and empowering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TURN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You built it. Does it work — for someone who isn’t you?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This week your final project meets real users. Two questions, two days: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Today — </a:t>
            </a:r>
            <a:r>
              <a:rPr sz="2000" b="1">
                <a:solidFill>
                  <a:srgbClr val="00FF41"/>
                </a:solidFill>
                <a:latin typeface="Arial"/>
              </a:rPr>
              <a:t>does it work?</a:t>
            </a:r>
            <a:r>
              <a:rPr sz="2000" b="0">
                <a:solidFill>
                  <a:srgbClr val="F5F7FA"/>
                </a:solidFill>
                <a:latin typeface="Arial"/>
              </a:rPr>
              <a:t>  (usability).   Tomorrow — </a:t>
            </a:r>
            <a:r>
              <a:rPr sz="2000" b="1">
                <a:solidFill>
                  <a:srgbClr val="00FF41"/>
                </a:solidFill>
                <a:latin typeface="Arial"/>
              </a:rPr>
              <a:t>does it do the right thing?</a:t>
            </a:r>
            <a:r>
              <a:rPr sz="2000" b="0">
                <a:solidFill>
                  <a:srgbClr val="F5F7FA"/>
                </a:solidFill>
                <a:latin typeface="Arial"/>
              </a:rPr>
              <a:t>  (values).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WHY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You are not your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You know where every button is and what every label means — so you’re the worst person to judge whether it’s usable.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Watching one real person try your app tells you more than any amount of guessing.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READING · NIELSEN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Nielsen’s 10 usability heuristics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53949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01  </a:t>
            </a:r>
            <a:r>
              <a:rPr sz="1600" b="1">
                <a:solidFill>
                  <a:srgbClr val="F5F7FA"/>
                </a:solidFill>
                <a:latin typeface="Arial"/>
              </a:rPr>
              <a:t>Visibility of system status  </a:t>
            </a:r>
            <a:r>
              <a:rPr sz="1400" b="0">
                <a:solidFill>
                  <a:srgbClr val="8A94A6"/>
                </a:solidFill>
                <a:latin typeface="Arial"/>
              </a:rPr>
              <a:t>always show what’s happening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02  </a:t>
            </a:r>
            <a:r>
              <a:rPr sz="1600" b="1">
                <a:solidFill>
                  <a:srgbClr val="F5F7FA"/>
                </a:solidFill>
                <a:latin typeface="Arial"/>
              </a:rPr>
              <a:t>Match the real world  </a:t>
            </a:r>
            <a:r>
              <a:rPr sz="1400" b="0">
                <a:solidFill>
                  <a:srgbClr val="8A94A6"/>
                </a:solidFill>
                <a:latin typeface="Arial"/>
              </a:rPr>
              <a:t>speak the user’s language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03  </a:t>
            </a:r>
            <a:r>
              <a:rPr sz="1600" b="1">
                <a:solidFill>
                  <a:srgbClr val="F5F7FA"/>
                </a:solidFill>
                <a:latin typeface="Arial"/>
              </a:rPr>
              <a:t>User control &amp; freedom  </a:t>
            </a:r>
            <a:r>
              <a:rPr sz="1400" b="0">
                <a:solidFill>
                  <a:srgbClr val="8A94A6"/>
                </a:solidFill>
                <a:latin typeface="Arial"/>
              </a:rPr>
              <a:t>easy undo / exits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04  </a:t>
            </a:r>
            <a:r>
              <a:rPr sz="1600" b="1">
                <a:solidFill>
                  <a:srgbClr val="F5F7FA"/>
                </a:solidFill>
                <a:latin typeface="Arial"/>
              </a:rPr>
              <a:t>Consistency &amp; standards  </a:t>
            </a:r>
            <a:r>
              <a:rPr sz="1400" b="0">
                <a:solidFill>
                  <a:srgbClr val="8A94A6"/>
                </a:solidFill>
                <a:latin typeface="Arial"/>
              </a:rPr>
              <a:t>follow conventions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05  </a:t>
            </a:r>
            <a:r>
              <a:rPr sz="1600" b="1">
                <a:solidFill>
                  <a:srgbClr val="F5F7FA"/>
                </a:solidFill>
                <a:latin typeface="Arial"/>
              </a:rPr>
              <a:t>Error prevention  </a:t>
            </a:r>
            <a:r>
              <a:rPr sz="1400" b="0">
                <a:solidFill>
                  <a:srgbClr val="8A94A6"/>
                </a:solidFill>
                <a:latin typeface="Arial"/>
              </a:rPr>
              <a:t>stop mistakes before they happen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468880"/>
            <a:ext cx="53949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06  </a:t>
            </a:r>
            <a:r>
              <a:rPr sz="1600" b="1">
                <a:solidFill>
                  <a:srgbClr val="F5F7FA"/>
                </a:solidFill>
                <a:latin typeface="Arial"/>
              </a:rPr>
              <a:t>Recognition over recall  </a:t>
            </a:r>
            <a:r>
              <a:rPr sz="1400" b="0">
                <a:solidFill>
                  <a:srgbClr val="8A94A6"/>
                </a:solidFill>
                <a:latin typeface="Arial"/>
              </a:rPr>
              <a:t>show options, don’t make them remember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07  </a:t>
            </a:r>
            <a:r>
              <a:rPr sz="1600" b="1">
                <a:solidFill>
                  <a:srgbClr val="F5F7FA"/>
                </a:solidFill>
                <a:latin typeface="Arial"/>
              </a:rPr>
              <a:t>Flexibility &amp; efficiency  </a:t>
            </a:r>
            <a:r>
              <a:rPr sz="1400" b="0">
                <a:solidFill>
                  <a:srgbClr val="8A94A6"/>
                </a:solidFill>
                <a:latin typeface="Arial"/>
              </a:rPr>
              <a:t>shortcuts for experts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08  </a:t>
            </a:r>
            <a:r>
              <a:rPr sz="1600" b="1">
                <a:solidFill>
                  <a:srgbClr val="F5F7FA"/>
                </a:solidFill>
                <a:latin typeface="Arial"/>
              </a:rPr>
              <a:t>Aesthetic &amp; minimalist  </a:t>
            </a:r>
            <a:r>
              <a:rPr sz="1400" b="0">
                <a:solidFill>
                  <a:srgbClr val="8A94A6"/>
                </a:solidFill>
                <a:latin typeface="Arial"/>
              </a:rPr>
              <a:t>no needless clutter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09  </a:t>
            </a:r>
            <a:r>
              <a:rPr sz="1600" b="1">
                <a:solidFill>
                  <a:srgbClr val="F5F7FA"/>
                </a:solidFill>
                <a:latin typeface="Arial"/>
              </a:rPr>
              <a:t>Recover from errors  </a:t>
            </a:r>
            <a:r>
              <a:rPr sz="1400" b="0">
                <a:solidFill>
                  <a:srgbClr val="8A94A6"/>
                </a:solidFill>
                <a:latin typeface="Arial"/>
              </a:rPr>
              <a:t>plain-language fixes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10  </a:t>
            </a:r>
            <a:r>
              <a:rPr sz="1600" b="1">
                <a:solidFill>
                  <a:srgbClr val="F5F7FA"/>
                </a:solidFill>
                <a:latin typeface="Arial"/>
              </a:rPr>
              <a:t>Help &amp; documentation  </a:t>
            </a:r>
            <a:r>
              <a:rPr sz="1400" b="0">
                <a:solidFill>
                  <a:srgbClr val="8A94A6"/>
                </a:solidFill>
                <a:latin typeface="Arial"/>
              </a:rPr>
              <a:t>findable when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 TO RUN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A quick usability test in 4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Give a real task (“sign up and post one thing”) — don’t give a tour.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Watch, don’t help. Silence is data.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Ask them to think aloud — narrate what they expect.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Note every hesitation, wrong turn, and dead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ACTIVITY · ROUND 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Peer-test for usability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Each team tests other teams’ projects — and gets tested.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Testers: run the 4 moves above; log issues against Nielsen’s heuristics.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Teams: watch your users struggle — resist the urge to explain.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Rank fixes by how badly they block the task, then iterate.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3 ·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User Testing II: Does It Do the Right Thing?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Values at Play — the ethics of what you built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SECOND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Usable ≠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A dark pattern can be beautifully usable. “Does it work?” and “does it do the right thing?” are different questions.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Today we test the second one — with a framework: </a:t>
            </a:r>
            <a:r>
              <a:rPr sz="2000" b="1">
                <a:solidFill>
                  <a:srgbClr val="00FF41"/>
                </a:solidFill>
                <a:latin typeface="Arial"/>
              </a:rPr>
              <a:t>Values at Play</a:t>
            </a:r>
            <a:r>
              <a:rPr sz="2000" b="0">
                <a:solidFill>
                  <a:srgbClr val="F5F7FA"/>
                </a:solidFill>
                <a:latin typeface="Arial"/>
              </a:rPr>
              <a:t> (Flanagan &amp; Nissenbaum).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Values at Play — three moves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01 ·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What values?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Find the values at play; define them in concrete terms.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02 ·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Build them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Turn values into features; resolve the clashes.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03 ·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Did it work?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Check whether the built thing delivers the value.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DISCOVERY ·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Where do values come from? Look at the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453563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2453563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90492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FUNCTIONAL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90492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What it’s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904923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The system’s explicit purpose, mission, and promise.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468880"/>
            <a:ext cx="2453563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468880"/>
            <a:ext cx="2453563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3723" y="2788920"/>
            <a:ext cx="190492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ACTORS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3246120"/>
            <a:ext cx="190492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Who’s involved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3723" y="4114800"/>
            <a:ext cx="1904923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Users, creators, funders — and affected parties who never touch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6" y="2468880"/>
            <a:ext cx="2453563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6" y="2468880"/>
            <a:ext cx="2453563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046" y="2788920"/>
            <a:ext cx="190492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6" y="3246120"/>
            <a:ext cx="190492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The material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6" y="4114800"/>
            <a:ext cx="1904923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What the tech makes easy or hard — screen, sensors,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049" y="2468880"/>
            <a:ext cx="2453563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049" y="2468880"/>
            <a:ext cx="2453563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369" y="2788920"/>
            <a:ext cx="190492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369" y="3246120"/>
            <a:ext cx="190492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The world around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369" y="4114800"/>
            <a:ext cx="1904923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Norms, culture, law, and standards it inherits.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DISCOVERY · DEFINE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Make abstract values concrete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A value you can’t define, you can’t test. Turn it into operational terms: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Privacy</a:t>
            </a:r>
            <a:r>
              <a:rPr sz="2000" b="0">
                <a:solidFill>
                  <a:srgbClr val="F5F7FA"/>
                </a:solidFill>
                <a:latin typeface="Arial"/>
              </a:rPr>
              <a:t> → control · secrecy · contextual integrity.    </a:t>
            </a:r>
            <a:r>
              <a:rPr sz="2000" b="1">
                <a:solidFill>
                  <a:srgbClr val="00FF41"/>
                </a:solidFill>
                <a:latin typeface="Arial"/>
              </a:rPr>
              <a:t>Fairness</a:t>
            </a:r>
            <a:r>
              <a:rPr sz="2000" b="0">
                <a:solidFill>
                  <a:srgbClr val="F5F7FA"/>
                </a:solidFill>
                <a:latin typeface="Arial"/>
              </a:rPr>
              <a:t> → equal access.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Accessibility</a:t>
            </a:r>
            <a:r>
              <a:rPr sz="2000" b="0">
                <a:solidFill>
                  <a:srgbClr val="F5F7FA"/>
                </a:solidFill>
                <a:latin typeface="Arial"/>
              </a:rPr>
              <a:t> → perceivable · operable for every body.    </a:t>
            </a:r>
            <a:r>
              <a:rPr sz="2000" b="1">
                <a:solidFill>
                  <a:srgbClr val="00FF41"/>
                </a:solidFill>
                <a:latin typeface="Arial"/>
              </a:rPr>
              <a:t>Autonomy</a:t>
            </a:r>
            <a:r>
              <a:rPr sz="2000" b="0">
                <a:solidFill>
                  <a:srgbClr val="F5F7FA"/>
                </a:solidFill>
                <a:latin typeface="Arial"/>
              </a:rPr>
              <a:t> → act for your own reasons.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EXAMPLE · YOUR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Discovery on a vibe-coded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5F7FA"/>
                </a:solidFill>
                <a:latin typeface="Arial"/>
              </a:rPr>
              <a:t>An accessible event sign-up form.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Sources → values: the </a:t>
            </a:r>
            <a:r>
              <a:rPr sz="2000" b="1">
                <a:solidFill>
                  <a:srgbClr val="00FF41"/>
                </a:solidFill>
                <a:latin typeface="Arial"/>
              </a:rPr>
              <a:t>purpose</a:t>
            </a:r>
            <a:r>
              <a:rPr sz="2000" b="0">
                <a:solidFill>
                  <a:srgbClr val="F5F7FA"/>
                </a:solidFill>
                <a:latin typeface="Arial"/>
              </a:rPr>
              <a:t> (let anyone RSVP) → access; the </a:t>
            </a:r>
            <a:r>
              <a:rPr sz="2000" b="1">
                <a:solidFill>
                  <a:srgbClr val="00FF41"/>
                </a:solidFill>
                <a:latin typeface="Arial"/>
              </a:rPr>
              <a:t>actors</a:t>
            </a:r>
            <a:r>
              <a:rPr sz="2000" b="0">
                <a:solidFill>
                  <a:srgbClr val="F5F7FA"/>
                </a:solidFill>
                <a:latin typeface="Arial"/>
              </a:rPr>
              <a:t> (screen-reader users) → dignity; the </a:t>
            </a:r>
            <a:r>
              <a:rPr sz="2000" b="1">
                <a:solidFill>
                  <a:srgbClr val="00FF41"/>
                </a:solidFill>
                <a:latin typeface="Arial"/>
              </a:rPr>
              <a:t>context</a:t>
            </a:r>
            <a:r>
              <a:rPr sz="2000" b="0">
                <a:solidFill>
                  <a:srgbClr val="F5F7FA"/>
                </a:solidFill>
                <a:latin typeface="Arial"/>
              </a:rPr>
              <a:t> (you collect names) → privacy.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EXAMPLE · REAL WORLD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Discovery on a real system (YAI)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A computer-vision tool that watches for seizures for people with disabilities.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Values in tension: </a:t>
            </a:r>
            <a:r>
              <a:rPr sz="2000" b="1">
                <a:solidFill>
                  <a:srgbClr val="00FF41"/>
                </a:solidFill>
                <a:latin typeface="Arial"/>
              </a:rPr>
              <a:t>safety</a:t>
            </a:r>
            <a:r>
              <a:rPr sz="2000" b="0">
                <a:solidFill>
                  <a:srgbClr val="F5F7FA"/>
                </a:solidFill>
                <a:latin typeface="Arial"/>
              </a:rPr>
              <a:t> (catch the seizure) vs. </a:t>
            </a:r>
            <a:r>
              <a:rPr sz="2000" b="1">
                <a:solidFill>
                  <a:srgbClr val="00FF41"/>
                </a:solidFill>
                <a:latin typeface="Arial"/>
              </a:rPr>
              <a:t>privacy &amp; dignity</a:t>
            </a:r>
            <a:r>
              <a:rPr sz="2000" b="0">
                <a:solidFill>
                  <a:srgbClr val="F5F7FA"/>
                </a:solidFill>
                <a:latin typeface="Arial"/>
              </a:rPr>
              <a:t> (a camera always watching a person in their home).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Translate values into the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Discovery names the values. Implementation puts them into features, architecture, and lines of code — and forces the hard part: </a:t>
            </a:r>
            <a:r>
              <a:rPr sz="2200" b="1">
                <a:solidFill>
                  <a:srgbClr val="00FF41"/>
                </a:solidFill>
                <a:latin typeface="Arial"/>
              </a:rPr>
              <a:t>what happens when two values collide?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VALUE CONFLICTS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Three ways to resolve a clash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DISSOLVE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Both, fully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Redesign so the conflict disappears — no one loses.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COMPROMISE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Both, partly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Promote each value, but in less than full measure.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One over another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Sacrifice one value for another — and name the cost.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WORKED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The same conflict, three 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Dissolve — YAI</a:t>
            </a:r>
            <a:r>
              <a:rPr sz="1800" b="0">
                <a:solidFill>
                  <a:srgbClr val="F5F7FA"/>
                </a:solidFill>
                <a:latin typeface="Arial"/>
              </a:rPr>
              <a:t>: run pose detection on optically blurred images + a rotating blocker that makes the camera’s state legible. Privacy AND function.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Compromise — CFS</a:t>
            </a:r>
            <a:r>
              <a:rPr sz="1800" b="0">
                <a:solidFill>
                  <a:srgbClr val="F5F7FA"/>
                </a:solidFill>
                <a:latin typeface="Arial"/>
              </a:rPr>
              <a:t>: use sensors instead of cameras, and alert the resident first. “As safety expands, dignity expands too.”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Trade-off — JustFix</a:t>
            </a:r>
            <a:r>
              <a:rPr sz="1800" b="0">
                <a:solidFill>
                  <a:srgbClr val="F5F7FA"/>
                </a:solidFill>
                <a:latin typeface="Arial"/>
              </a:rPr>
              <a:t>: keep the AI but change the use case — from legal advice (hallucination = harm) to emotional support (lower-risk). Cost named.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Did the value actually land?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Two checks, borrowed from software testing: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Did we build the </a:t>
            </a:r>
            <a:r>
              <a:rPr sz="2000" b="1">
                <a:solidFill>
                  <a:srgbClr val="00FF41"/>
                </a:solidFill>
                <a:latin typeface="Arial"/>
              </a:rPr>
              <a:t>right thing</a:t>
            </a:r>
            <a:r>
              <a:rPr sz="2000" b="0">
                <a:solidFill>
                  <a:srgbClr val="F5F7FA"/>
                </a:solidFill>
                <a:latin typeface="Arial"/>
              </a:rPr>
              <a:t>? — are the discovered values really in the system?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Did we build it </a:t>
            </a:r>
            <a:r>
              <a:rPr sz="2000" b="1">
                <a:solidFill>
                  <a:srgbClr val="00FF41"/>
                </a:solidFill>
                <a:latin typeface="Arial"/>
              </a:rPr>
              <a:t>right</a:t>
            </a:r>
            <a:r>
              <a:rPr sz="2000" b="0">
                <a:solidFill>
                  <a:srgbClr val="F5F7FA"/>
                </a:solidFill>
                <a:latin typeface="Arial"/>
              </a:rPr>
              <a:t>? — do real people, in real contexts, experience the value?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3-question values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53949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01  </a:t>
            </a:r>
            <a:r>
              <a:rPr sz="1600" b="1">
                <a:solidFill>
                  <a:srgbClr val="F5F7FA"/>
                </a:solidFill>
                <a:latin typeface="Arial"/>
              </a:rPr>
              <a:t>What value does it claim?  </a:t>
            </a:r>
            <a:r>
              <a:rPr sz="1400" b="0">
                <a:solidFill>
                  <a:srgbClr val="8A94A6"/>
                </a:solidFill>
                <a:latin typeface="Arial"/>
              </a:rPr>
              <a:t>the value the team says the project serves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02  </a:t>
            </a:r>
            <a:r>
              <a:rPr sz="1600" b="1">
                <a:solidFill>
                  <a:srgbClr val="F5F7FA"/>
                </a:solidFill>
                <a:latin typeface="Arial"/>
              </a:rPr>
              <a:t>Who’s it for — who’s left out?  </a:t>
            </a:r>
            <a:r>
              <a:rPr sz="1400" b="0">
                <a:solidFill>
                  <a:srgbClr val="8A94A6"/>
                </a:solidFill>
                <a:latin typeface="Arial"/>
              </a:rPr>
              <a:t>who it serves, and who it could exclude or harm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468880"/>
            <a:ext cx="53949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03  </a:t>
            </a:r>
            <a:r>
              <a:rPr sz="1600" b="1">
                <a:solidFill>
                  <a:srgbClr val="F5F7FA"/>
                </a:solidFill>
                <a:latin typeface="Arial"/>
              </a:rPr>
              <a:t>How would you know?  </a:t>
            </a:r>
            <a:r>
              <a:rPr sz="1400" b="0">
                <a:solidFill>
                  <a:srgbClr val="8A94A6"/>
                </a:solidFill>
                <a:latin typeface="Arial"/>
              </a:rPr>
              <a:t>the observable tell that the value is being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ACTIVITY · ROUND 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Peer-test for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Swap projects again — run the 3-question check on a classmate’s project.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Name the values tension you find; suggest a dissolve / compromise / trade-off.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Teams: take the tension back into your build and iterate toward the final.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Reading: Values at Play, Ch. 5 (Discovery).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 HONEST CAUTION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VAP runs in your head — so bring real people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F5F7FA"/>
                </a:solidFill>
                <a:latin typeface="Arial"/>
              </a:rPr>
              <a:t>The framework’s blind spot: reflection and specification both happen in the designer’s mind. But the people affected — your users — aren’t in that loop.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So pair VAP with real testing. Be a </a:t>
            </a:r>
            <a:r>
              <a:rPr sz="2000" b="1">
                <a:solidFill>
                  <a:srgbClr val="00FF41"/>
                </a:solidFill>
                <a:latin typeface="Arial"/>
              </a:rPr>
              <a:t>value mediator</a:t>
            </a:r>
            <a:r>
              <a:rPr sz="2000" b="0">
                <a:solidFill>
                  <a:srgbClr val="F5F7FA"/>
                </a:solidFill>
                <a:latin typeface="Arial"/>
              </a:rPr>
              <a:t> — surface the values your users hold — not just a value selector.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3 · WEDNESDAY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Working Day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USE TODAY WELL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Working day — before final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Fix the top usability issues from Monday.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Resolve the values tension from Tuesday (dissolve / compromise / trade-off).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Get the live demo solid — rehearse the happy path.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Write the deep ethical reflection (this is 25% — and AI writing isn’t allowed here).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Capture screenshots / a short video in case the live link fails.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Instructors are here — grab us for a check-in.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3 · THURSDAY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Final Presentations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BRIEF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Make something that benefits someone outside the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…and that society keeps benefiting from after class ends.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Today you show it, demo it live, and tell us what you learned — about the build and about the ethics.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 TO PRESENT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Five minutes, five beats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The value — who it serves, and why it matters.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The build — a live demo of the happy path.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What you tested — usability + values, and what changed.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The hard call — a value tension and how you resolved it.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What’s next — how it keeps helping after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 IT’S GRADED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What we’re looking for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GOOD VIBES · 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The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Novelty and the case for why you built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GOOD CODE · 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The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Functionality and technical execution.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LIVE DEMO · 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With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Plan, test, and documentation with real users.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 IT’S GRADED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…and the two that carry the most weight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5272887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5272887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47242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DEEP ETHICAL REFLECTION · 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472424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Your own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24247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The values thinking — AI writing is impermissible here (grammar only).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468880"/>
            <a:ext cx="5272887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468880"/>
            <a:ext cx="5272887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2788920"/>
            <a:ext cx="47242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COMMUNICATION · 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3246120"/>
            <a:ext cx="472424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The 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4114800"/>
            <a:ext cx="4724247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Text, video, and photos documenting capability and process.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THAT’S A WRAP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Good code, good vibes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You learned to build fast with AI — and to build right: to name the values, test with real people, and own the calls you made.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Now go make something the world keeps benefiting from.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