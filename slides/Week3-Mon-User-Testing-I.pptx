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EH7Fx9rpC0c (a few minutes). Pause to point out the think-aloud, the neutral moderation, and one breakdown. Source: Shiri Azenkot, 'Running a Usability Study'.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Reading: Nielsen - 10 Usability Heuristics (NN/g). Use these as the lens for naming what broke.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Individual work on the shared Project 2 prototype. Everyone submits their own video + write-up.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Courier New"/>
              </a:rPr>
              <a:t>WEEK 3 - MONDAY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8892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5F7FA"/>
                </a:solidFill>
                <a:latin typeface="Arial"/>
              </a:rPr>
              <a:t>Usability Testing: Does It Work?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1605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Human + agent testing on your Project 2 prototype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THE TURN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You built it. Does it work - for someone who isn't you?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100" b="0">
                <a:solidFill>
                  <a:srgbClr val="F5F7FA"/>
                </a:solidFill>
                <a:latin typeface="Arial"/>
              </a:rPr>
              <a:t>Weeks 1-2 you built. This week you evaluate, then build the final. Two testing days on </a:t>
            </a:r>
            <a:r>
              <a:rPr sz="2100" b="1">
                <a:solidFill>
                  <a:srgbClr val="F5F7FA"/>
                </a:solidFill>
                <a:latin typeface="Arial"/>
              </a:rPr>
              <a:t>last week's Project 2 prototype: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2100" b="0">
                <a:solidFill>
                  <a:srgbClr val="F5F7FA"/>
                </a:solidFill>
                <a:latin typeface="Arial"/>
              </a:rPr>
              <a:t>Today - </a:t>
            </a:r>
            <a:r>
              <a:rPr sz="2100" b="1">
                <a:solidFill>
                  <a:srgbClr val="00FF41"/>
                </a:solidFill>
                <a:latin typeface="Arial"/>
              </a:rPr>
              <a:t>does it work?</a:t>
            </a:r>
            <a:r>
              <a:rPr sz="2100" b="0">
                <a:solidFill>
                  <a:srgbClr val="F5F7FA"/>
                </a:solidFill>
                <a:latin typeface="Arial"/>
              </a:rPr>
              <a:t>  (usability).    Tomorrow - </a:t>
            </a:r>
            <a:r>
              <a:rPr sz="2100" b="1">
                <a:solidFill>
                  <a:srgbClr val="00FF41"/>
                </a:solidFill>
                <a:latin typeface="Arial"/>
              </a:rPr>
              <a:t>does it do the right thing?</a:t>
            </a:r>
            <a:r>
              <a:rPr sz="2100" b="0">
                <a:solidFill>
                  <a:srgbClr val="F5F7FA"/>
                </a:solidFill>
                <a:latin typeface="Arial"/>
              </a:rPr>
              <a:t>  (values).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WHY TEST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You are not your user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F5F7FA"/>
                </a:solidFill>
                <a:latin typeface="Arial"/>
              </a:rPr>
              <a:t>You know where every button is and what every label means - so you are the worst person alive to judge whether your own app is usable.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8A94A6"/>
                </a:solidFill>
                <a:latin typeface="Arial"/>
              </a:rPr>
              <a:t>Watching </a:t>
            </a:r>
            <a:r>
              <a:rPr sz="2000" b="1">
                <a:solidFill>
                  <a:srgbClr val="00FF41"/>
                </a:solidFill>
                <a:latin typeface="Arial"/>
              </a:rPr>
              <a:t>one</a:t>
            </a:r>
            <a:r>
              <a:rPr sz="2000" b="0">
                <a:solidFill>
                  <a:srgbClr val="8A94A6"/>
                </a:solidFill>
                <a:latin typeface="Arial"/>
              </a:rPr>
              <a:t> real person try it tells you more than a week of guessing. You test the design, not the person - confusion is the design's fault, and it is your best data.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WHAT IT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27432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0" b="1">
                <a:solidFill>
                  <a:srgbClr val="00FF41"/>
                </a:solidFill>
                <a:latin typeface="Arial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743200"/>
            <a:ext cx="100584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Give one real person one real task.</a:t>
            </a:r>
          </a:p>
          <a:p>
            <a:pPr algn="l">
              <a:lnSpc>
                <a:spcPct val="112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Ask them to think aloud.</a:t>
            </a:r>
          </a:p>
          <a:p>
            <a:pPr algn="l">
              <a:lnSpc>
                <a:spcPct val="112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Stay quiet and watch what they 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WATCH - A REAL USABILITY TEST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See it done before you do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A moderated think-aloud test. User goal: </a:t>
            </a:r>
            <a:r>
              <a:rPr sz="2000" b="1">
                <a:solidFill>
                  <a:srgbClr val="00FF41"/>
                </a:solidFill>
                <a:latin typeface="Arial"/>
              </a:rPr>
              <a:t>order medications online</a:t>
            </a:r>
            <a:r>
              <a:rPr sz="2000" b="0">
                <a:solidFill>
                  <a:srgbClr val="F5F7FA"/>
                </a:solidFill>
                <a:latin typeface="Arial"/>
              </a:rPr>
              <a:t> - refill Vitamin D and Tylenol, check which card is on file, set up auto-refill.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Watch for: where they hesitate, what they say they expect, and how the moderator stays neutral and lets them struggle.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2200" b="1">
                <a:solidFill>
                  <a:srgbClr val="00FF41"/>
                </a:solidFill>
                <a:latin typeface="Courier New"/>
              </a:rPr>
              <a:t>|&gt;  youtube.com/watch?v=EH7Fx9rpC0c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035040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A6474"/>
                </a:solidFill>
                <a:latin typeface="Courier New"/>
              </a:rPr>
              <a:t>Demo video + usability-study framing adapted from S. Azenkot, INFO 5305 UX &amp; User Research (Cornell Tech)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READING - NIELSEN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Nielsen's 10 usability heuristics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468880"/>
            <a:ext cx="53949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01  </a:t>
            </a:r>
            <a:r>
              <a:rPr sz="1600" b="1">
                <a:solidFill>
                  <a:srgbClr val="F5F7FA"/>
                </a:solidFill>
                <a:latin typeface="Arial"/>
              </a:rPr>
              <a:t>Visibility of system status  </a:t>
            </a:r>
            <a:r>
              <a:rPr sz="1400" b="0">
                <a:solidFill>
                  <a:srgbClr val="8A94A6"/>
                </a:solidFill>
                <a:latin typeface="Arial"/>
              </a:rPr>
              <a:t>always show what's happening</a:t>
            </a:r>
          </a:p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02  </a:t>
            </a:r>
            <a:r>
              <a:rPr sz="1600" b="1">
                <a:solidFill>
                  <a:srgbClr val="F5F7FA"/>
                </a:solidFill>
                <a:latin typeface="Arial"/>
              </a:rPr>
              <a:t>Match the real world  </a:t>
            </a:r>
            <a:r>
              <a:rPr sz="1400" b="0">
                <a:solidFill>
                  <a:srgbClr val="8A94A6"/>
                </a:solidFill>
                <a:latin typeface="Arial"/>
              </a:rPr>
              <a:t>speak the user's language</a:t>
            </a:r>
          </a:p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03  </a:t>
            </a:r>
            <a:r>
              <a:rPr sz="1600" b="1">
                <a:solidFill>
                  <a:srgbClr val="F5F7FA"/>
                </a:solidFill>
                <a:latin typeface="Arial"/>
              </a:rPr>
              <a:t>User control &amp; freedom  </a:t>
            </a:r>
            <a:r>
              <a:rPr sz="1400" b="0">
                <a:solidFill>
                  <a:srgbClr val="8A94A6"/>
                </a:solidFill>
                <a:latin typeface="Arial"/>
              </a:rPr>
              <a:t>easy undo / exits</a:t>
            </a:r>
          </a:p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04  </a:t>
            </a:r>
            <a:r>
              <a:rPr sz="1600" b="1">
                <a:solidFill>
                  <a:srgbClr val="F5F7FA"/>
                </a:solidFill>
                <a:latin typeface="Arial"/>
              </a:rPr>
              <a:t>Consistency &amp; standards  </a:t>
            </a:r>
            <a:r>
              <a:rPr sz="1400" b="0">
                <a:solidFill>
                  <a:srgbClr val="8A94A6"/>
                </a:solidFill>
                <a:latin typeface="Arial"/>
              </a:rPr>
              <a:t>follow conventions</a:t>
            </a:r>
          </a:p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05  </a:t>
            </a:r>
            <a:r>
              <a:rPr sz="1600" b="1">
                <a:solidFill>
                  <a:srgbClr val="F5F7FA"/>
                </a:solidFill>
                <a:latin typeface="Arial"/>
              </a:rPr>
              <a:t>Error prevention  </a:t>
            </a:r>
            <a:r>
              <a:rPr sz="1400" b="0">
                <a:solidFill>
                  <a:srgbClr val="8A94A6"/>
                </a:solidFill>
                <a:latin typeface="Arial"/>
              </a:rPr>
              <a:t>stop mistakes before they happen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468880"/>
            <a:ext cx="53949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06  </a:t>
            </a:r>
            <a:r>
              <a:rPr sz="1600" b="1">
                <a:solidFill>
                  <a:srgbClr val="F5F7FA"/>
                </a:solidFill>
                <a:latin typeface="Arial"/>
              </a:rPr>
              <a:t>Recognition over recall  </a:t>
            </a:r>
            <a:r>
              <a:rPr sz="1400" b="0">
                <a:solidFill>
                  <a:srgbClr val="8A94A6"/>
                </a:solidFill>
                <a:latin typeface="Arial"/>
              </a:rPr>
              <a:t>show options, don't make them remember</a:t>
            </a:r>
          </a:p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07  </a:t>
            </a:r>
            <a:r>
              <a:rPr sz="1600" b="1">
                <a:solidFill>
                  <a:srgbClr val="F5F7FA"/>
                </a:solidFill>
                <a:latin typeface="Arial"/>
              </a:rPr>
              <a:t>Flexibility &amp; efficiency  </a:t>
            </a:r>
            <a:r>
              <a:rPr sz="1400" b="0">
                <a:solidFill>
                  <a:srgbClr val="8A94A6"/>
                </a:solidFill>
                <a:latin typeface="Arial"/>
              </a:rPr>
              <a:t>shortcuts for experts</a:t>
            </a:r>
          </a:p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08  </a:t>
            </a:r>
            <a:r>
              <a:rPr sz="1600" b="1">
                <a:solidFill>
                  <a:srgbClr val="F5F7FA"/>
                </a:solidFill>
                <a:latin typeface="Arial"/>
              </a:rPr>
              <a:t>Aesthetic &amp; minimalist  </a:t>
            </a:r>
            <a:r>
              <a:rPr sz="1400" b="0">
                <a:solidFill>
                  <a:srgbClr val="8A94A6"/>
                </a:solidFill>
                <a:latin typeface="Arial"/>
              </a:rPr>
              <a:t>no needless clutter</a:t>
            </a:r>
          </a:p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09  </a:t>
            </a:r>
            <a:r>
              <a:rPr sz="1600" b="1">
                <a:solidFill>
                  <a:srgbClr val="F5F7FA"/>
                </a:solidFill>
                <a:latin typeface="Arial"/>
              </a:rPr>
              <a:t>Recover from errors  </a:t>
            </a:r>
            <a:r>
              <a:rPr sz="1400" b="0">
                <a:solidFill>
                  <a:srgbClr val="8A94A6"/>
                </a:solidFill>
                <a:latin typeface="Arial"/>
              </a:rPr>
              <a:t>plain-language fixes</a:t>
            </a:r>
          </a:p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10  </a:t>
            </a:r>
            <a:r>
              <a:rPr sz="1600" b="1">
                <a:solidFill>
                  <a:srgbClr val="F5F7FA"/>
                </a:solidFill>
                <a:latin typeface="Arial"/>
              </a:rPr>
              <a:t>Help &amp; documentation  </a:t>
            </a:r>
            <a:r>
              <a:rPr sz="1400" b="0">
                <a:solidFill>
                  <a:srgbClr val="8A94A6"/>
                </a:solidFill>
                <a:latin typeface="Arial"/>
              </a:rPr>
              <a:t>findable when needed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HOW TO RUN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A usability test in 4 moves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Give a real task ("sign up and log your first entry") - not a tour.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Watch, don't help. Let them struggle a bit - silence is data.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Ask them to think aloud - narrate what they see, expect, and want.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Note every hesitation, wrong turn, and dead end - name it against Nielsen's heuristics.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MODERATION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Prompt without leading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ENCOURAGE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"What are you thinking?"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Keep them talking without steering. Let silence sit, then nudge gently.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EXPECTATION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"What did you expect to happen?"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Surfaces the gap between their mental model and your design.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NEVER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"Did you like it?"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Leading and unstructured. Watch what they DO - don't fish for approval.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035040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A6474"/>
                </a:solidFill>
                <a:latin typeface="Courier New"/>
              </a:rPr>
              <a:t>Moderation guidelines adapted from S. Azenkot, INFO 5305 (Cornell Tech)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WHAT TO LOOK FOR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Capture evidence, not your interpretation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Look for usability problems - and write down what happened, not what you think it means: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Breakdowns</a:t>
            </a:r>
            <a:r>
              <a:rPr sz="1900" b="0">
                <a:solidFill>
                  <a:srgbClr val="F5F7FA"/>
                </a:solidFill>
                <a:latin typeface="Arial"/>
              </a:rPr>
              <a:t> - they get stuck, backtrack, or ask for help.</a:t>
            </a:r>
          </a:p>
          <a:p>
            <a:pPr algn="l">
              <a:lnSpc>
                <a:spcPct val="112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Errors</a:t>
            </a:r>
            <a:r>
              <a:rPr sz="1900" b="0">
                <a:solidFill>
                  <a:srgbClr val="F5F7FA"/>
                </a:solidFill>
                <a:latin typeface="Arial"/>
              </a:rPr>
              <a:t> - wrong action, wrong turn, wrong mental model.</a:t>
            </a:r>
          </a:p>
          <a:p>
            <a:pPr algn="l">
              <a:lnSpc>
                <a:spcPct val="112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Workarounds</a:t>
            </a:r>
            <a:r>
              <a:rPr sz="1900" b="0">
                <a:solidFill>
                  <a:srgbClr val="F5F7FA"/>
                </a:solidFill>
                <a:latin typeface="Arial"/>
              </a:rPr>
              <a:t> - they reach the goal, but not the way you designed.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700" b="0">
                <a:solidFill>
                  <a:srgbClr val="8A94A6"/>
                </a:solidFill>
                <a:latin typeface="Arial"/>
              </a:rPr>
              <a:t>Note the time, what they did, and a short quote. Refine from the recording afterwards.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035040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A6474"/>
                </a:solidFill>
                <a:latin typeface="Courier New"/>
              </a:rPr>
              <a:t>Evidence framing adapted from S. Azenkot, INFO 5305 (Cornell Tech)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FF41"/>
                </a:solidFill>
                <a:latin typeface="Courier New"/>
              </a:rPr>
              <a:t>PART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43200"/>
            <a:ext cx="10515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5F7FA"/>
                </a:solidFill>
                <a:latin typeface="Arial"/>
              </a:rPr>
              <a:t>Now let an AI agent test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29768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8A94A6"/>
                </a:solidFill>
                <a:latin typeface="Arial"/>
              </a:rPr>
              <a:t>An agent takes browser control of your live site and reports what breaks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PART B - AGENT TESTING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An AI drives your live site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WHAT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Agent-based usability 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Give an AI agent your live URL and the same task. It clicks through and reports where it gets stuck.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WHY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Fast, tireless, literal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Catches broken flows, dead links, unclear labels, impossible steps - in minutes, at any hour.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TOOLS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Pick one you can run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Antigravity | Chrome DevTools MCP | Playwright MCP | browser-use. Log your prompts in history.md.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HUMAN vs AGENT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Two testers, different eyes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HUMANS CATCH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Confusion &amp; feeling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Hesitation, frustration, delight, misread labels, real-world mismatch, the value bending. Emotion you can't fake.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AGENTS CATCH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Breakage &amp; coverage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Dead ends, broken buttons, missing states, every link - fast and repeatable. No fatigue, no mercy.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AGENTS MISS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Being human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They don't feel stuck, don't get embarrassed, don't bring context. Speed is not understanding.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THE DELIVERABLE - ONE VIDEO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Compress hours of testing into 5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105156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✓  </a:t>
            </a:r>
            <a:r>
              <a:rPr sz="2000" b="0">
                <a:solidFill>
                  <a:srgbClr val="F5F7FA"/>
                </a:solidFill>
                <a:latin typeface="Arial"/>
              </a:rPr>
              <a:t>Record &gt;= 20 min of real testing (2 human tests + 1 agent test).</a:t>
            </a:r>
          </a:p>
          <a:p>
            <a:pPr algn="l">
              <a:lnSpc>
                <a:spcPct val="135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✓  </a:t>
            </a:r>
            <a:r>
              <a:rPr sz="2000" b="0">
                <a:solidFill>
                  <a:srgbClr val="F5F7FA"/>
                </a:solidFill>
                <a:latin typeface="Arial"/>
              </a:rPr>
              <a:t>Cut and speed up to &lt;= 5 minutes - keep the moments that show a finding.</a:t>
            </a:r>
          </a:p>
          <a:p>
            <a:pPr algn="l">
              <a:lnSpc>
                <a:spcPct val="135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✓  </a:t>
            </a:r>
            <a:r>
              <a:rPr sz="2000" b="0">
                <a:solidFill>
                  <a:srgbClr val="F5F7FA"/>
                </a:solidFill>
                <a:latin typeface="Arial"/>
              </a:rPr>
              <a:t>Subtitles required (YouTube auto-captions are fine).</a:t>
            </a:r>
          </a:p>
          <a:p>
            <a:pPr algn="l">
              <a:lnSpc>
                <a:spcPct val="135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✓  </a:t>
            </a:r>
            <a:r>
              <a:rPr sz="2000" b="0">
                <a:solidFill>
                  <a:srgbClr val="F5F7FA"/>
                </a:solidFill>
                <a:latin typeface="Arial"/>
              </a:rPr>
              <a:t>End with findings slides + your spoken summary.</a:t>
            </a:r>
          </a:p>
          <a:p>
            <a:pPr algn="l">
              <a:lnSpc>
                <a:spcPct val="135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✓  </a:t>
            </a:r>
            <a:r>
              <a:rPr sz="2000" b="0">
                <a:solidFill>
                  <a:srgbClr val="F5F7FA"/>
                </a:solidFill>
                <a:latin typeface="Arial"/>
              </a:rPr>
              <a:t>Host unlisted on YouTube; link it in vibe-report.md. No coding today.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ACTIVITY - TODAY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728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Test your team's Project 2 prototype - on your own.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611880"/>
            <a:ext cx="109728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Part A: 2 real testers (not teammates), think-aloud, ~10 min each, screen-recorded.</a:t>
            </a:r>
          </a:p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Part B: 1 agent takes browser control of the live site; log your prompts.</a:t>
            </a:r>
          </a:p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Edit it into one &lt;=5-min subtitled video, then write up human vs agent in vibe-report.md.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532120"/>
            <a:ext cx="10911535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532120"/>
            <a:ext cx="10362895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▶  </a:t>
            </a:r>
            <a:r>
              <a:rPr sz="1600" b="1">
                <a:solidFill>
                  <a:srgbClr val="F5F7FA"/>
                </a:solidFill>
                <a:latin typeface="Arial"/>
              </a:rPr>
              <a:t>Individual - on the group's Project 2 - deliverable = one video + one write-up (due Mon 7/27)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02412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5F7FA"/>
                </a:solidFill>
                <a:latin typeface="Arial"/>
              </a:rPr>
              <a:t>Watch, test, cite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Nielsen - 10 Usability Heuristics (NN/g)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nngroup.com/articles/ten-usability-heuristics/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76855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UEQ - User Experience Questionnaire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ueq-online.org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79191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Usability test demo video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youtube.com/watch?v=EH7Fx9rpC0c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81527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Agent browser control - browser-use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github.com/browser-use/browser-use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83863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Chrome DevTools MCP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github.com/ChromeDevTools/chrome-devtools-mcp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86199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Usability-study material adapted from S. Azenkot, INFO 5305 UX &amp; User Research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Cornell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