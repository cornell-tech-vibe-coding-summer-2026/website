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Reading: Nielsen — 10 Usability Heuristics (NN/g). Use these as the lens for the peer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7_27 peer-testing. Bring your findings to Tuesday's values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·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User Testing I: Does It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Outcomes — Designing systems that are useful and empowering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built it. Does it work — for someone who isn’t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This week your final project meets real users. Two questions, two days: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Today — </a:t>
            </a:r>
            <a:r>
              <a:rPr sz="2000" b="1">
                <a:solidFill>
                  <a:srgbClr val="00FF41"/>
                </a:solidFill>
                <a:latin typeface="Arial"/>
              </a:rPr>
              <a:t>does it work?</a:t>
            </a:r>
            <a:r>
              <a:rPr sz="2000" b="0">
                <a:solidFill>
                  <a:srgbClr val="F5F7FA"/>
                </a:solidFill>
                <a:latin typeface="Arial"/>
              </a:rPr>
              <a:t>  (usability).   Tomorrow — </a:t>
            </a:r>
            <a:r>
              <a:rPr sz="2000" b="1">
                <a:solidFill>
                  <a:srgbClr val="00FF41"/>
                </a:solidFill>
                <a:latin typeface="Arial"/>
              </a:rPr>
              <a:t>does it do the right thing?</a:t>
            </a:r>
            <a:r>
              <a:rPr sz="2000" b="0">
                <a:solidFill>
                  <a:srgbClr val="F5F7FA"/>
                </a:solidFill>
                <a:latin typeface="Arial"/>
              </a:rPr>
              <a:t>  (values).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WHY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are not your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You know where every button is and what every label means — so you’re the worst person to judge whether it’s usable.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Watching one real person try your app tells you more than any amount of guessing.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READING · NIELSEN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Nielsen’s 10 usability heuristics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Visibility of system status  </a:t>
            </a:r>
            <a:r>
              <a:rPr sz="1400" b="0">
                <a:solidFill>
                  <a:srgbClr val="8A94A6"/>
                </a:solidFill>
                <a:latin typeface="Arial"/>
              </a:rPr>
              <a:t>always show what’s happening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Match the real world  </a:t>
            </a:r>
            <a:r>
              <a:rPr sz="1400" b="0">
                <a:solidFill>
                  <a:srgbClr val="8A94A6"/>
                </a:solidFill>
                <a:latin typeface="Arial"/>
              </a:rPr>
              <a:t>speak the user’s language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User control &amp; freedom  </a:t>
            </a:r>
            <a:r>
              <a:rPr sz="1400" b="0">
                <a:solidFill>
                  <a:srgbClr val="8A94A6"/>
                </a:solidFill>
                <a:latin typeface="Arial"/>
              </a:rPr>
              <a:t>easy undo / exits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Consistency &amp; standards  </a:t>
            </a:r>
            <a:r>
              <a:rPr sz="1400" b="0">
                <a:solidFill>
                  <a:srgbClr val="8A94A6"/>
                </a:solidFill>
                <a:latin typeface="Arial"/>
              </a:rPr>
              <a:t>follow conventions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</a:rPr>
              <a:t>Error prevention  </a:t>
            </a:r>
            <a:r>
              <a:rPr sz="1400" b="0">
                <a:solidFill>
                  <a:srgbClr val="8A94A6"/>
                </a:solidFill>
                <a:latin typeface="Arial"/>
              </a:rPr>
              <a:t>stop mistakes before they happen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</a:rPr>
              <a:t>Recognition over recall  </a:t>
            </a:r>
            <a:r>
              <a:rPr sz="1400" b="0">
                <a:solidFill>
                  <a:srgbClr val="8A94A6"/>
                </a:solidFill>
                <a:latin typeface="Arial"/>
              </a:rPr>
              <a:t>show options, don’t make them remember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07  </a:t>
            </a:r>
            <a:r>
              <a:rPr sz="1600" b="1">
                <a:solidFill>
                  <a:srgbClr val="F5F7FA"/>
                </a:solidFill>
                <a:latin typeface="Arial"/>
              </a:rPr>
              <a:t>Flexibility &amp; efficiency  </a:t>
            </a:r>
            <a:r>
              <a:rPr sz="1400" b="0">
                <a:solidFill>
                  <a:srgbClr val="8A94A6"/>
                </a:solidFill>
                <a:latin typeface="Arial"/>
              </a:rPr>
              <a:t>shortcuts for experts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08  </a:t>
            </a:r>
            <a:r>
              <a:rPr sz="1600" b="1">
                <a:solidFill>
                  <a:srgbClr val="F5F7FA"/>
                </a:solidFill>
                <a:latin typeface="Arial"/>
              </a:rPr>
              <a:t>Aesthetic &amp; minimalist  </a:t>
            </a:r>
            <a:r>
              <a:rPr sz="1400" b="0">
                <a:solidFill>
                  <a:srgbClr val="8A94A6"/>
                </a:solidFill>
                <a:latin typeface="Arial"/>
              </a:rPr>
              <a:t>no needless clutter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09  </a:t>
            </a:r>
            <a:r>
              <a:rPr sz="1600" b="1">
                <a:solidFill>
                  <a:srgbClr val="F5F7FA"/>
                </a:solidFill>
                <a:latin typeface="Arial"/>
              </a:rPr>
              <a:t>Recover from errors  </a:t>
            </a:r>
            <a:r>
              <a:rPr sz="1400" b="0">
                <a:solidFill>
                  <a:srgbClr val="8A94A6"/>
                </a:solidFill>
                <a:latin typeface="Arial"/>
              </a:rPr>
              <a:t>plain-language fixes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10  </a:t>
            </a:r>
            <a:r>
              <a:rPr sz="1600" b="1">
                <a:solidFill>
                  <a:srgbClr val="F5F7FA"/>
                </a:solidFill>
                <a:latin typeface="Arial"/>
              </a:rPr>
              <a:t>Help &amp; documentation  </a:t>
            </a:r>
            <a:r>
              <a:rPr sz="1400" b="0">
                <a:solidFill>
                  <a:srgbClr val="8A94A6"/>
                </a:solidFill>
                <a:latin typeface="Arial"/>
              </a:rPr>
              <a:t>findable when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RUN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quick usability test in 4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Give a real task (“sign up and post one thing”) — don’t give a tour.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Watch, don’t help. Silence is data.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Ask them to think aloud — narrate what they expect.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 every hesitation, wrong turn, and dead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ROUND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Peer-test for usability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Each team tests other teams’ projects — and gets tested.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Testers: run the 4 moves above; log issues against Nielsen’s heuristics.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Teams: watch your users struggle — resist the urge to explain.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Rank fixes by how badly they block the task, then iterate.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