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a0f621932442b8" /><Relationship Type="http://schemas.openxmlformats.org/officeDocument/2006/relationships/extended-properties" Target="/docProps/app.xml" Id="R7932a9a0173d4038" /><Relationship Type="http://schemas.openxmlformats.org/officeDocument/2006/relationships/officeDocument" Target="/ppt/presentation.xml" Id="R2727514d0bcc4cf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3276349d9194776"/>
  </p:sldMasterIdLst>
  <p:notesMasterIdLst>
    <p:notesMasterId xmlns:r="http://schemas.openxmlformats.org/officeDocument/2006/relationships" r:id="R82e8c5b4f94b44ed"/>
  </p:notesMasterIdLst>
  <p:sldIdLst>
    <p:sldId xmlns:r="http://schemas.openxmlformats.org/officeDocument/2006/relationships" id="256" r:id="Raa0fb669eee242c4"/>
    <p:sldId xmlns:r="http://schemas.openxmlformats.org/officeDocument/2006/relationships" id="257" r:id="R5e08316dffed4c33"/>
    <p:sldId xmlns:r="http://schemas.openxmlformats.org/officeDocument/2006/relationships" id="258" r:id="R269f67ab042746ec"/>
    <p:sldId xmlns:r="http://schemas.openxmlformats.org/officeDocument/2006/relationships" id="259" r:id="R2f01c852068945b9"/>
    <p:sldId xmlns:r="http://schemas.openxmlformats.org/officeDocument/2006/relationships" id="260" r:id="Rec29a8bcee484760"/>
    <p:sldId xmlns:r="http://schemas.openxmlformats.org/officeDocument/2006/relationships" id="261" r:id="R04fb72a847e940fc"/>
    <p:sldId xmlns:r="http://schemas.openxmlformats.org/officeDocument/2006/relationships" id="262" r:id="R25b201fa2de44f81"/>
    <p:sldId xmlns:r="http://schemas.openxmlformats.org/officeDocument/2006/relationships" id="263" r:id="R8a77c1b85e0545c0"/>
    <p:sldId xmlns:r="http://schemas.openxmlformats.org/officeDocument/2006/relationships" id="264" r:id="Rb2d7b7341a544c9a"/>
    <p:sldId xmlns:r="http://schemas.openxmlformats.org/officeDocument/2006/relationships" id="265" r:id="Re9504eaeb48d4f8a"/>
    <p:sldId xmlns:r="http://schemas.openxmlformats.org/officeDocument/2006/relationships" id="266" r:id="Raa22802b3b494874"/>
    <p:sldId xmlns:r="http://schemas.openxmlformats.org/officeDocument/2006/relationships" id="267" r:id="R6b07496bdb9247fe"/>
    <p:sldId xmlns:r="http://schemas.openxmlformats.org/officeDocument/2006/relationships" id="268" r:id="R3acc1abf2fed4c88"/>
    <p:sldId xmlns:r="http://schemas.openxmlformats.org/officeDocument/2006/relationships" id="269" r:id="R67879fb7ce644a01"/>
    <p:sldId xmlns:r="http://schemas.openxmlformats.org/officeDocument/2006/relationships" id="270" r:id="R4970bed23a4c4625"/>
    <p:sldId xmlns:r="http://schemas.openxmlformats.org/officeDocument/2006/relationships" id="271" r:id="R125129e7a63f44df"/>
    <p:sldId xmlns:r="http://schemas.openxmlformats.org/officeDocument/2006/relationships" id="272" r:id="R78409914b2954253"/>
    <p:sldId xmlns:r="http://schemas.openxmlformats.org/officeDocument/2006/relationships" id="273" r:id="R35aa1c550b504b26"/>
    <p:sldId xmlns:r="http://schemas.openxmlformats.org/officeDocument/2006/relationships" id="274" r:id="R2202b9faf8104957"/>
    <p:sldId xmlns:r="http://schemas.openxmlformats.org/officeDocument/2006/relationships" id="275" r:id="Rdba314b8d45a4708"/>
    <p:sldId xmlns:r="http://schemas.openxmlformats.org/officeDocument/2006/relationships" id="276" r:id="R23abf15769e544d0"/>
    <p:sldId xmlns:r="http://schemas.openxmlformats.org/officeDocument/2006/relationships" id="277" r:id="Ra470b7c92ea54405"/>
    <p:sldId xmlns:r="http://schemas.openxmlformats.org/officeDocument/2006/relationships" id="278" r:id="R7e7926fd726049a9"/>
    <p:sldId xmlns:r="http://schemas.openxmlformats.org/officeDocument/2006/relationships" id="279" r:id="R9fe9fe42abc64ba8"/>
    <p:sldId xmlns:r="http://schemas.openxmlformats.org/officeDocument/2006/relationships" id="280" r:id="Rfd573e8ef88d49e5"/>
    <p:sldId xmlns:r="http://schemas.openxmlformats.org/officeDocument/2006/relationships" id="281" r:id="R98ea9d7e0b5b41ff"/>
    <p:sldId xmlns:r="http://schemas.openxmlformats.org/officeDocument/2006/relationships" id="282" r:id="R94e69e373a1741cf"/>
    <p:sldId xmlns:r="http://schemas.openxmlformats.org/officeDocument/2006/relationships" id="283" r:id="Rcae16e43427f461d"/>
    <p:sldId xmlns:r="http://schemas.openxmlformats.org/officeDocument/2006/relationships" id="284" r:id="Redd9f7146df747a7"/>
    <p:sldId xmlns:r="http://schemas.openxmlformats.org/officeDocument/2006/relationships" id="285" r:id="R1c1f75bac87349bf"/>
    <p:sldId xmlns:r="http://schemas.openxmlformats.org/officeDocument/2006/relationships" id="286" r:id="R031ae3380e55460a"/>
    <p:sldId xmlns:r="http://schemas.openxmlformats.org/officeDocument/2006/relationships" id="287" r:id="R746c1044266e4c74"/>
    <p:sldId xmlns:r="http://schemas.openxmlformats.org/officeDocument/2006/relationships" id="288" r:id="R34fcdbb4a7f54dd8"/>
    <p:sldId xmlns:r="http://schemas.openxmlformats.org/officeDocument/2006/relationships" id="289" r:id="R588f4aa7daec485b"/>
    <p:sldId xmlns:r="http://schemas.openxmlformats.org/officeDocument/2006/relationships" id="290" r:id="R16786a32a4b84716"/>
    <p:sldId xmlns:r="http://schemas.openxmlformats.org/officeDocument/2006/relationships" id="291" r:id="R0a99041453d94a57"/>
  </p:sldIdLst>
  <p:sldSz cx="12191695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9e60f95c244eca" /><Relationship Type="http://schemas.openxmlformats.org/officeDocument/2006/relationships/slideMaster" Target="/ppt/slideMasters/slideMaster1.xml" Id="R33276349d9194776" /><Relationship Type="http://schemas.openxmlformats.org/officeDocument/2006/relationships/notesMaster" Target="/ppt/notesMasters/notesMaster1.xml" Id="R82e8c5b4f94b44ed" /><Relationship Type="http://schemas.openxmlformats.org/officeDocument/2006/relationships/presProps" Target="/ppt/presProps.xml" Id="R11c4440088e24cd9" /><Relationship Type="http://schemas.openxmlformats.org/officeDocument/2006/relationships/viewProps" Target="/ppt/viewProps.xml" Id="R985d2d858cdc4fc6" /><Relationship Type="http://schemas.openxmlformats.org/officeDocument/2006/relationships/tableStyles" Target="/ppt/tableStyles.xml" Id="Ra0de5831144b44f3" /><Relationship Type="http://schemas.openxmlformats.org/officeDocument/2006/relationships/slide" Target="/ppt/slides/slide1.xml" Id="Raa0fb669eee242c4" /><Relationship Type="http://schemas.openxmlformats.org/officeDocument/2006/relationships/slide" Target="/ppt/slides/slide2.xml" Id="R5e08316dffed4c33" /><Relationship Type="http://schemas.openxmlformats.org/officeDocument/2006/relationships/slide" Target="/ppt/slides/slide3.xml" Id="R269f67ab042746ec" /><Relationship Type="http://schemas.openxmlformats.org/officeDocument/2006/relationships/slide" Target="/ppt/slides/slide4.xml" Id="R2f01c852068945b9" /><Relationship Type="http://schemas.openxmlformats.org/officeDocument/2006/relationships/slide" Target="/ppt/slides/slide5.xml" Id="Rec29a8bcee484760" /><Relationship Type="http://schemas.openxmlformats.org/officeDocument/2006/relationships/slide" Target="/ppt/slides/slide6.xml" Id="R04fb72a847e940fc" /><Relationship Type="http://schemas.openxmlformats.org/officeDocument/2006/relationships/slide" Target="/ppt/slides/slide7.xml" Id="R25b201fa2de44f81" /><Relationship Type="http://schemas.openxmlformats.org/officeDocument/2006/relationships/slide" Target="/ppt/slides/slide8.xml" Id="R8a77c1b85e0545c0" /><Relationship Type="http://schemas.openxmlformats.org/officeDocument/2006/relationships/slide" Target="/ppt/slides/slide9.xml" Id="Rb2d7b7341a544c9a" /><Relationship Type="http://schemas.openxmlformats.org/officeDocument/2006/relationships/slide" Target="/ppt/slides/slide10.xml" Id="Re9504eaeb48d4f8a" /><Relationship Type="http://schemas.openxmlformats.org/officeDocument/2006/relationships/slide" Target="/ppt/slides/slide11.xml" Id="Raa22802b3b494874" /><Relationship Type="http://schemas.openxmlformats.org/officeDocument/2006/relationships/slide" Target="/ppt/slides/slide12.xml" Id="R6b07496bdb9247fe" /><Relationship Type="http://schemas.openxmlformats.org/officeDocument/2006/relationships/slide" Target="/ppt/slides/slide13.xml" Id="R3acc1abf2fed4c88" /><Relationship Type="http://schemas.openxmlformats.org/officeDocument/2006/relationships/slide" Target="/ppt/slides/slide14.xml" Id="R67879fb7ce644a01" /><Relationship Type="http://schemas.openxmlformats.org/officeDocument/2006/relationships/slide" Target="/ppt/slides/slide15.xml" Id="R4970bed23a4c4625" /><Relationship Type="http://schemas.openxmlformats.org/officeDocument/2006/relationships/slide" Target="/ppt/slides/slide16.xml" Id="R125129e7a63f44df" /><Relationship Type="http://schemas.openxmlformats.org/officeDocument/2006/relationships/slide" Target="/ppt/slides/slide17.xml" Id="R78409914b2954253" /><Relationship Type="http://schemas.openxmlformats.org/officeDocument/2006/relationships/slide" Target="/ppt/slides/slide18.xml" Id="R35aa1c550b504b26" /><Relationship Type="http://schemas.openxmlformats.org/officeDocument/2006/relationships/slide" Target="/ppt/slides/slide19.xml" Id="R2202b9faf8104957" /><Relationship Type="http://schemas.openxmlformats.org/officeDocument/2006/relationships/slide" Target="/ppt/slides/slide20.xml" Id="Rdba314b8d45a4708" /><Relationship Type="http://schemas.openxmlformats.org/officeDocument/2006/relationships/slide" Target="/ppt/slides/slide21.xml" Id="R23abf15769e544d0" /><Relationship Type="http://schemas.openxmlformats.org/officeDocument/2006/relationships/slide" Target="/ppt/slides/slide22.xml" Id="Ra470b7c92ea54405" /><Relationship Type="http://schemas.openxmlformats.org/officeDocument/2006/relationships/slide" Target="/ppt/slides/slide23.xml" Id="R7e7926fd726049a9" /><Relationship Type="http://schemas.openxmlformats.org/officeDocument/2006/relationships/slide" Target="/ppt/slides/slide24.xml" Id="R9fe9fe42abc64ba8" /><Relationship Type="http://schemas.openxmlformats.org/officeDocument/2006/relationships/slide" Target="/ppt/slides/slide25.xml" Id="Rfd573e8ef88d49e5" /><Relationship Type="http://schemas.openxmlformats.org/officeDocument/2006/relationships/slide" Target="/ppt/slides/slide26.xml" Id="R98ea9d7e0b5b41ff" /><Relationship Type="http://schemas.openxmlformats.org/officeDocument/2006/relationships/slide" Target="/ppt/slides/slide27.xml" Id="R94e69e373a1741cf" /><Relationship Type="http://schemas.openxmlformats.org/officeDocument/2006/relationships/slide" Target="/ppt/slides/slide28.xml" Id="Rcae16e43427f461d" /><Relationship Type="http://schemas.openxmlformats.org/officeDocument/2006/relationships/slide" Target="/ppt/slides/slide29.xml" Id="Redd9f7146df747a7" /><Relationship Type="http://schemas.openxmlformats.org/officeDocument/2006/relationships/slide" Target="/ppt/slides/slide30.xml" Id="R1c1f75bac87349bf" /><Relationship Type="http://schemas.openxmlformats.org/officeDocument/2006/relationships/slide" Target="/ppt/slides/slide31.xml" Id="R031ae3380e55460a" /><Relationship Type="http://schemas.openxmlformats.org/officeDocument/2006/relationships/slide" Target="/ppt/slides/slide32.xml" Id="R746c1044266e4c74" /><Relationship Type="http://schemas.openxmlformats.org/officeDocument/2006/relationships/slide" Target="/ppt/slides/slide33.xml" Id="R34fcdbb4a7f54dd8" /><Relationship Type="http://schemas.openxmlformats.org/officeDocument/2006/relationships/slide" Target="/ppt/slides/slide34.xml" Id="R588f4aa7daec485b" /><Relationship Type="http://schemas.openxmlformats.org/officeDocument/2006/relationships/slide" Target="/ppt/slides/slide35.xml" Id="R16786a32a4b84716" /><Relationship Type="http://schemas.openxmlformats.org/officeDocument/2006/relationships/slide" Target="/ppt/slides/slide36.xml" Id="R0a99041453d94a5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962b2d99d2f4f7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04d919b82747d2" /><Relationship Type="http://schemas.openxmlformats.org/officeDocument/2006/relationships/notesMaster" Target="/ppt/notesMasters/notesMaster1.xml" Id="Rcc4f7e3698d84bf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e9784c33384437" /><Relationship Type="http://schemas.openxmlformats.org/officeDocument/2006/relationships/notesMaster" Target="/ppt/notesMasters/notesMaster1.xml" Id="Ra35aee55ce66464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3a08747861c4166" /><Relationship Type="http://schemas.openxmlformats.org/officeDocument/2006/relationships/notesMaster" Target="/ppt/notesMasters/notesMaster1.xml" Id="Rf068f5d8db9b460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45346748a9a4db4" /><Relationship Type="http://schemas.openxmlformats.org/officeDocument/2006/relationships/notesMaster" Target="/ppt/notesMasters/notesMaster1.xml" Id="R7cc8cb4a65bc424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e2c072880cd4f7d" /><Relationship Type="http://schemas.openxmlformats.org/officeDocument/2006/relationships/notesMaster" Target="/ppt/notesMasters/notesMaster1.xml" Id="Rc1d7f2cf264545a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0f50bb36bb54992" /><Relationship Type="http://schemas.openxmlformats.org/officeDocument/2006/relationships/notesMaster" Target="/ppt/notesMasters/notesMaster1.xml" Id="Rd2840ccb9a6242b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fa9b27eb9794069" /><Relationship Type="http://schemas.openxmlformats.org/officeDocument/2006/relationships/notesMaster" Target="/ppt/notesMasters/notesMaster1.xml" Id="R5994bde38f8b432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7c6cf5c01ad41b1" /><Relationship Type="http://schemas.openxmlformats.org/officeDocument/2006/relationships/notesMaster" Target="/ppt/notesMasters/notesMaster1.xml" Id="Re237cac4356f4f4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3b281a30b454280" /><Relationship Type="http://schemas.openxmlformats.org/officeDocument/2006/relationships/notesMaster" Target="/ppt/notesMasters/notesMaster1.xml" Id="R9216d4c7beaa446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906ded2a9e247f0" /><Relationship Type="http://schemas.openxmlformats.org/officeDocument/2006/relationships/notesMaster" Target="/ppt/notesMasters/notesMaster1.xml" Id="Rd21f9268b25441d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18a0f758c214b20" /><Relationship Type="http://schemas.openxmlformats.org/officeDocument/2006/relationships/notesMaster" Target="/ppt/notesMasters/notesMaster1.xml" Id="R09233fd64b7046a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e648fd34d8f4254" /><Relationship Type="http://schemas.openxmlformats.org/officeDocument/2006/relationships/notesMaster" Target="/ppt/notesMasters/notesMaster1.xml" Id="R62134fa25e18442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69a9ebaf6294220" /><Relationship Type="http://schemas.openxmlformats.org/officeDocument/2006/relationships/notesMaster" Target="/ppt/notesMasters/notesMaster1.xml" Id="Rb101b7cb160f482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d757f92840e441d" /><Relationship Type="http://schemas.openxmlformats.org/officeDocument/2006/relationships/notesMaster" Target="/ppt/notesMasters/notesMaster1.xml" Id="R82c75da289614c3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7490201f7114472" /><Relationship Type="http://schemas.openxmlformats.org/officeDocument/2006/relationships/notesMaster" Target="/ppt/notesMasters/notesMaster1.xml" Id="R8e1066b280dc473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a7d7fc091744026" /><Relationship Type="http://schemas.openxmlformats.org/officeDocument/2006/relationships/notesMaster" Target="/ppt/notesMasters/notesMaster1.xml" Id="Rdb7d29f1bbf34d5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9fda850f3c04c44" /><Relationship Type="http://schemas.openxmlformats.org/officeDocument/2006/relationships/notesMaster" Target="/ppt/notesMasters/notesMaster1.xml" Id="R2bcb8ff5956c45d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c7bd9f1c7274e57" /><Relationship Type="http://schemas.openxmlformats.org/officeDocument/2006/relationships/notesMaster" Target="/ppt/notesMasters/notesMaster1.xml" Id="Rab4846e5f62c4b4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13fc9be20b64ceb" /><Relationship Type="http://schemas.openxmlformats.org/officeDocument/2006/relationships/notesMaster" Target="/ppt/notesMasters/notesMaster1.xml" Id="Rb23ee15d45de42f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701b837c1d64967" /><Relationship Type="http://schemas.openxmlformats.org/officeDocument/2006/relationships/notesMaster" Target="/ppt/notesMasters/notesMaster1.xml" Id="R36001ca2a158471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6265486478948e2" /><Relationship Type="http://schemas.openxmlformats.org/officeDocument/2006/relationships/notesMaster" Target="/ppt/notesMasters/notesMaster1.xml" Id="R1dfa36135d2647d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c7d6c728989494a" /><Relationship Type="http://schemas.openxmlformats.org/officeDocument/2006/relationships/notesMaster" Target="/ppt/notesMasters/notesMaster1.xml" Id="R6360ef2f68e6414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073afe78afd4b4f" /><Relationship Type="http://schemas.openxmlformats.org/officeDocument/2006/relationships/notesMaster" Target="/ppt/notesMasters/notesMaster1.xml" Id="R6dea046b89e4487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4fcc4232fcd43d4" /><Relationship Type="http://schemas.openxmlformats.org/officeDocument/2006/relationships/notesMaster" Target="/ppt/notesMasters/notesMaster1.xml" Id="Rcf644067b1044df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f1afb13e0d440e6" /><Relationship Type="http://schemas.openxmlformats.org/officeDocument/2006/relationships/notesMaster" Target="/ppt/notesMasters/notesMaster1.xml" Id="R5b5f61be6f6f44d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2674608f55c48ad" /><Relationship Type="http://schemas.openxmlformats.org/officeDocument/2006/relationships/notesMaster" Target="/ppt/notesMasters/notesMaster1.xml" Id="R797f7ea974ec4b3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2a6f90036454bc7" /><Relationship Type="http://schemas.openxmlformats.org/officeDocument/2006/relationships/notesMaster" Target="/ppt/notesMasters/notesMaster1.xml" Id="R5719f10cf642410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70ffa2bb62f4dcc" /><Relationship Type="http://schemas.openxmlformats.org/officeDocument/2006/relationships/notesMaster" Target="/ppt/notesMasters/notesMaster1.xml" Id="Re4b212bcf0b04c9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35cf763da0744c2" /><Relationship Type="http://schemas.openxmlformats.org/officeDocument/2006/relationships/notesMaster" Target="/ppt/notesMasters/notesMaster1.xml" Id="R86eeed81afea4d0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d814f39e31f44dc" /><Relationship Type="http://schemas.openxmlformats.org/officeDocument/2006/relationships/notesMaster" Target="/ppt/notesMasters/notesMaster1.xml" Id="R5648948381c24c62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e39e5f1359743fa" /><Relationship Type="http://schemas.openxmlformats.org/officeDocument/2006/relationships/notesMaster" Target="/ppt/notesMasters/notesMaster1.xml" Id="R20196195325546d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49fcc55cf51f49fc" /><Relationship Type="http://schemas.openxmlformats.org/officeDocument/2006/relationships/notesMaster" Target="/ppt/notesMasters/notesMaster1.xml" Id="R55e8615bd54f49f3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2a044acbd974865" /><Relationship Type="http://schemas.openxmlformats.org/officeDocument/2006/relationships/notesMaster" Target="/ppt/notesMasters/notesMaster1.xml" Id="Re1acdfaa3d0b410d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87425bb30074da5" /><Relationship Type="http://schemas.openxmlformats.org/officeDocument/2006/relationships/notesMaster" Target="/ppt/notesMasters/notesMaster1.xml" Id="R6a312cd38d6b4c45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c0518b2ff5704517" /><Relationship Type="http://schemas.openxmlformats.org/officeDocument/2006/relationships/notesMaster" Target="/ppt/notesMasters/notesMaster1.xml" Id="R522bcf63abd1416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8bedf50e35954546" /><Relationship Type="http://schemas.openxmlformats.org/officeDocument/2006/relationships/notesMaster" Target="/ppt/notesMasters/notesMaster1.xml" Id="R1b019e67257046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 min] Open with the central question: does the project work for someone who did not build it?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 min] Connect the course arc: building creates a claim; testing checks the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 min] Explain creator blindness: the maker already knows the navigation, vocabulary, and intended order.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 min] Emphasize that testing prevents teams from polishing the wrong problem.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[3 min] Pair discussion: define completion, failure, and getting stuck for one important project task.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 min] State the method in one sentence: one person, one realistic task, think aloud, neutral observer.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 min] Show how a strong task has a reason, a visible result, and no hidden click path.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 min] Frame testing as a design loop, not a one-time grade.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 min] Explain why a second tester and a retest answer different questions.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 min] Introduce Nielsen’s heuristics as labels for recurring interface problems.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 min] Ask students to match each example to a heuristic and defend the match.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 min] Teach the four-move loop and model the difference between watching and helping.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 min] Cover consent, privacy, safe data, notifications, and a recorder check.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 min] Read the neutral prompts aloud and explain how they reveal the user’s mental model.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[3 min] Small-group discussion: rank the moderator responses and name what evidence disappears when help arrives too early.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 min] Define breakdowns, errors, and workarounds with one familiar school-app example.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 min] Contrast an observation with an interpretation; require time, action, or a short quote.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 min] Explain that one breakdown is valid evidence and repetition raises confidence.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 min] Prioritize blockers, then repeated friction, then cosmetic polish.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 min] Transition: an AI agent can run the task too, but it produces a different kind of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 min] Explain the agent’s experience as a sequence of browser actions and observed results.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 min] Walk through the AI testing process from live URL to reviewed run log.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 min] Explain why speed, consistency, and literal behavior make agents useful for repeated checks.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 min] Show the ingredients of a meaningful task: URL, goal, safe data, and success 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 min] Build one agent prompt aloud using goal, guardrails, and evidence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 min] Read the example run log and verify the finding against the recorded action or screenshot.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 min] Explain access, perception, and judgment limits; a tool failure is not automatically a design failure.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 min] Connect the process to the available browser-control tools without requiring one specific product.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 min] Compare strengths: humans bring meaning and feeling; agents bring speed and repeatability.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 min] Use the three columns to compare the evidence each method can contribute on the same task.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[3 min] Pair discussion: interpret two disagreement cases, then choose which finding deserves action first.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 min] Model a combined evidence table in words: same task step, human result, AI result, priority, retest.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 min] Review the required video structure and the need to show evidence from both methods.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 min] Launch the 90-minute activity: two human tests, one agent test, one short video, and one report.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Appendix — recording, browser-control, editing, captioning, and optional user-research tools.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Appendix — sources cited in the lesson. The demonstration video is intentionally omitted from the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02a10643d0482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eb85aa435342c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5e4daf9ce447a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27519fd97f437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f9aae332b54d0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5fef7af55d417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6e99c578a24e8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2dc57fe6a143c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af4f900131424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9a8d7e58b548b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afda764d684f8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698BA79-F213-4AAE-A7E1-25ED094B818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1530F65-C2D2-4EB3-904D-DC46ECFA2DB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CD0E8B2-73C6-494B-A717-82DD2C32F63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F2DD3AF-3625-4113-8395-19D95000F7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B37BBF0-4159-4A52-99A9-6DDBCAF7A3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9957CCF-CE88-42D3-B049-76AFCA0995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7ACA92C-128B-4E25-ABAD-AC83A79EF85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A35890E-6E95-4C14-821B-6505613B11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111FCCF-BA3A-4F29-AC29-EBAAF15842B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D04B211-81C1-40E5-9AB8-E6F8CC57EE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DBA698-B1FC-48A9-8F74-60CA52EF19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6EA1C9F-8EE6-403A-9E3B-C4568685125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DBE3C19-007C-4DB8-AF7B-BA715445C4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8D2E70-74F2-4006-9AE2-2AD88F3F99B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CCEC141-61BA-4E73-98C6-C265C78B8D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97B3CEE-29DE-4B8C-AFC8-65BD28C41D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CE58E77-8FB6-4470-B53E-CB7C2B1247A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12DCBC3-33FD-4BFD-8732-B56C6D0B54F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6AE6ABC-F2C2-4289-A341-E14E3DFD26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2AD40BB-6519-424C-BD25-3AA3C6A6DE7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5080671-5AA1-42C1-8747-8A72A8D85A7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97841D7-50C6-4AC2-B60B-7EE5729E80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888F0AC-E1A5-4BDA-A01C-CE3E0FF49DA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EB756DE-233F-43FE-949A-AE879F645B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192F473-3A17-4385-A149-B7B4A2CEC34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E1313E1-B1BB-4747-B3F9-03DAADED5D9A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109610FE-0337-433D-BDEB-A1963527D9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B4090B1-E3B3-4B38-9170-F7160532C82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BC657AB-BFFA-416C-A0D6-32AF3A5DE2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A7D27C-6549-4B55-A76B-23BC116700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AACA9C6-AB24-444B-85FA-0061B39162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9CA37627-76A1-4464-9299-7D8C16DE369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B5D67FA-51AB-47E1-855B-F80753C7C1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F3C3747B-D4E9-4CB0-97CE-C3BDF4FCEBA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6F10A2B-CC3B-45EF-97DE-F3CE75370F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06ECE4B-3A60-4A25-8D51-0244030A15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73D0FDF-F26B-4AC4-A96B-E2940699E4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CE00B01-C9BC-4B80-BC84-BF7004A0956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B7B9E01-6CC3-4108-A95C-E7335E644B6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25F7E11-72BB-4D4A-9CFB-A35EBCE900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80A19D5-5484-4C47-A7D3-25C63F5394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3D153F9-5953-431D-A7CE-A551F72160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7F25A3C-91FD-4328-B431-7EEDBAEED8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6E373D1C-9037-428D-B36C-F5BEF5C7BED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73F7D27-CB0D-4A09-B387-3C9A1C7AF0D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EAB0FB3-2E94-4FF0-8C99-0568437520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F1CE711-F99B-46F3-86DC-140BC45814B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2BE8FB3-6FC9-442E-A711-04AFB4D9A7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51894B-85B2-425F-B158-9CAB120B2C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01F8586-D9D1-48AA-9B75-B3B7603343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B587AB7-A6D8-4238-9C88-CBD2D0F6156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7E6F300-6D61-4915-9373-36138568F1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5D3E5CF-7FF1-4278-A94C-7C794D431DE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122C066-6CD2-45CC-9369-E3F7A8B13F7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FD4EB14-AB2D-4B2C-BFC6-7D42E59128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AD2A1BE-3D52-4E73-AC4F-8243FD3D60F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AAB5F8-DAB1-4D7F-A30A-F783EAB3C2D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43B577-AD2D-4555-AB50-7C8FB62D7E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d9adfe71820420a" /><Relationship Type="http://schemas.openxmlformats.org/officeDocument/2006/relationships/slideLayout" Target="/ppt/slideLayouts/slideLayout1.xml" Id="Re9f2c323d59b4d7b" /><Relationship Type="http://schemas.openxmlformats.org/officeDocument/2006/relationships/slideLayout" Target="/ppt/slideLayouts/slideLayout2.xml" Id="R8431eafae0034a28" /><Relationship Type="http://schemas.openxmlformats.org/officeDocument/2006/relationships/slideLayout" Target="/ppt/slideLayouts/slideLayout3.xml" Id="R2236479c3cd64fbd" /><Relationship Type="http://schemas.openxmlformats.org/officeDocument/2006/relationships/slideLayout" Target="/ppt/slideLayouts/slideLayout4.xml" Id="R78360189bb6b4447" /><Relationship Type="http://schemas.openxmlformats.org/officeDocument/2006/relationships/slideLayout" Target="/ppt/slideLayouts/slideLayout5.xml" Id="R49a5658f6f9e4f6f" /><Relationship Type="http://schemas.openxmlformats.org/officeDocument/2006/relationships/slideLayout" Target="/ppt/slideLayouts/slideLayout6.xml" Id="R0f48aa3a167c402f" /><Relationship Type="http://schemas.openxmlformats.org/officeDocument/2006/relationships/slideLayout" Target="/ppt/slideLayouts/slideLayout7.xml" Id="Rc235064fc03c4e4d" /><Relationship Type="http://schemas.openxmlformats.org/officeDocument/2006/relationships/slideLayout" Target="/ppt/slideLayouts/slideLayout8.xml" Id="R37dfe59e43d8448e" /><Relationship Type="http://schemas.openxmlformats.org/officeDocument/2006/relationships/slideLayout" Target="/ppt/slideLayouts/slideLayout9.xml" Id="R3542bc227d6e4f0d" /><Relationship Type="http://schemas.openxmlformats.org/officeDocument/2006/relationships/slideLayout" Target="/ppt/slideLayouts/slideLayout10.xml" Id="Rb4fbb03feac34e75" /><Relationship Type="http://schemas.openxmlformats.org/officeDocument/2006/relationships/slideLayout" Target="/ppt/slideLayouts/slideLayout11.xml" Id="R46f6908767b1432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2E352E3-7DA7-436C-B40A-8FB135881D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9953154-A2C0-48E0-AE72-8FCE894ED8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1C60648-0369-4126-A277-907A6F77157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1550CA5-7E3E-43F1-AC6B-9A481C1D618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75CA99E-5FE2-484A-98AA-DAEA89D48B6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9f2c323d59b4d7b"/>
    <p:sldLayoutId xmlns:r="http://schemas.openxmlformats.org/officeDocument/2006/relationships" id="2147483650" r:id="R8431eafae0034a28"/>
    <p:sldLayoutId xmlns:r="http://schemas.openxmlformats.org/officeDocument/2006/relationships" id="2147483651" r:id="R2236479c3cd64fbd"/>
    <p:sldLayoutId xmlns:r="http://schemas.openxmlformats.org/officeDocument/2006/relationships" id="2147483652" r:id="R78360189bb6b4447"/>
    <p:sldLayoutId xmlns:r="http://schemas.openxmlformats.org/officeDocument/2006/relationships" id="2147483653" r:id="R49a5658f6f9e4f6f"/>
    <p:sldLayoutId xmlns:r="http://schemas.openxmlformats.org/officeDocument/2006/relationships" id="2147483654" r:id="R0f48aa3a167c402f"/>
    <p:sldLayoutId xmlns:r="http://schemas.openxmlformats.org/officeDocument/2006/relationships" id="2147483655" r:id="Rc235064fc03c4e4d"/>
    <p:sldLayoutId xmlns:r="http://schemas.openxmlformats.org/officeDocument/2006/relationships" id="2147483656" r:id="R37dfe59e43d8448e"/>
    <p:sldLayoutId xmlns:r="http://schemas.openxmlformats.org/officeDocument/2006/relationships" id="2147483657" r:id="R3542bc227d6e4f0d"/>
    <p:sldLayoutId xmlns:r="http://schemas.openxmlformats.org/officeDocument/2006/relationships" id="2147483658" r:id="Rb4fbb03feac34e75"/>
    <p:sldLayoutId xmlns:r="http://schemas.openxmlformats.org/officeDocument/2006/relationships" id="2147483659" r:id="R46f6908767b14327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050e0045bbb4b44" /><Relationship Type="http://schemas.openxmlformats.org/officeDocument/2006/relationships/notesSlide" Target="/ppt/notesSlides/notesSlide1.xml" Id="R6650ba9588f0436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d7a5c0b8f3141f2" /><Relationship Type="http://schemas.openxmlformats.org/officeDocument/2006/relationships/notesSlide" Target="/ppt/notesSlides/notesSlide2.xml" Id="R3fdf9f5bcc2841b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a08ab4cb39e495f" /><Relationship Type="http://schemas.openxmlformats.org/officeDocument/2006/relationships/notesSlide" Target="/ppt/notesSlides/notesSlide3.xml" Id="R8665cea517024b3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6a18bd5ad834a2d" /><Relationship Type="http://schemas.openxmlformats.org/officeDocument/2006/relationships/notesSlide" Target="/ppt/notesSlides/notesSlide4.xml" Id="R156d04f0f3414d1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304c05cf1564add" /><Relationship Type="http://schemas.openxmlformats.org/officeDocument/2006/relationships/notesSlide" Target="/ppt/notesSlides/notesSlide5.xml" Id="R1f8a12c01dc249d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100302bdc704952" /><Relationship Type="http://schemas.openxmlformats.org/officeDocument/2006/relationships/notesSlide" Target="/ppt/notesSlides/notesSlide6.xml" Id="Rdfaa9ee532844d0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08cecbc5be54554" /><Relationship Type="http://schemas.openxmlformats.org/officeDocument/2006/relationships/notesSlide" Target="/ppt/notesSlides/notesSlide7.xml" Id="R5dc7f7ea80f24fb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d7d71faa99f456c" /><Relationship Type="http://schemas.openxmlformats.org/officeDocument/2006/relationships/notesSlide" Target="/ppt/notesSlides/notesSlide8.xml" Id="Rbe06107e0e93420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3b7c9047e6a46d3" /><Relationship Type="http://schemas.openxmlformats.org/officeDocument/2006/relationships/notesSlide" Target="/ppt/notesSlides/notesSlide9.xml" Id="Recf2b59c73e148b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eeeb3b9a6154b20" /><Relationship Type="http://schemas.openxmlformats.org/officeDocument/2006/relationships/notesSlide" Target="/ppt/notesSlides/notesSlide10.xml" Id="R3428982a40ed49d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ca863414f884f5e" /><Relationship Type="http://schemas.openxmlformats.org/officeDocument/2006/relationships/notesSlide" Target="/ppt/notesSlides/notesSlide11.xml" Id="R3bfaacb563984bb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ebac271adfe42ff" /><Relationship Type="http://schemas.openxmlformats.org/officeDocument/2006/relationships/notesSlide" Target="/ppt/notesSlides/notesSlide12.xml" Id="R226aa90328e04d1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627ad9739fe4b1a" /><Relationship Type="http://schemas.openxmlformats.org/officeDocument/2006/relationships/notesSlide" Target="/ppt/notesSlides/notesSlide13.xml" Id="R841a14a59fac4b9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18f2e902c094d04" /><Relationship Type="http://schemas.openxmlformats.org/officeDocument/2006/relationships/notesSlide" Target="/ppt/notesSlides/notesSlide14.xml" Id="Rdbe316bd29ee406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9b8b2fcdb91451f" /><Relationship Type="http://schemas.openxmlformats.org/officeDocument/2006/relationships/notesSlide" Target="/ppt/notesSlides/notesSlide15.xml" Id="Re03101145f644e7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f16e7446698415a" /><Relationship Type="http://schemas.openxmlformats.org/officeDocument/2006/relationships/notesSlide" Target="/ppt/notesSlides/notesSlide16.xml" Id="Ra8a41c4483fd4bb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8de687921904a45" /><Relationship Type="http://schemas.openxmlformats.org/officeDocument/2006/relationships/notesSlide" Target="/ppt/notesSlides/notesSlide17.xml" Id="Re1393804f5da409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6927382af934053" /><Relationship Type="http://schemas.openxmlformats.org/officeDocument/2006/relationships/notesSlide" Target="/ppt/notesSlides/notesSlide18.xml" Id="R7b8490e9f13c4b7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30cbbaf0f764875" /><Relationship Type="http://schemas.openxmlformats.org/officeDocument/2006/relationships/notesSlide" Target="/ppt/notesSlides/notesSlide19.xml" Id="R5204e32b3cbf46a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f99d96b78d74354" /><Relationship Type="http://schemas.openxmlformats.org/officeDocument/2006/relationships/notesSlide" Target="/ppt/notesSlides/notesSlide20.xml" Id="R1bf5353555bb4d6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94bd2fe1ae34ab9" /><Relationship Type="http://schemas.openxmlformats.org/officeDocument/2006/relationships/notesSlide" Target="/ppt/notesSlides/notesSlide21.xml" Id="R0df765fd70504db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33d0ad402f6423d" /><Relationship Type="http://schemas.openxmlformats.org/officeDocument/2006/relationships/notesSlide" Target="/ppt/notesSlides/notesSlide22.xml" Id="R206fceb8772f442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85010b6a0814806" /><Relationship Type="http://schemas.openxmlformats.org/officeDocument/2006/relationships/notesSlide" Target="/ppt/notesSlides/notesSlide23.xml" Id="Rbdb05e711cef42b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fb721353f984eae" /><Relationship Type="http://schemas.openxmlformats.org/officeDocument/2006/relationships/notesSlide" Target="/ppt/notesSlides/notesSlide24.xml" Id="Rb1254f5e85a94bc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1f4630a3844c22" /><Relationship Type="http://schemas.openxmlformats.org/officeDocument/2006/relationships/notesSlide" Target="/ppt/notesSlides/notesSlide25.xml" Id="Ra2da3abf35484af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b1020f9740b45bc" /><Relationship Type="http://schemas.openxmlformats.org/officeDocument/2006/relationships/notesSlide" Target="/ppt/notesSlides/notesSlide26.xml" Id="Rc60682b4be6a4d3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e3d76e47fbb4c85" /><Relationship Type="http://schemas.openxmlformats.org/officeDocument/2006/relationships/notesSlide" Target="/ppt/notesSlides/notesSlide27.xml" Id="R32809658243b459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46390e0c9584bbd" /><Relationship Type="http://schemas.openxmlformats.org/officeDocument/2006/relationships/notesSlide" Target="/ppt/notesSlides/notesSlide28.xml" Id="R6e6258ea85624605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ff21b699cd14232" /><Relationship Type="http://schemas.openxmlformats.org/officeDocument/2006/relationships/notesSlide" Target="/ppt/notesSlides/notesSlide29.xml" Id="Rb29ea080da0347a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a54230e2c3a459b" /><Relationship Type="http://schemas.openxmlformats.org/officeDocument/2006/relationships/notesSlide" Target="/ppt/notesSlides/notesSlide30.xml" Id="R0afd3f2871574b2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0c0968c799f4b39" /><Relationship Type="http://schemas.openxmlformats.org/officeDocument/2006/relationships/notesSlide" Target="/ppt/notesSlides/notesSlide31.xml" Id="Rb6275b3c6069429e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1e1370b01e14f3f" /><Relationship Type="http://schemas.openxmlformats.org/officeDocument/2006/relationships/notesSlide" Target="/ppt/notesSlides/notesSlide32.xml" Id="Ra5afb7beca064a75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555e5a0f9954eb7" /><Relationship Type="http://schemas.openxmlformats.org/officeDocument/2006/relationships/notesSlide" Target="/ppt/notesSlides/notesSlide33.xml" Id="R2a05e2f16b4b46e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a2301011c544e20" /><Relationship Type="http://schemas.openxmlformats.org/officeDocument/2006/relationships/notesSlide" Target="/ppt/notesSlides/notesSlide34.xml" Id="R348e4eb999cc40c5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2f1908e81b34bb5" /><Relationship Type="http://schemas.openxmlformats.org/officeDocument/2006/relationships/notesSlide" Target="/ppt/notesSlides/notesSlide35.xml" Id="Rd10c29cf459e4695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bcc2692a54c48ff" /><Relationship Type="http://schemas.openxmlformats.org/officeDocument/2006/relationships/notesSlide" Target="/ppt/notesSlides/notesSlide36.xml" Id="R5f5a6c9b5bfe4df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A1A7966-C93E-47AD-ACAF-7268421A5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560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9ACC1D4-F55C-44AD-BF38-DA129E10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86000"/>
            <a:ext cx="1051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6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WEEK 3 - MONDAY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ECB2E1E-C7A2-48B4-B8A1-32ECEF96C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788920"/>
            <a:ext cx="10515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46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Usability Testing: Does It Work?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29020E6-C9C5-48E1-B487-D19334646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160520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Human + agent testing on your Project 2 prototype</a:t>
            </a:r>
          </a:p>
        </p:txBody>
      </p:sp>
    </p:spTree>
    <p:extLst>
      <p:ext uri="{BB962C8B-B14F-4D97-AF65-F5344CB8AC3E}">
        <p14:creationId xmlns:p14="http://schemas.microsoft.com/office/powerpoint/2010/main" val="2056373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0C31E8D-7209-4B7F-A1CD-2CC083BF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THE TURN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2BDB723-4671-4BEE-A58C-5DAF44722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7E82776-05B5-48FF-A9B0-BD9FAEFE0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4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You built it. Does it work - for someone who isn't you?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9FDE105-C4E2-4E0D-B0C5-74CE431A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86000"/>
            <a:ext cx="1088136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1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Weeks 1-2 you built. This week you evaluate, then build the final. Two testing days on </a:t>
            </a:r>
            <a:r>
              <a:rPr sz="21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last week's Project 2 prototype: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1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Today - </a:t>
            </a:r>
            <a:r>
              <a:rPr sz="21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does it work?</a:t>
            </a:r>
            <a:r>
              <a:rPr sz="21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  (usability).    Tomorrow - </a:t>
            </a:r>
            <a:r>
              <a:rPr sz="21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does it do the right thing?</a:t>
            </a:r>
            <a:r>
              <a:rPr sz="21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  (values).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949DCA7-4DC3-4A3D-AE90-5EAE140F4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11597689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FC573C4-72E6-4347-8044-1C4F85D8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WHY TEST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74532C6-AB55-4DB0-9320-8D44A823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342FE5C-8A82-4BF7-9939-E5A48A27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4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You are not your user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D3BDB1D-3B8C-4B0D-849B-FD36B8231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86000"/>
            <a:ext cx="1088136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2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You know where every button is and what every label means - so you are the worst person alive to judge whether your own app is usable.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Watching </a:t>
            </a: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one</a:t>
            </a:r>
            <a:r>
              <a:rPr sz="20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 real person try it tells you more than a week of guessing. You test the design, not the person - confusion is the design's fault, and it is your best data.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566F0C6-9FF5-4E60-BB18-68E9A189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8950628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FC573C4-72E6-4347-8044-1C4F85D8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590550"/>
            <a:ext cx="2857500" cy="289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WHY TEST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74532C6-AB55-4DB0-9320-8D44A823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257300"/>
            <a:ext cx="762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342FE5C-8A82-4BF7-9939-E5A48A27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04900" y="1504950"/>
            <a:ext cx="476250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4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Testing replaces guesses with evidence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D3BDB1D-3B8C-4B0D-849B-FD36B8231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3650" y="1676400"/>
            <a:ext cx="4953000" cy="29248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2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A creator can explain what the screen was meant to do. A tester shows what the screen actually makes possible.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Without testing, teams polish the wrong problem. One observed breakdown can redirect labels, steps, priorities, or the whole idea.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566F0C6-9FF5-4E60-BB18-68E9A189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8950628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C7A449E-311E-4762-B7E5-45FD0BF3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609600"/>
            <a:ext cx="2857500" cy="289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DISCUSS - 2 MIN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2E918AD-FC7A-47C4-909F-CADA8389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1162050"/>
            <a:ext cx="2095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3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?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33C8AC1-B681-4595-B202-77A18290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" y="2076450"/>
            <a:ext cx="7239000" cy="2762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3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Before you test, define success.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3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What should the user complete?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3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What would count as getting stuck?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CA6971D-FAC4-4DB2-BAED-8979A2011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9346244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C7A449E-311E-4762-B7E5-45FD0BF3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WHAT IT 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2E918AD-FC7A-47C4-909F-CADA8389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48640"/>
            <a:ext cx="274320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?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33C8AC1-B681-4595-B202-77A18290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43200"/>
            <a:ext cx="10058400" cy="3108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3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Give one real person one real task.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3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Ask them to think aloud.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3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Stay quiet and watch what they DO.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CA6971D-FAC4-4DB2-BAED-8979A2011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9346244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B40A27A-319F-467B-BA51-95A64E93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WRITE THE TASK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CC9E0EA-BEF7-4F98-B9B0-D6AFF64E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D2397BD-2DEB-434C-B7F0-3C665A01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A useful task has a goal — not instructions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54E039DE-CC09-480A-98B0-57A20D41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3393338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8F5813B-60CE-4715-9A67-30F4CE26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3393338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C580739-9221-4886-9AA1-650555D0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8920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REALISTIC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1A32D0A-917B-48DF-9942-C7654FB6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4612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Starts with a reason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5FA69DB-578C-4B76-8D27-98902AED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2844698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“You want to plan a study session for tomorrow.”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2A1631D-2656-4F15-96FD-95C19F3DB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178" y="2468880"/>
            <a:ext cx="3393338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FF2564C-16B4-4C8B-BC71-BF3BF4BA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178" y="2468880"/>
            <a:ext cx="3393338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73BF0F0-640B-4FC7-8DCB-9C9A29BA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2788920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OBSERVABLE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99D652-887A-4C1D-AA48-CC1889F2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324612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Ends in a result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4B95ED4-19FC-43BD-BF57-51B1C299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4114800"/>
            <a:ext cx="2844698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“Add one session at 4:00 and confirm it appears.”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F4B60834-237C-4375-9172-377584015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8276" y="2468880"/>
            <a:ext cx="3393338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ABF1FE9-0FFA-401D-B446-B3B86B2E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8276" y="2468880"/>
            <a:ext cx="3393338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AF85F24-02A1-443F-9104-9BF7645B0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6" y="2788920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NEUTRAL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62F54DE-E8ED-4797-90D0-19399349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6" y="324612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Does not reveal the path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07CCBB8-4444-47CA-92FD-140C9968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6" y="4114800"/>
            <a:ext cx="2844698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Avoid “click Calendar, then press Add.”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73D86C3-FBF8-4F3E-8055-73C92BC4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84167183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FC573C4-72E6-4347-8044-1C4F85D8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7250" y="590550"/>
            <a:ext cx="2857500" cy="289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TESTING IS A LOOP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74532C6-AB55-4DB0-9320-8D44A823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29125" y="1066800"/>
            <a:ext cx="3333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342FE5C-8A82-4BF7-9939-E5A48A27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28750" y="1600200"/>
            <a:ext cx="9334500" cy="1127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34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Test the task, fix the biggest problem, test again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D3BDB1D-3B8C-4B0D-849B-FD36B8231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38375" y="2952750"/>
            <a:ext cx="7715250" cy="224210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</a:pPr>
            <a:r>
              <a:rPr sz="22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A usability test is not a final exam. It is a short cycle: choose one important task, observe the attempt, change the design, then run the task again.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ctr">
              <a:lnSpc>
                <a:spcPct val="112000"/>
              </a:lnSpc>
              <a:buNone/>
            </a:pPr>
            <a:r>
              <a:rPr sz="20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The goal is not to prove the project is good. The goal is to learn what to change next.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566F0C6-9FF5-4E60-BB18-68E9A189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8950628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B40A27A-319F-467B-BA51-95A64E93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PATTERNS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CC9E0EA-BEF7-4F98-B9B0-D6AFF64E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D2397BD-2DEB-434C-B7F0-3C665A01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Different testers expose different risks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8F5813B-60CE-4715-9A67-30F4CE26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2333625"/>
            <a:ext cx="3333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C580739-9221-4886-9AA1-650555D0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2695575"/>
            <a:ext cx="260985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FIRST PERSON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1A32D0A-917B-48DF-9942-C7654FB6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3209925"/>
            <a:ext cx="2609850" cy="701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Reveals the obvious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5FA69DB-578C-4B76-8D27-98902AED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4048125"/>
            <a:ext cx="2609850" cy="904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Catches the first blocker or confusing label you stopped noticing.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FF2564C-16B4-4C8B-BC71-BF3BF4BA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29125" y="2714625"/>
            <a:ext cx="3333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73BF0F0-640B-4FC7-8DCB-9C9A29BA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91075" y="3076575"/>
            <a:ext cx="260985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SECOND PERSON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99D652-887A-4C1D-AA48-CC1889F2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91075" y="3590925"/>
            <a:ext cx="2609850" cy="666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Tests the pattern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4B95ED4-19FC-43BD-BF57-51B1C299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91075" y="4429125"/>
            <a:ext cx="2609850" cy="904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Shows whether the issue repeats or was unique to one person.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ABF1FE9-0FFA-401D-B446-B3B86B2E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91500" y="3095625"/>
            <a:ext cx="3333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AF85F24-02A1-443F-9104-9BF7645B0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53450" y="3457575"/>
            <a:ext cx="260985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AFTER THE FIX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62F54DE-E8ED-4797-90D0-19399349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53450" y="3971925"/>
            <a:ext cx="2609850" cy="666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Checks the change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07CCBB8-4444-47CA-92FD-140C9968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53450" y="4810125"/>
            <a:ext cx="2609850" cy="904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Run the same task again to confirm the problem actually improved.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73D86C3-FBF8-4F3E-8055-73C92BC4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8416718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ADF93C-6352-45D9-AFE5-8685309E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READING - NIELSEN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78F2352-91ED-417E-AAEB-2698FAFBE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9AF3ED7-DA92-4E66-92AA-45A76B04E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Nielsen's 10 usability heuristics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6FF7E7F-767B-4FCB-A2B5-5027911D7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68880"/>
            <a:ext cx="539496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5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01  </a:t>
            </a:r>
            <a:r>
              <a:rPr sz="16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Visibility of system status  </a:t>
            </a:r>
            <a:r>
              <a:rPr sz="14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always show what's happening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5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02  </a:t>
            </a:r>
            <a:r>
              <a:rPr sz="16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Match the real world  </a:t>
            </a:r>
            <a:r>
              <a:rPr sz="14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speak the user's language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5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03  </a:t>
            </a:r>
            <a:r>
              <a:rPr sz="16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User control &amp; freedom  </a:t>
            </a:r>
            <a:r>
              <a:rPr sz="14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easy undo / exits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5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04  </a:t>
            </a:r>
            <a:r>
              <a:rPr sz="16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Consistency &amp; standards  </a:t>
            </a:r>
            <a:r>
              <a:rPr sz="14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follow conventions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5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05  </a:t>
            </a:r>
            <a:r>
              <a:rPr sz="16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Error prevention  </a:t>
            </a:r>
            <a:r>
              <a:rPr sz="14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stop mistakes before they happen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4758480-8DBA-402C-975D-075821DF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468880"/>
            <a:ext cx="539496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5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06  </a:t>
            </a:r>
            <a:r>
              <a:rPr sz="16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Recognition over recall  </a:t>
            </a:r>
            <a:r>
              <a:rPr sz="14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show options, don't make them remember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5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07  </a:t>
            </a:r>
            <a:r>
              <a:rPr sz="16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Flexibility &amp; efficiency  </a:t>
            </a:r>
            <a:r>
              <a:rPr sz="14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shortcuts for experts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5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08  </a:t>
            </a:r>
            <a:r>
              <a:rPr sz="16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Aesthetic &amp; minimalist  </a:t>
            </a:r>
            <a:r>
              <a:rPr sz="14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no needless clutter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5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09  </a:t>
            </a:r>
            <a:r>
              <a:rPr sz="16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Recover from errors  </a:t>
            </a:r>
            <a:r>
              <a:rPr sz="14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plain-language fixes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5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10  </a:t>
            </a:r>
            <a:r>
              <a:rPr sz="16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Help &amp; documentation  </a:t>
            </a:r>
            <a:r>
              <a:rPr sz="14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findable when needed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AF6DD66-CE82-40D9-9CF7-BDF4B202C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165248099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B40A27A-319F-467B-BA51-95A64E93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HEURISTIC PRACTICE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CC9E0EA-BEF7-4F98-B9B0-D6AFF64E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D2397BD-2DEB-434C-B7F0-3C665A01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Name the problem precisely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54E039DE-CC09-480A-98B0-57A20D41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3393338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8F5813B-60CE-4715-9A67-30F4CE26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3393338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C580739-9221-4886-9AA1-650555D0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8920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1A32D0A-917B-48DF-9942-C7654FB6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4612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Nothing changes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5FA69DB-578C-4B76-8D27-98902AED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2844698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The user clicks Save; no confirmation appears.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2A1631D-2656-4F15-96FD-95C19F3DB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178" y="2468880"/>
            <a:ext cx="3393338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FF2564C-16B4-4C8B-BC71-BF3BF4BA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178" y="2468880"/>
            <a:ext cx="3393338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73BF0F0-640B-4FC7-8DCB-9C9A29BA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2788920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REAL WORLD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99D652-887A-4C1D-AA48-CC1889F2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324612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The label speaks code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4B95ED4-19FC-43BD-BF57-51B1C299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4114800"/>
            <a:ext cx="2844698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The button says “Execute” when the user expects “Submit.”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F4B60834-237C-4375-9172-377584015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8276" y="2468880"/>
            <a:ext cx="3393338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ABF1FE9-0FFA-401D-B446-B3B86B2E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8276" y="2468880"/>
            <a:ext cx="3393338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AF85F24-02A1-443F-9104-9BF7645B0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6" y="2788920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RECOVERY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62F54DE-E8ED-4797-90D0-19399349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6" y="324612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A mistake becomes a trap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07CCBB8-4444-47CA-92FD-140C9968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6" y="4114800"/>
            <a:ext cx="2844698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The user cannot undo or leave a wrong step.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73D86C3-FBF8-4F3E-8055-73C92BC4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84167183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F82672B-44ED-416A-B0EE-04F29666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609600"/>
            <a:ext cx="2857500" cy="289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HOW TO RUN IT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5A6AFC3-630E-4C61-9B29-292753705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1333500"/>
            <a:ext cx="762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C370E54-395A-4B7F-A071-29A5FF8A5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6800" y="1562100"/>
            <a:ext cx="3762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4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A usability test in 4 moves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DB75D8C-6723-470A-A46C-7361BA42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0" y="1504950"/>
            <a:ext cx="6429375" cy="3714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Give a real task ("sign up and log your first entry") - not a tour.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Watch, don't help. Let them struggle a bit - silence is data.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Ask them to think aloud - narrate what they see, expect, and want.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Note every hesitation, wrong turn, and dead end - name it against Nielsen's heuristics.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43DD030-2FFA-466F-8922-2AFB652BD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53743172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F82672B-44ED-416A-B0EE-04F29666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BEFORE THE TEST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5A6AFC3-630E-4C61-9B29-292753705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C370E54-395A-4B7F-A071-29A5FF8A5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4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Protect the person and the evidence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DB75D8C-6723-470A-A46C-7361BA42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86000"/>
            <a:ext cx="1088136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Ask permission to record the screen and voice.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Use the live site; close private tabs and notifications.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Give fake data when the task needs a name, email, or password.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Test the recorder for 10 seconds; confirm screen and audio.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43DD030-2FFA-466F-8922-2AFB652BD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53743172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B40A27A-319F-467B-BA51-95A64E93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MODERATION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CC9E0EA-BEF7-4F98-B9B0-D6AFF64E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D2397BD-2DEB-434C-B7F0-3C665A01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Prompt without leading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54E039DE-CC09-480A-98B0-57A20D41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3393338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8F5813B-60CE-4715-9A67-30F4CE26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3393338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C580739-9221-4886-9AA1-650555D0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8920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ENCOURAGE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1A32D0A-917B-48DF-9942-C7654FB6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4612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"What are you thinking?"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5FA69DB-578C-4B76-8D27-98902AED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2844698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Keep them talking without steering. Let silence sit, then nudge gently.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2A1631D-2656-4F15-96FD-95C19F3DB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178" y="2468880"/>
            <a:ext cx="3393338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FF2564C-16B4-4C8B-BC71-BF3BF4BA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178" y="2468880"/>
            <a:ext cx="3393338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73BF0F0-640B-4FC7-8DCB-9C9A29BA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2788920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EXPECTATION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99D652-887A-4C1D-AA48-CC1889F2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324612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"What did you expect to happen?"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4B95ED4-19FC-43BD-BF57-51B1C299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4114800"/>
            <a:ext cx="2844698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Surfaces the gap between their mental model and your design.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F4B60834-237C-4375-9172-377584015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8276" y="2468880"/>
            <a:ext cx="3393338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ABF1FE9-0FFA-401D-B446-B3B86B2E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8276" y="2468880"/>
            <a:ext cx="3393338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AF85F24-02A1-443F-9104-9BF7645B0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6" y="2788920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NEVER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62F54DE-E8ED-4797-90D0-19399349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6" y="324612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"Did you like it?"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07CCBB8-4444-47CA-92FD-140C9968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6" y="4114800"/>
            <a:ext cx="2844698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Leading and unstructured. Watch what they DO - don't fish for approval.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73D86C3-FBF8-4F3E-8055-73C92BC4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48E6CD1-E7E6-481F-8877-2D9F699CE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03504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5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Moderation guidelines adapted from S. Azenkot, INFO 5305 (Cornell Tech)</a:t>
            </a:r>
          </a:p>
        </p:txBody>
      </p:sp>
    </p:spTree>
    <p:extLst>
      <p:ext uri="{BB962C8B-B14F-4D97-AF65-F5344CB8AC3E}">
        <p14:creationId xmlns:p14="http://schemas.microsoft.com/office/powerpoint/2010/main" val="84167183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B40A27A-319F-467B-BA51-95A64E93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DISCUSS - MODERATION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CC9E0EA-BEF7-4F98-B9B0-D6AFF64E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D2397BD-2DEB-434C-B7F0-3C665A01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Which response keeps the test honest?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8F5813B-60CE-4715-9A67-30F4CE26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7700" y="276225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C580739-9221-4886-9AA1-650555D0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" y="3124200"/>
            <a:ext cx="2133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LEADING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1A32D0A-917B-48DF-9942-C7654FB6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" y="3638550"/>
            <a:ext cx="2133600" cy="701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“Click the green button.”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5FA69DB-578C-4B76-8D27-98902AED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" y="4476750"/>
            <a:ext cx="2133600" cy="8458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Solves the design problem and destroys the evidence.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FF2564C-16B4-4C8B-BC71-BF3BF4BA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10000" y="2238375"/>
            <a:ext cx="457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73BF0F0-640B-4FC7-8DCB-9C9A29BA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71950" y="2600325"/>
            <a:ext cx="38481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NEUTRAL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99D652-887A-4C1D-AA48-CC1889F2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71950" y="3114675"/>
            <a:ext cx="3848100" cy="666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“What are you thinking?”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4B95ED4-19FC-43BD-BF57-51B1C299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71950" y="3952875"/>
            <a:ext cx="3848100" cy="1476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Gets narration without steering the user.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ABF1FE9-0FFA-401D-B446-B3B86B2E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276225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AF85F24-02A1-443F-9104-9BF7645B0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48750" y="3124200"/>
            <a:ext cx="2133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TOO EARLY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62F54DE-E8ED-4797-90D0-19399349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48750" y="3638550"/>
            <a:ext cx="2133600" cy="701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“Want me to help?”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07CCBB8-4444-47CA-92FD-140C9968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48750" y="4476750"/>
            <a:ext cx="2133600" cy="8458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Rescues the user before you see if they can recover.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73D86C3-FBF8-4F3E-8055-73C92BC4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84167183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3C49318-38F9-4210-8AAC-F7ED429B8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WHAT TO LOOK FOR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A16970E-4749-4DA5-928E-50A57F63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F504639-0C3B-4FA2-BA8F-05AF6D77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4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Capture evidence, not your interpretation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9EB3588-7F7F-452F-8F18-F50F1C7C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86000"/>
            <a:ext cx="1088136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Look for usability problems - and write down what happened, not what you think it means: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9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Breakdowns</a:t>
            </a:r>
            <a:r>
              <a:rPr sz="19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 - they get stuck, backtrack, or ask for help.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9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Errors</a:t>
            </a:r>
            <a:r>
              <a:rPr sz="19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 - wrong action, wrong turn, wrong mental model.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9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Workarounds</a:t>
            </a:r>
            <a:r>
              <a:rPr sz="19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 - they reach the goal, but not the way you designed.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7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Note the time, what they did, and a short quote. Refine from the recording afterwards.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62E0A59-CAE3-4AD4-A4F5-50B3F711D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7A6C58D-B584-4DAE-BDA8-F0EA8CB0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03504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5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Evidence framing adapted from S. Azenkot, INFO 5305 (Cornell Tech)</a:t>
            </a:r>
          </a:p>
        </p:txBody>
      </p:sp>
    </p:spTree>
    <p:extLst>
      <p:ext uri="{BB962C8B-B14F-4D97-AF65-F5344CB8AC3E}">
        <p14:creationId xmlns:p14="http://schemas.microsoft.com/office/powerpoint/2010/main" val="109591996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FC573C4-72E6-4347-8044-1C4F85D8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WRITE THE FINDING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74532C6-AB55-4DB0-9320-8D44A823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342FE5C-8A82-4BF7-9939-E5A48A27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4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Write what happened before deciding why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D3BDB1D-3B8C-4B0D-849B-FD36B8231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86000"/>
            <a:ext cx="1088136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2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Observation: “The tester read for 12 seconds, opened the menu twice, then asked where to start.”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Interpretation: “The starting action is hard to find.” Keep these separate so every recommendation stays tied to evidence.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566F0C6-9FF5-4E60-BB18-68E9A189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89506280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FC573C4-72E6-4347-8044-1C4F85D8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590550"/>
            <a:ext cx="2857500" cy="289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CONFIDENCE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74532C6-AB55-4DB0-9320-8D44A823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352550"/>
            <a:ext cx="76200" cy="3762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342FE5C-8A82-4BF7-9939-E5A48A27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62050" y="1428750"/>
            <a:ext cx="7239000" cy="1127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4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Repeated evidence raises confidence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D3BDB1D-3B8C-4B0D-849B-FD36B8231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43250" y="2724150"/>
            <a:ext cx="8096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2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A single breakdown is real evidence: someone could not complete the task. It is enough to investigate.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When the same issue appears across testers—or after a retest—it becomes stronger evidence for a design change.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566F0C6-9FF5-4E60-BB18-68E9A189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89506280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B40A27A-319F-467B-BA51-95A64E93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PRIORITIZE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CC9E0EA-BEF7-4F98-B9B0-D6AFF64E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D2397BD-2DEB-434C-B7F0-3C665A01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Fix what blocks the task first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54E039DE-CC09-480A-98B0-57A20D41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3393338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8F5813B-60CE-4715-9A67-30F4CE26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3393338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C580739-9221-4886-9AA1-650555D0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8920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BLOCKER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1A32D0A-917B-48DF-9942-C7654FB6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4612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Cannot finish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5FA69DB-578C-4B76-8D27-98902AED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2844698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Broken button, dead end, or missing required step.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2A1631D-2656-4F15-96FD-95C19F3DB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178" y="2468880"/>
            <a:ext cx="3393338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FF2564C-16B4-4C8B-BC71-BF3BF4BA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178" y="2468880"/>
            <a:ext cx="3393338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73BF0F0-640B-4FC7-8DCB-9C9A29BA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2788920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FRICTION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99D652-887A-4C1D-AA48-CC1889F2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324612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Finishes with struggle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4B95ED4-19FC-43BD-BF57-51B1C299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4114800"/>
            <a:ext cx="2844698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Repeated hesitation, wrong turn, or workaround.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F4B60834-237C-4375-9172-377584015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8276" y="2468880"/>
            <a:ext cx="3393338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ABF1FE9-0FFA-401D-B446-B3B86B2E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8276" y="2468880"/>
            <a:ext cx="3393338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AF85F24-02A1-443F-9104-9BF7645B0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6" y="2788920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POLISH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62F54DE-E8ED-4797-90D0-19399349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6" y="324612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Still succeeds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07CCBB8-4444-47CA-92FD-140C9968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6" y="4114800"/>
            <a:ext cx="2844698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Minor copy or visual issue with little effect on the task.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73D86C3-FBF8-4F3E-8055-73C92BC4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84167183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B920F28-C695-46BF-B5F2-468F3E224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560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E7FD8A0-0E24-47DA-8AE7-CA358FB6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10515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8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PART B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39B7940-A5DA-4ABA-98D0-EA4C4EE5C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743200"/>
            <a:ext cx="1051560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48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Now let an AI agent test it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75402A9-07B3-47B5-898B-E8DE8E9B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297680"/>
            <a:ext cx="100584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9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An agent takes browser control of your live site and reports what breaks</a:t>
            </a:r>
          </a:p>
        </p:txBody>
      </p:sp>
    </p:spTree>
    <p:extLst>
      <p:ext uri="{BB962C8B-B14F-4D97-AF65-F5344CB8AC3E}">
        <p14:creationId xmlns:p14="http://schemas.microsoft.com/office/powerpoint/2010/main" val="75893626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FC573C4-72E6-4347-8044-1C4F85D8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96250" y="590550"/>
            <a:ext cx="3143250" cy="289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HOW AI SEES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74532C6-AB55-4DB0-9320-8D44A823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96650" y="1238250"/>
            <a:ext cx="762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342FE5C-8A82-4BF7-9939-E5A48A27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0" y="1428750"/>
            <a:ext cx="5095875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34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An agent experiences the site as actions and results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D3BDB1D-3B8C-4B0D-849B-FD36B8231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762125"/>
            <a:ext cx="4762500" cy="3675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2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The agent receives a goal, opens the live URL, reads what is available, clicks or types, and checks what changed after each action.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It does not know your intended path unless you reveal it. That makes unclear labels, broken states, and dead ends visible.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566F0C6-9FF5-4E60-BB18-68E9A189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89506280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F82672B-44ED-416A-B0EE-04F29666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590550"/>
            <a:ext cx="3429000" cy="289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HOW AI TESTING WORKS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5A6AFC3-630E-4C61-9B29-292753705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1066800"/>
            <a:ext cx="107442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C370E54-395A-4B7F-A071-29A5FF8A5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1428750"/>
            <a:ext cx="1074420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4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One task becomes a repeatable browser run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DB75D8C-6723-470A-A46C-7361BA42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76500" y="2524125"/>
            <a:ext cx="857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Start with a public live URL and a clear end state.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Give the agent the goal—not the click path.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Let it choose actions; save its screenshots, steps, and errors.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Review the run yourself; the agent proposes evidence, not the final verdict.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43DD030-2FFA-466F-8922-2AFB652BD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53743172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B40A27A-319F-467B-BA51-95A64E93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WHY IT WORKS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CC9E0EA-BEF7-4F98-B9B0-D6AFF64E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D2397BD-2DEB-434C-B7F0-3C665A01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AI is useful because it is literal and repeatable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8F5813B-60CE-4715-9A67-30F4CE26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28750" y="2381250"/>
            <a:ext cx="9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C580739-9221-4886-9AA1-650555D0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33550" y="2590800"/>
            <a:ext cx="142875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FAST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1A32D0A-917B-48DF-9942-C7654FB6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81375" y="25717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Runs the task quickly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5FA69DB-578C-4B76-8D27-98902AED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15125" y="2533650"/>
            <a:ext cx="4476750" cy="609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Useful for checking a flow after every major change.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FF2564C-16B4-4C8B-BC71-BF3BF4BA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28750" y="3524250"/>
            <a:ext cx="9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73BF0F0-640B-4FC7-8DCB-9C9A29BA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33550" y="3733800"/>
            <a:ext cx="142875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CONSISTENT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99D652-887A-4C1D-AA48-CC1889F2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81375" y="37147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Repeats the same setup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4B95ED4-19FC-43BD-BF57-51B1C299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15125" y="3676650"/>
            <a:ext cx="4476750" cy="609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The same task can be rerun without changing the instructions.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ABF1FE9-0FFA-401D-B446-B3B86B2E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28750" y="4667250"/>
            <a:ext cx="9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AF85F24-02A1-443F-9104-9BF7645B0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33550" y="4876800"/>
            <a:ext cx="142875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UNFORGIVING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62F54DE-E8ED-4797-90D0-19399349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81375" y="48577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Exposes missing steps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07CCBB8-4444-47CA-92FD-140C9968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15125" y="4819650"/>
            <a:ext cx="4476750" cy="609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It cannot rely on your memory of how the interface is supposed to work.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73D86C3-FBF8-4F3E-8055-73C92BC4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84167183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FC573C4-72E6-4347-8044-1C4F85D8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590550"/>
            <a:ext cx="2857500" cy="289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SET UP THE RUN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74532C6-AB55-4DB0-9320-8D44A823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315700" y="1333500"/>
            <a:ext cx="762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342FE5C-8A82-4BF7-9939-E5A48A27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1428750"/>
            <a:ext cx="9858375" cy="952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4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A precise task makes the AI test meaningful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D3BDB1D-3B8C-4B0D-849B-FD36B8231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14750" y="2781300"/>
            <a:ext cx="7239000" cy="2238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2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Include the starting URL, the user’s goal, safe test data, and the exact result that counts as success.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Do not list which buttons to press. If you give the path, you are testing the instructions—not the interface.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566F0C6-9FF5-4E60-BB18-68E9A189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89506280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B40A27A-319F-467B-BA51-95A64E93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WRITE THE PROMPT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CC9E0EA-BEF7-4F98-B9B0-D6AFF64E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D2397BD-2DEB-434C-B7F0-3C665A01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Give the agent a goal, guardrails, and evidence rules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8F5813B-60CE-4715-9A67-30F4CE26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2333625"/>
            <a:ext cx="4953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C580739-9221-4886-9AA1-650555D0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" y="2571750"/>
            <a:ext cx="123825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GOAL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1A32D0A-917B-48DF-9942-C7654FB6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3625" y="2543175"/>
            <a:ext cx="2857500" cy="701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What must be completed?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5FA69DB-578C-4B76-8D27-98902AED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3625" y="3095625"/>
            <a:ext cx="28575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“Create one study session for tomorrow at 4:00.”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FF2564C-16B4-4C8B-BC71-BF3BF4BA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4095750"/>
            <a:ext cx="4953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73BF0F0-640B-4FC7-8DCB-9C9A29BA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" y="4333875"/>
            <a:ext cx="123825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GUARDRAILS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99D652-887A-4C1D-AA48-CC1889F2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3625" y="43053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What must it avoid?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4B95ED4-19FC-43BD-BF57-51B1C299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3625" y="4857750"/>
            <a:ext cx="2857500" cy="8458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Do not change settings, spend money, or use real personal data.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ABF1FE9-0FFA-401D-B446-B3B86B2E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91250" y="2333625"/>
            <a:ext cx="533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AF85F24-02A1-443F-9104-9BF7645B0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0" y="2714625"/>
            <a:ext cx="1905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EVIDENCE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62F54DE-E8ED-4797-90D0-19399349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0" y="3286125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What must it return?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07CCBB8-4444-47CA-92FD-140C9968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0" y="4191000"/>
            <a:ext cx="4286250" cy="857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Steps tried, where it got stuck, screenshots, and the final result.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73D86C3-FBF8-4F3E-8055-73C92BC4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84167183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FC573C4-72E6-4347-8044-1C4F85D8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590550"/>
            <a:ext cx="2857500" cy="289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READ THE RUN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74532C6-AB55-4DB0-9320-8D44A823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1352550"/>
            <a:ext cx="76200" cy="3762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342FE5C-8A82-4BF7-9939-E5A48A27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50" y="1409700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4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A run log turns clicks into usable evidence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D3BDB1D-3B8C-4B0D-849B-FD36B8231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09750" y="2714625"/>
            <a:ext cx="8858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2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Observation: “The agent opened Schedule, selected tomorrow, entered 4:00, and received no confirmation after Save.”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Finding: “The system does not show whether Save worked.” Check the screenshot or replay before deciding on the fix.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566F0C6-9FF5-4E60-BB18-68E9A189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89506280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B40A27A-319F-467B-BA51-95A64E93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LIMITS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CC9E0EA-BEF7-4F98-B9B0-D6AFF64E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D2397BD-2DEB-434C-B7F0-3C665A01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AI testing can fail for reasons unrelated to usability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8F5813B-60CE-4715-9A67-30F4CE26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2333625"/>
            <a:ext cx="9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C580739-9221-4886-9AA1-650555D0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1550" y="2543175"/>
            <a:ext cx="142875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ACCESS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1A32D0A-917B-48DF-9942-C7654FB6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19375" y="2524125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The agent cannot enter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5FA69DB-578C-4B76-8D27-98902AED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3125" y="2486025"/>
            <a:ext cx="3333750" cy="8458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Logins, CAPTCHAs, pop-ups, or blocked browser permissions can stop the run.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FF2564C-16B4-4C8B-BC71-BF3BF4BA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66875" y="3524250"/>
            <a:ext cx="9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73BF0F0-640B-4FC7-8DCB-9C9A29BA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71675" y="3733800"/>
            <a:ext cx="142875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PERCEPTION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99D652-887A-4C1D-AA48-CC1889F2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19500" y="3714750"/>
            <a:ext cx="3143250" cy="701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It may read the page differently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4B95ED4-19FC-43BD-BF57-51B1C299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0" y="3676650"/>
            <a:ext cx="4238625" cy="609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Small visual cues, animation, tone, or emotion may not be interpreted like a person.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ABF1FE9-0FFA-401D-B446-B3B86B2E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67000" y="4619625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AF85F24-02A1-443F-9104-9BF7645B0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71800" y="4829175"/>
            <a:ext cx="142875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JUDGMENT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62F54DE-E8ED-4797-90D0-19399349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19625" y="4810125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It lacks lived context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07CCBB8-4444-47CA-92FD-140C9968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53375" y="4772025"/>
            <a:ext cx="3238500" cy="8458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It can complete steps without knowing whether the experience feels trustworthy or appropriate.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73D86C3-FBF8-4F3E-8055-73C92BC4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84167183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3D47ABF-2C34-47D5-B2BA-1323A4E9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PART B - AGENT TESTING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8DD0B2C-3AC9-4FF8-84AF-74E8E78E3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C5A132-4DEE-492B-8DF8-53FB125FB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An AI drives your live site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EBBC5E98-34C9-4F76-BAA8-F27ACA64C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3393338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9553751-3989-4EFB-954A-210E7D704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3393338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001F4E1-C2A5-482D-B235-B454A470C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8920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WHAT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E432CED-7D24-4B1F-8355-B7185D1C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4612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Agent-based usability test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187C583-D978-4B51-9A65-ED8E769E1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2844698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Give an AI agent your live URL and the same task. It clicks through and reports where it gets stuck.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16E3128-53CF-4205-9BD0-275B1172E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178" y="2468880"/>
            <a:ext cx="3393338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15422F8-7DCA-45FB-B2CE-FDEE3D83F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178" y="2468880"/>
            <a:ext cx="3393338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0429B80-53CB-4047-95B2-AC428FCDB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2788920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WHY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11CD855-8946-42AD-AC88-69F3221F8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324612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Fast, tireless, literal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DD9F85F-CF9A-4FFF-9FB2-D39BB1948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4114800"/>
            <a:ext cx="2844698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Catches broken flows, dead links, unclear labels, impossible steps - in minutes, at any hour.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71292E68-F117-4128-B063-919FFFE34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8276" y="2468880"/>
            <a:ext cx="3393338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C0F8CF05-DB39-428C-88B7-58B2720D9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8276" y="2468880"/>
            <a:ext cx="3393338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91784EB-BC06-45DD-A5CA-6140049A3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6" y="2788920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TOOLS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B9F8609-77F2-4260-B729-ACD4559B3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6" y="324612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Pick one you can run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CFEF23C-6F2B-4400-A368-52E6BA359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6" y="4114800"/>
            <a:ext cx="2844698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Antigravity | Chrome DevTools MCP | Playwright MCP | browser-use. Log your prompts in history.md.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88E5B2CF-94A9-4B4B-A3C6-200133941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45975063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AAD6B4F-C25E-4843-83BF-7581F354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HUMAN vs AGENT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7A3F96C-9924-43FF-893C-8D64D809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34EB309-05EE-4460-9C4D-A2C16004F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Two testers, different eyes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1835F2DE-EC08-4A85-BF6D-837031810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3393338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8CB0DD1-B4B0-4DAF-89ED-C7289B93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3393338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119DAA6-B7A8-452C-B5DA-D9E034C7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8920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HUMANS CATCH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750C11E-5920-4369-B60D-47A05ADD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4612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Confusion &amp; feeling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9A6062A-7ABF-4976-8477-9AD339D68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2844698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Hesitation, frustration, delight, misread labels, real-world mismatch, the value bending. Emotion you can't fake.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5F0FBA2-6E7A-4FCD-A7C8-0422CA5B2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178" y="2468880"/>
            <a:ext cx="3393338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FB7C9DAD-CA5D-44B0-BE08-00BF58EFB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178" y="2468880"/>
            <a:ext cx="3393338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0F7C032-C84B-435A-BB33-47FA79E1F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2788920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AGENTS CATCH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BDE092D-4433-493E-A924-4822EB65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324612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Breakage &amp; coverage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8B2AFCA-13B4-4CDF-A24E-76CF69DF8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4114800"/>
            <a:ext cx="2844698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Dead ends, broken buttons, missing states, every link - fast and repeatable. No fatigue, no mercy.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743B2185-4C17-4FF3-BAD8-D4B0DFE90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8276" y="2468880"/>
            <a:ext cx="3393338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7048766-E0E1-4FEA-91DD-2EA04D570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8276" y="2468880"/>
            <a:ext cx="3393338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BCF608A-9063-4E58-A3E7-B86F52B49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6" y="2788920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AGENTS MISS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27056C1-DA2B-4CB8-B234-1AEA2A3F6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6" y="324612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Being human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265E8A6-C164-475E-95FE-9682E5119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6" y="4114800"/>
            <a:ext cx="2844698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They don't feel stuck, don't get embarrassed, don't bring context. Speed is not understanding.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208C574-50F8-44CD-81CA-1DF4C3D5D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168403764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B40A27A-319F-467B-BA51-95A64E93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COMPARE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CC9E0EA-BEF7-4F98-B9B0-D6AFF64E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D2397BD-2DEB-434C-B7F0-3C665A01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Same task, different evidence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8F5813B-60CE-4715-9A67-30F4CE26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2333625"/>
            <a:ext cx="5048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C580739-9221-4886-9AA1-650555D0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2667000"/>
            <a:ext cx="1143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HUMAN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1A32D0A-917B-48DF-9942-C7654FB6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3143250"/>
            <a:ext cx="2095500" cy="701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Meaning and emotion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5FA69DB-578C-4B76-8D27-98902AED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6125" y="2857500"/>
            <a:ext cx="2000250" cy="13487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What feels confusing, embarrassing, delightful, or trustworthy.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FF2564C-16B4-4C8B-BC71-BF3BF4BA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77000" y="2333625"/>
            <a:ext cx="5048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73BF0F0-640B-4FC7-8DCB-9C9A29BA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667000"/>
            <a:ext cx="1143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AI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99D652-887A-4C1D-AA48-CC1889F2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43250"/>
            <a:ext cx="2095500" cy="701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Coverage and repeatability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4B95ED4-19FC-43BD-BF57-51B1C299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96375" y="2857500"/>
            <a:ext cx="2000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What breaks across steps, states, links, and repeated runs.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ABF1FE9-0FFA-401D-B446-B3B86B2E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57500" y="4619625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AF85F24-02A1-443F-9104-9BF7645B0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62300" y="4914900"/>
            <a:ext cx="80962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BOTH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62F54DE-E8ED-4797-90D0-19399349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38625" y="4857750"/>
            <a:ext cx="2190750" cy="701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Behavior you can inspect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07CCBB8-4444-47CA-92FD-140C9968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0" y="4781550"/>
            <a:ext cx="2238375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Actions, dead ends, missing feedback, and whether the goal was reached.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73D86C3-FBF8-4F3E-8055-73C92BC4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84167183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C7A449E-311E-4762-B7E5-45FD0BF3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DISCUSS - COMPARE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2E918AD-FC7A-47C4-909F-CADA8389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48640"/>
            <a:ext cx="274320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?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33C8AC1-B681-4595-B202-77A18290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43200"/>
            <a:ext cx="10058400" cy="3108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3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Humans struggle but the agent succeeds — what might that mean?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3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Agent fails but both humans succeed — what might that mean?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3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Which finding would you act on first, and why?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CA6971D-FAC4-4DB2-BAED-8979A2011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93462443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F82672B-44ED-416A-B0EE-04F29666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590550"/>
            <a:ext cx="2857500" cy="289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SYNTHESIZE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5A6AFC3-630E-4C61-9B29-292753705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1333500"/>
            <a:ext cx="762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C370E54-395A-4B7F-A071-29A5FF8A5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6800" y="1476375"/>
            <a:ext cx="4333875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4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Combine the results before deciding what to fix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DB75D8C-6723-470A-A46C-7361BA42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3125" y="1600200"/>
            <a:ext cx="5572125" cy="3333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Put the human and AI findings beside the same task step.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Mark where the evidence agrees, disagrees, or covers different problems.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Fix blockers first; keep emotion and context as human-only evidence.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Run the task again with both methods after the change.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43DD030-2FFA-466F-8922-2AFB652BD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53743172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DC0B5DC-1F5D-490A-81CA-3ED39D4F4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THE DELIVERABLE - ONE VIDEO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A9D215A-7319-4133-9CF8-BB5AE26F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31164E8-7FE1-42B1-94B7-97C48CF40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4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Compress hours of testing into 5 minutes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F49A6E-81F0-4E66-8ED0-CA9B66FC3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86000"/>
            <a:ext cx="10515600" cy="3840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Record &gt;= 20 min of real testing (2 human tests + 1 agent test).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Cut and speed up to &lt;= 5 minutes - keep the moments that show a finding.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Subtitles required (YouTube auto-captions are fine).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End with findings slides + your spoken summary.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Host unlisted on YouTube; link it in vibe-report.md. No coding today.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D477EE4-0F90-4547-A343-AB8C989C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122903551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ADCF89B-8DF4-4113-AFE4-C9F43D42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ACTIVITY - TODAY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C13A1FA-5B06-4771-A28A-AE61D701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87D2F2C-A5E2-4E5A-AC7D-ACD93084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25880"/>
            <a:ext cx="1097280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</a:pPr>
            <a:r>
              <a:rPr sz="38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Test your team's Project 2 prototype - on your own.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896AB3B-63ED-46A2-87CF-B32387E74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611880"/>
            <a:ext cx="1097280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9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Part A: 2 real testers (not teammates), think-aloud, ~10 min each, screen-recorded.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9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Part B: 1 agent takes browser control of the live site; log your prompts.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9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Edit it into one &lt;=5-min subtitled video, then write up human vs agent in vibe-report.md.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CCE0507F-B229-4DD9-8617-F656EBDD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532120"/>
            <a:ext cx="10911535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 w="19050">
            <a:solidFill>
              <a:srgbClr val="00FF4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47DD92F-10EC-4905-8807-36FA9B844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32120"/>
            <a:ext cx="1036289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6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Individual - on the group's Project 2 - deliverable = one video + one write-up (due Mon 7/27)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31E2D87-C207-491F-97FA-47E919BF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90919516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320CE5-2DF1-42B3-9D93-8CD351DA3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TOOLS FOR TODAY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0292A28-3D50-4616-9E8D-7CFB4A8D9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401018E-C140-4365-B276-595652D8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4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Record, drive, edit, caption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50B3C8F-8286-4DEE-B937-4F4DD578E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86000"/>
            <a:ext cx="1088136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Record: QuickTime (Mac) / Xbox Game Bar (Win) / Loom / OBS - screen + mic together.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Agent testing: Antigravity, Chrome DevTools MCP, Playwright MCP, or browser-use - an AI drives your live URL.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Edit + speed up: CapCut, iMovie, or Clipchamp - cut to &lt;=5 min, speed the slow parts.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Captions: upload to YouTube (unlisted), turn on auto-captions.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Real UX tools (optional): Maze or Lyssna for prototype tests, Lookback for moderated sessions.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DB9626D-C72E-416F-B5F8-A07E382F3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622663215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28BB6F2-B6C8-40E7-BF1F-DC3A388E6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SOURCES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CA10B6C-0260-4F3B-8D7E-F5762F86B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F9221F6-24CD-4D71-98E1-98911CB8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24128"/>
            <a:ext cx="109728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8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Watch, test, cite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9E7068-BD10-44E7-94F5-A12C6B481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19"/>
            <a:ext cx="10911535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5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Nielsen - 10 Usability Heuristics (NN/g)  —  </a:t>
            </a:r>
            <a:r>
              <a:rPr sz="1100" b="0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nngroup.com/articles/ten-usability-heuristics/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C9CEA79-956D-4927-9CC0-65D940F41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276855"/>
            <a:ext cx="10911535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5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UEQ - User Experience Questionnaire  —  </a:t>
            </a:r>
            <a:r>
              <a:rPr sz="1100" b="0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ueq-online.org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5A49A2D-748B-48E5-896F-74E0E75DE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81527"/>
            <a:ext cx="10911535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5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Agent browser control - browser-use  —  </a:t>
            </a:r>
            <a:r>
              <a:rPr sz="1100" b="0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github.com/browser-use/browser-use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0BB0045-A2AE-4D1B-A684-936933E3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83863"/>
            <a:ext cx="10911535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5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Chrome DevTools MCP  —  </a:t>
            </a:r>
            <a:r>
              <a:rPr sz="1100" b="0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github.com/ChromeDevTools/chrome-devtools-mcp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5A1DE90-D687-4578-9DD7-ED4B24309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86199"/>
            <a:ext cx="10911535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5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Usability-study material adapted from S. Azenkot, INFO 5305 UX &amp; User Research  —  </a:t>
            </a:r>
            <a:r>
              <a:rPr sz="1100" b="0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Cornell Tech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86BE153-CE20-4DA8-804B-6831D17E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195771832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2026-07-26T23:06:47.5820000Z</dcterms:created>
  <dcterms:modified xsi:type="dcterms:W3CDTF">2026-07-26T23:06:47.5820000Z</dcterms:modified>
</coreProperties>
</file>