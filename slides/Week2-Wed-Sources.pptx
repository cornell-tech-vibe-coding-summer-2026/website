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D4D"/>
                </a:solidFill>
                <a:latin typeface="Courier New"/>
              </a:rPr>
              <a:t>SOURCES · 1 / 4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7FA"/>
                </a:solidFill>
                <a:latin typeface="Arial"/>
              </a:rPr>
              <a:t>Frameworks &amp; taxonomy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Weidinger et al. 2022, Taxonomy of Risks (FAccT)  —  </a:t>
            </a:r>
            <a:r>
              <a:rPr sz="1100" b="0">
                <a:solidFill>
                  <a:srgbClr val="FF4D4D"/>
                </a:solidFill>
                <a:latin typeface="Courier New"/>
              </a:rPr>
              <a:t>https://doi.org/10.1145/3531146.3533088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76855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Shelby et al. 2023, Sociotechnical Harms (AIES)  —  </a:t>
            </a:r>
            <a:r>
              <a:rPr sz="1100" b="0">
                <a:solidFill>
                  <a:srgbClr val="FF4D4D"/>
                </a:solidFill>
                <a:latin typeface="Courier New"/>
              </a:rPr>
              <a:t>https://doi.org/10.1145/3600211.3604673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79191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Solaiman et al. 2023, Social Impact of Generative AI  —  </a:t>
            </a:r>
            <a:r>
              <a:rPr sz="1100" b="0">
                <a:solidFill>
                  <a:srgbClr val="FF4D4D"/>
                </a:solidFill>
                <a:latin typeface="Courier New"/>
              </a:rPr>
              <a:t>https://arxiv.org/abs/2306.05949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81527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Bender &amp; Gebru et al. 2021, Stochastic Parrots (FAccT)  —  </a:t>
            </a:r>
            <a:r>
              <a:rPr sz="1100" b="0">
                <a:solidFill>
                  <a:srgbClr val="FF4D4D"/>
                </a:solidFill>
                <a:latin typeface="Courier New"/>
              </a:rPr>
              <a:t>https://doi.org/10.1145/3442188.3445922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83863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MIT AI Risk Repository (2024)  —  </a:t>
            </a:r>
            <a:r>
              <a:rPr sz="1100" b="0">
                <a:solidFill>
                  <a:srgbClr val="FF4D4D"/>
                </a:solidFill>
                <a:latin typeface="Courier New"/>
              </a:rPr>
              <a:t>https://airisk.mit.edu/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199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NIST AI Risk Management Framework (2023)  —  </a:t>
            </a:r>
            <a:r>
              <a:rPr sz="1100" b="0">
                <a:solidFill>
                  <a:srgbClr val="FF4D4D"/>
                </a:solidFill>
                <a:latin typeface="Courier New"/>
              </a:rPr>
              <a:t>https://nvlpubs.nist.gov/nistpubs/ai/nist.ai.100-1.pdf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88535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EU AI Act, Article 5 (prohibited practices)  —  </a:t>
            </a:r>
            <a:r>
              <a:rPr sz="1100" b="0">
                <a:solidFill>
                  <a:srgbClr val="FF4D4D"/>
                </a:solidFill>
                <a:latin typeface="Courier New"/>
              </a:rPr>
              <a:t>https://artificialintelligenceact.eu/article/5/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90871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AI Incident Database  —  </a:t>
            </a:r>
            <a:r>
              <a:rPr sz="1100" b="0">
                <a:solidFill>
                  <a:srgbClr val="FF4D4D"/>
                </a:solidFill>
                <a:latin typeface="Courier New"/>
              </a:rPr>
              <a:t>https://incidentdatabase.ai/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93207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AIAAIC harms taxonomy  —  </a:t>
            </a:r>
            <a:r>
              <a:rPr sz="1100" b="0">
                <a:solidFill>
                  <a:srgbClr val="FF4D4D"/>
                </a:solidFill>
                <a:latin typeface="Courier New"/>
              </a:rPr>
              <a:t>https://www.aiaaic.org/projects/ai-algorithmic-risks-harms-taxonomy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AI Against AI · Sources · TECHIE 1121 · Cornell 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D4D"/>
                </a:solidFill>
                <a:latin typeface="Courier New"/>
              </a:rPr>
              <a:t>SOURCES · 2 / 4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7FA"/>
                </a:solidFill>
                <a:latin typeface="Arial"/>
              </a:rPr>
              <a:t>The cases — deepfakes, fraud, democracy, chatbots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Taylor Swift deepfakes on X — PBS / AP  —  </a:t>
            </a:r>
            <a:r>
              <a:rPr sz="1100" b="0">
                <a:solidFill>
                  <a:srgbClr val="FF4D4D"/>
                </a:solidFill>
                <a:latin typeface="Courier New"/>
              </a:rPr>
              <a:t>https://www.pbs.org/newshour/nation/x-blocks-some-taylor-swift-searches-as-deepfake-explicit-images-circulate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76855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NJ high-school deepfakes (Westfield) — CNN  —  </a:t>
            </a:r>
            <a:r>
              <a:rPr sz="1100" b="0">
                <a:solidFill>
                  <a:srgbClr val="FF4D4D"/>
                </a:solidFill>
                <a:latin typeface="Courier New"/>
              </a:rPr>
              <a:t>https://www.cnn.com/2023/11/04/us/new-jersey-high-school-deepfake-porn/index.html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79191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Fake Biden robocall, $6M FCC fine — NPR  —  </a:t>
            </a:r>
            <a:r>
              <a:rPr sz="1100" b="0">
                <a:solidFill>
                  <a:srgbClr val="FF4D4D"/>
                </a:solidFill>
                <a:latin typeface="Courier New"/>
              </a:rPr>
              <a:t>https://www.npr.org/2024/05/23/nx-s1-4977582/fcc-ai-deepfake-robocall-biden-new-hampshire-political-operative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81527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Arup $25M deepfake-CFO fraud — CNN Business  —  </a:t>
            </a:r>
            <a:r>
              <a:rPr sz="1100" b="0">
                <a:solidFill>
                  <a:srgbClr val="FF4D4D"/>
                </a:solidFill>
                <a:latin typeface="Courier New"/>
              </a:rPr>
              <a:t>https://www.cnn.com/2024/05/16/tech/arup-deepfake-scam-loss-hong-kong-intl-hnk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83863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Character.AI / Sewell Setzer settlement — CBS  —  </a:t>
            </a:r>
            <a:r>
              <a:rPr sz="1100" b="0">
                <a:solidFill>
                  <a:srgbClr val="FF4D4D"/>
                </a:solidFill>
                <a:latin typeface="Courier New"/>
              </a:rPr>
              <a:t>https://www.cbsnews.com/news/google-settle-lawsuit-florida-teens-suicide-character-ai-chatbot/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AI Against AI · Sources · TECHIE 1121 · Cornell Tech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D4D"/>
                </a:solidFill>
                <a:latin typeface="Courier New"/>
              </a:rPr>
              <a:t>SOURCES · 3 / 4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7FA"/>
                </a:solidFill>
                <a:latin typeface="Arial"/>
              </a:rPr>
              <a:t>The cases — fairness, privacy, labor, environment, 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Dutch benefits algorithm (toeslagenaffaire) — Al Jazeera  —  </a:t>
            </a:r>
            <a:r>
              <a:rPr sz="1100" b="0">
                <a:solidFill>
                  <a:srgbClr val="FF4D4D"/>
                </a:solidFill>
                <a:latin typeface="Courier New"/>
              </a:rPr>
              <a:t>https://www.aljazeera.com/news/2021/1/15/dutch-pm-rutte-and-his-government-quit-over-child-welfare-scandal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76855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Anthropic ~$1.5B authors settlement — TechCrunch  —  </a:t>
            </a:r>
            <a:r>
              <a:rPr sz="1100" b="0">
                <a:solidFill>
                  <a:srgbClr val="FF4D4D"/>
                </a:solidFill>
                <a:latin typeface="Courier New"/>
              </a:rPr>
              <a:t>https://techcrunch.com/2026/07/20/anthropics-landmark-1-5b-copyright-settlement-is-approved/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79191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Clearview AI (3B+ faces scraped) — NYT  —  </a:t>
            </a:r>
            <a:r>
              <a:rPr sz="1100" b="0">
                <a:solidFill>
                  <a:srgbClr val="FF4D4D"/>
                </a:solidFill>
                <a:latin typeface="Courier New"/>
              </a:rPr>
              <a:t>https://www.nytimes.com/2020/01/18/technology/clearview-privacy-facial-recognition.html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81527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Facial-recognition wrongful arrest (R. Williams) — NYT  —  </a:t>
            </a:r>
            <a:r>
              <a:rPr sz="1100" b="0">
                <a:solidFill>
                  <a:srgbClr val="FF4D4D"/>
                </a:solidFill>
                <a:latin typeface="Courier New"/>
              </a:rPr>
              <a:t>https://www.nytimes.com/2020/06/24/technology/facial-recognition-arrest.html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83863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Kenyan data labelers (~$2/hr) — TIME  —  </a:t>
            </a:r>
            <a:r>
              <a:rPr sz="1100" b="0">
                <a:solidFill>
                  <a:srgbClr val="FF4D4D"/>
                </a:solidFill>
                <a:latin typeface="Courier New"/>
              </a:rPr>
              <a:t>https://time.com/6247678/openai-chatgpt-kenya-workers/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199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AI water footprint (~700,000 L) — Li et al. 2023  —  </a:t>
            </a:r>
            <a:r>
              <a:rPr sz="1100" b="0">
                <a:solidFill>
                  <a:srgbClr val="FF4D4D"/>
                </a:solidFill>
                <a:latin typeface="Courier New"/>
              </a:rPr>
              <a:t>https://arxiv.org/abs/2304.03271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88535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Datacenter emissions (Google +48%) — NPR  —  </a:t>
            </a:r>
            <a:r>
              <a:rPr sz="1100" b="0">
                <a:solidFill>
                  <a:srgbClr val="FF4D4D"/>
                </a:solidFill>
                <a:latin typeface="Courier New"/>
              </a:rPr>
              <a:t>https://www.npr.org/2024/07/12/g-s1-9545/ai-brings-soaring-emissions-for-google-and-microsoft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AI Against AI · Sources · TECHIE 1121 · Cornell Tech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SOURCES · 4 / 4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7FA"/>
                </a:solidFill>
                <a:latin typeface="Arial"/>
              </a:rPr>
              <a:t>Defenses &amp;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Obfuscation — Brunton &amp; Nissenbaum (MIT Press)  —  </a:t>
            </a:r>
            <a:r>
              <a:rPr sz="1100" b="0">
                <a:solidFill>
                  <a:srgbClr val="00FF41"/>
                </a:solidFill>
                <a:latin typeface="Courier New"/>
              </a:rPr>
              <a:t>https://direct.mit.edu/books/book/3112/ObfuscationA-User-s-Guide-for-Privacy-and-Protest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76855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China ‘colleague.skill’ / anti-distillation — OfficeChai  —  </a:t>
            </a:r>
            <a:r>
              <a:rPr sz="1100" b="0">
                <a:solidFill>
                  <a:srgbClr val="00FF41"/>
                </a:solidFill>
                <a:latin typeface="Courier New"/>
              </a:rPr>
              <a:t>https://officechai.com/ai/chinas-workers-are-weaponizing-ai-against-each-other-through-colleague-skill-files-and-fighting-back/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79191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Privacy of Groups in Dense Street Imagery — Franchi, Sandhaus et al. (FAccT 2025)  —  </a:t>
            </a:r>
            <a:r>
              <a:rPr sz="1100" b="0">
                <a:solidFill>
                  <a:srgbClr val="00FF41"/>
                </a:solidFill>
                <a:latin typeface="Courier New"/>
              </a:rPr>
              <a:t>https://doi.org/10.1145/3715275.3732185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81527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Glaze (style cloaking) — SAND Lab, UChicago  —  </a:t>
            </a:r>
            <a:r>
              <a:rPr sz="1100" b="0">
                <a:solidFill>
                  <a:srgbClr val="00FF41"/>
                </a:solidFill>
                <a:latin typeface="Courier New"/>
              </a:rPr>
              <a:t>https://glaze.cs.uchicago.edu/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83863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Nightshade (data poisoning) — SAND Lab, UChicago  —  </a:t>
            </a:r>
            <a:r>
              <a:rPr sz="1100" b="0">
                <a:solidFill>
                  <a:srgbClr val="00FF41"/>
                </a:solidFill>
                <a:latin typeface="Courier New"/>
              </a:rPr>
              <a:t>https://nightshade.cs.uchicago.edu/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199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PhotoGuard (anti-deepfake immunization) — MIT  —  </a:t>
            </a:r>
            <a:r>
              <a:rPr sz="1100" b="0">
                <a:solidFill>
                  <a:srgbClr val="00FF41"/>
                </a:solidFill>
                <a:latin typeface="Courier New"/>
              </a:rPr>
              <a:t>https://gradientscience.org/photoguard/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88535"/>
            <a:ext cx="10911535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F7FA"/>
                </a:solidFill>
                <a:latin typeface="Arial"/>
              </a:rPr>
              <a:t>C2PA / Content Credentials (provenance)  —  </a:t>
            </a:r>
            <a:r>
              <a:rPr sz="1100" b="0">
                <a:solidFill>
                  <a:srgbClr val="00FF41"/>
                </a:solidFill>
                <a:latin typeface="Courier New"/>
              </a:rPr>
              <a:t>https://c2pa.org/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AI Against AI · Sources · TECHIE 1121 · Cornell 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