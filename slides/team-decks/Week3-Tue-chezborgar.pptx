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Team name = the value you carry into the final. Confirm the value + members before presenting.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header — the team's own slides go after this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header — the team's own slides go after this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header — the team's own slides go after this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header — the team's own slides go after this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Emily Tai's individual contribution: the real paper they found (AI academic search) and READ - not just an AI summary. Reflection lives in their own FigJam lane (block 06).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Kylie Cheung's individual contribution: the real paper they found (AI academic search) and READ - not just an AI summary. Reflection lives in their own FigJam lane (block 06).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Aria Sharma's individual contribution: the real paper they found (AI academic search) and READ - not just an AI summary. Reflection lives in their own FigJam lane (block 06).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header — the team's own slides go after this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0FF41"/>
                </a:solidFill>
                <a:latin typeface="Courier New"/>
              </a:rPr>
              <a:t>VALUE-CENTERED USER RESEARCH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2103120"/>
            <a:ext cx="1060704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4600" b="1">
                <a:solidFill>
                  <a:srgbClr val="F5F7FA"/>
                </a:solidFill>
                <a:latin typeface="Arial"/>
              </a:rPr>
              <a:t>The Sustainability &amp; Trust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794760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8A94A6"/>
                </a:solidFill>
                <a:latin typeface="Arial"/>
              </a:rPr>
              <a:t>Emily Tai · Kylie Cheung · Aria Sharma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4206240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0FF41"/>
                </a:solidFill>
                <a:latin typeface="Courier New"/>
              </a:rPr>
              <a:t>Project 2:  </a:t>
            </a:r>
            <a:r>
              <a:rPr sz="1500" b="0">
                <a:solidFill>
                  <a:srgbClr val="8A94A6"/>
                </a:solidFill>
                <a:latin typeface="Arial"/>
              </a:rPr>
              <a:t>Borrow Board - borrow instead of buy, for college students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4709160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A6474"/>
                </a:solidFill>
                <a:latin typeface="Courier New"/>
              </a:rPr>
              <a:t>GitHub team: Chezborgar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Value Verification · TECHIE 1121 · Cornell Tech · Tue Jul 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HOW TO USE THIS DECK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5F7FA"/>
                </a:solidFill>
                <a:latin typeface="Arial"/>
              </a:rPr>
              <a:t>Keep the headers. Put your slides behind them.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377440"/>
            <a:ext cx="1088136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900" b="1">
                <a:solidFill>
                  <a:srgbClr val="00FF41"/>
                </a:solidFill>
                <a:latin typeface="Arial"/>
              </a:rPr>
              <a:t>•  </a:t>
            </a:r>
            <a:r>
              <a:rPr sz="1900" b="0">
                <a:solidFill>
                  <a:srgbClr val="F5F7FA"/>
                </a:solidFill>
                <a:latin typeface="Arial"/>
              </a:rPr>
              <a:t>Five section headers follow — they MIRROR the FigJam canvas blocks. The canvas is where you work it out; this deck is where you present it.</a:t>
            </a:r>
          </a:p>
          <a:p>
            <a:pPr algn="l">
              <a:lnSpc>
                <a:spcPct val="130000"/>
              </a:lnSpc>
            </a:pPr>
            <a:r>
              <a:rPr sz="1900" b="1">
                <a:solidFill>
                  <a:srgbClr val="00FF41"/>
                </a:solidFill>
                <a:latin typeface="Arial"/>
              </a:rPr>
              <a:t>•  </a:t>
            </a:r>
            <a:r>
              <a:rPr sz="1900" b="0">
                <a:solidFill>
                  <a:srgbClr val="F5F7FA"/>
                </a:solidFill>
                <a:latin typeface="Arial"/>
              </a:rPr>
              <a:t>Sections 01, 02, 03, 05 are the TEAM's. Section 04 has one named slide per person — the paper you found and READ.</a:t>
            </a:r>
          </a:p>
          <a:p>
            <a:pPr algn="l">
              <a:lnSpc>
                <a:spcPct val="130000"/>
              </a:lnSpc>
            </a:pPr>
            <a:r>
              <a:rPr sz="1900" b="1">
                <a:solidFill>
                  <a:srgbClr val="00FF41"/>
                </a:solidFill>
                <a:latin typeface="Arial"/>
              </a:rPr>
              <a:t>•  </a:t>
            </a:r>
            <a:r>
              <a:rPr sz="1900" b="0">
                <a:solidFill>
                  <a:srgbClr val="F5F7FA"/>
                </a:solidFill>
                <a:latin typeface="Arial"/>
              </a:rPr>
              <a:t>Add your own slides AFTER each header. Don't delete the headers.</a:t>
            </a:r>
          </a:p>
          <a:p>
            <a:pPr algn="l">
              <a:lnSpc>
                <a:spcPct val="130000"/>
              </a:lnSpc>
            </a:pPr>
            <a:r>
              <a:rPr sz="1900" b="1">
                <a:solidFill>
                  <a:srgbClr val="00FF41"/>
                </a:solidFill>
                <a:latin typeface="Arial"/>
              </a:rPr>
              <a:t>•  </a:t>
            </a:r>
            <a:r>
              <a:rPr sz="1900" b="0">
                <a:solidFill>
                  <a:srgbClr val="F5F7FA"/>
                </a:solidFill>
                <a:latin typeface="Arial"/>
              </a:rPr>
              <a:t>No full user study today — for '03 What we found', apply your metrics with a partner (speculating is fine).</a:t>
            </a:r>
          </a:p>
          <a:p>
            <a:pPr algn="l">
              <a:lnSpc>
                <a:spcPct val="130000"/>
              </a:lnSpc>
            </a:pPr>
            <a:r>
              <a:rPr sz="1900" b="1">
                <a:solidFill>
                  <a:srgbClr val="00FF41"/>
                </a:solidFill>
                <a:latin typeface="Arial"/>
              </a:rPr>
              <a:t>•  </a:t>
            </a:r>
            <a:r>
              <a:rPr sz="1900" b="0">
                <a:solidFill>
                  <a:srgbClr val="F5F7FA"/>
                </a:solidFill>
                <a:latin typeface="Arial"/>
              </a:rPr>
              <a:t>Each person READS one real paper (not just an AI summary) — that's section 04 / the FigJam Outlook.</a:t>
            </a:r>
          </a:p>
          <a:p>
            <a:pPr algn="l">
              <a:lnSpc>
                <a:spcPct val="130000"/>
              </a:lnSpc>
            </a:pPr>
            <a:r>
              <a:rPr sz="1900" b="1">
                <a:solidFill>
                  <a:srgbClr val="00FF41"/>
                </a:solidFill>
                <a:latin typeface="Arial"/>
              </a:rPr>
              <a:t>•  </a:t>
            </a:r>
            <a:r>
              <a:rPr sz="1900" b="0">
                <a:solidFill>
                  <a:srgbClr val="F5F7FA"/>
                </a:solidFill>
                <a:latin typeface="Arial"/>
              </a:rPr>
              <a:t>Real citations only — if you can't find the paper, leave the claim out.</a:t>
            </a:r>
          </a:p>
          <a:p>
            <a:pPr algn="l">
              <a:lnSpc>
                <a:spcPct val="130000"/>
              </a:lnSpc>
            </a:pPr>
            <a:r>
              <a:rPr sz="1900" b="1">
                <a:solidFill>
                  <a:srgbClr val="00FF41"/>
                </a:solidFill>
                <a:latin typeface="Arial"/>
              </a:rPr>
              <a:t>•  </a:t>
            </a:r>
            <a:r>
              <a:rPr sz="1900" b="0">
                <a:solidFill>
                  <a:srgbClr val="F5F7FA"/>
                </a:solidFill>
                <a:latin typeface="Arial"/>
              </a:rPr>
              <a:t>Your reflection is NOT in this deck — it goes in your own lane on the team FigJam canvas (block 06).</a:t>
            </a:r>
          </a:p>
          <a:p>
            <a:pPr algn="l">
              <a:lnSpc>
                <a:spcPct val="130000"/>
              </a:lnSpc>
            </a:pPr>
            <a:r>
              <a:rPr sz="1900" b="1">
                <a:solidFill>
                  <a:srgbClr val="00FF41"/>
                </a:solidFill>
                <a:latin typeface="Arial"/>
              </a:rPr>
              <a:t>•  </a:t>
            </a:r>
            <a:r>
              <a:rPr sz="1900" b="0">
                <a:solidFill>
                  <a:srgbClr val="F5F7FA"/>
                </a:solidFill>
                <a:latin typeface="Arial"/>
              </a:rPr>
              <a:t>Delete this slide before you present.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Value Verification · TECHIE 1121 · Cornell Tech · Tue Jul 28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27432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00FF41"/>
                </a:solidFill>
                <a:latin typeface="Courier New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487168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0FF41"/>
                </a:solidFill>
                <a:latin typeface="Courier New"/>
              </a:rPr>
              <a:t>THE VALUE &amp; HOW WE DEFINE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2971800"/>
            <a:ext cx="106070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3800" b="1">
                <a:solidFill>
                  <a:srgbClr val="F5F7FA"/>
                </a:solidFill>
                <a:latin typeface="Arial"/>
              </a:rPr>
              <a:t>Operationalize the value  ·  FigJam: Value Definition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4224528"/>
            <a:ext cx="1042416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700" b="1">
                <a:solidFill>
                  <a:srgbClr val="00FF41"/>
                </a:solidFill>
                <a:latin typeface="Arial"/>
              </a:rPr>
              <a:t>→  </a:t>
            </a:r>
            <a:r>
              <a:rPr sz="1700" b="0">
                <a:solidFill>
                  <a:srgbClr val="8A94A6"/>
                </a:solidFill>
                <a:latin typeface="Arial"/>
              </a:rPr>
              <a:t>[ our app, in one line ]  -  and the value it claims.</a:t>
            </a:r>
          </a:p>
          <a:p>
            <a:pPr algn="l">
              <a:lnSpc>
                <a:spcPct val="128000"/>
              </a:lnSpc>
            </a:pPr>
            <a:r>
              <a:rPr sz="1700" b="1">
                <a:solidFill>
                  <a:srgbClr val="00FF41"/>
                </a:solidFill>
                <a:latin typeface="Arial"/>
              </a:rPr>
              <a:t>→  </a:t>
            </a:r>
            <a:r>
              <a:rPr sz="1700" b="0">
                <a:solidFill>
                  <a:srgbClr val="8A94A6"/>
                </a:solidFill>
                <a:latin typeface="Arial"/>
              </a:rPr>
              <a:t>How do we operationalize / define the value?  (privacy as control vs. security vs. contextual integrity)</a:t>
            </a:r>
          </a:p>
          <a:p>
            <a:pPr algn="l">
              <a:lnSpc>
                <a:spcPct val="128000"/>
              </a:lnSpc>
            </a:pPr>
            <a:r>
              <a:rPr sz="1700" b="1">
                <a:solidFill>
                  <a:srgbClr val="00FF41"/>
                </a:solidFill>
                <a:latin typeface="Arial"/>
              </a:rPr>
              <a:t>→  </a:t>
            </a:r>
            <a:r>
              <a:rPr sz="1700" b="0">
                <a:solidFill>
                  <a:srgbClr val="8A94A6"/>
                </a:solidFill>
                <a:latin typeface="Arial"/>
              </a:rPr>
              <a:t>If it is present, users will DO [ ___ ] / UNDERSTAND [ ___ ] / FEEL [ ___ ].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Value Verification · TECHIE 1121 · Cornell Tech · Tue Jul 28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27432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00FF41"/>
                </a:solidFill>
                <a:latin typeface="Courier New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487168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0FF41"/>
                </a:solidFill>
                <a:latin typeface="Courier New"/>
              </a:rPr>
              <a:t>HOW WOULD WE VERIFY IT?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2971800"/>
            <a:ext cx="106070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3800" b="1">
                <a:solidFill>
                  <a:srgbClr val="F5F7FA"/>
                </a:solidFill>
                <a:latin typeface="Arial"/>
              </a:rPr>
              <a:t>A method per lens + how others measure it  ·  FigJam: Brainstorm 1-2-3 + 02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4224528"/>
            <a:ext cx="1042416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700" b="1">
                <a:solidFill>
                  <a:srgbClr val="00FF41"/>
                </a:solidFill>
                <a:latin typeface="Arial"/>
              </a:rPr>
              <a:t>→  </a:t>
            </a:r>
            <a:r>
              <a:rPr sz="1700" b="0">
                <a:solidFill>
                  <a:srgbClr val="8A94A6"/>
                </a:solidFill>
                <a:latin typeface="Arial"/>
              </a:rPr>
              <a:t>BEHAVIOR - do users ACT differently?  -&gt;  [ method + metric ].</a:t>
            </a:r>
          </a:p>
          <a:p>
            <a:pPr algn="l">
              <a:lnSpc>
                <a:spcPct val="128000"/>
              </a:lnSpc>
            </a:pPr>
            <a:r>
              <a:rPr sz="1700" b="1">
                <a:solidFill>
                  <a:srgbClr val="00FF41"/>
                </a:solidFill>
                <a:latin typeface="Arial"/>
              </a:rPr>
              <a:t>→  </a:t>
            </a:r>
            <a:r>
              <a:rPr sz="1700" b="0">
                <a:solidFill>
                  <a:srgbClr val="8A94A6"/>
                </a:solidFill>
                <a:latin typeface="Arial"/>
              </a:rPr>
              <a:t>UNDERSTANDING - do they GRASP the value?  -&gt;  [ method + metric ].</a:t>
            </a:r>
          </a:p>
          <a:p>
            <a:pPr algn="l">
              <a:lnSpc>
                <a:spcPct val="128000"/>
              </a:lnSpc>
            </a:pPr>
            <a:r>
              <a:rPr sz="1700" b="1">
                <a:solidFill>
                  <a:srgbClr val="00FF41"/>
                </a:solidFill>
                <a:latin typeface="Arial"/>
              </a:rPr>
              <a:t>→  </a:t>
            </a:r>
            <a:r>
              <a:rPr sz="1700" b="0">
                <a:solidFill>
                  <a:srgbClr val="8A94A6"/>
                </a:solidFill>
                <a:latin typeface="Arial"/>
              </a:rPr>
              <a:t>AFFECT - do they FEEL differently?  -&gt;  [ method + metric ].</a:t>
            </a:r>
          </a:p>
          <a:p>
            <a:pPr algn="l">
              <a:lnSpc>
                <a:spcPct val="128000"/>
              </a:lnSpc>
            </a:pPr>
            <a:r>
              <a:rPr sz="1700" b="1">
                <a:solidFill>
                  <a:srgbClr val="00FF41"/>
                </a:solidFill>
                <a:latin typeface="Arial"/>
              </a:rPr>
              <a:t>→  </a:t>
            </a:r>
            <a:r>
              <a:rPr sz="1700" b="0">
                <a:solidFill>
                  <a:srgbClr val="8A94A6"/>
                </a:solidFill>
                <a:latin typeface="Arial"/>
              </a:rPr>
              <a:t>How do OTHERS measure it, and which INSTRUMENT would we borrow?  (UEQ / HRI / METUX / slop)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Value Verification · TECHIE 1121 · Cornell Tech · Tue Jul 28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27432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00FF41"/>
                </a:solidFill>
                <a:latin typeface="Courier New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487168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0FF41"/>
                </a:solidFill>
                <a:latin typeface="Courier New"/>
              </a:rPr>
              <a:t>WHAT WE FOUND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2971800"/>
            <a:ext cx="106070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3800" b="1">
                <a:solidFill>
                  <a:srgbClr val="F5F7FA"/>
                </a:solidFill>
                <a:latin typeface="Arial"/>
              </a:rPr>
              <a:t>Run the check - speculate with a partner if needed  ·  FigJam: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4224528"/>
            <a:ext cx="1042416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700" b="1">
                <a:solidFill>
                  <a:srgbClr val="00FF41"/>
                </a:solidFill>
                <a:latin typeface="Arial"/>
              </a:rPr>
              <a:t>→  </a:t>
            </a:r>
            <a:r>
              <a:rPr sz="1700" b="0">
                <a:solidFill>
                  <a:srgbClr val="8A94A6"/>
                </a:solidFill>
                <a:latin typeface="Arial"/>
              </a:rPr>
              <a:t>Apply your metrics with a partner - it is fine to SPECULATE today; real verification takes time.</a:t>
            </a:r>
          </a:p>
          <a:p>
            <a:pPr algn="l">
              <a:lnSpc>
                <a:spcPct val="128000"/>
              </a:lnSpc>
            </a:pPr>
            <a:r>
              <a:rPr sz="1700" b="1">
                <a:solidFill>
                  <a:srgbClr val="00FF41"/>
                </a:solidFill>
                <a:latin typeface="Arial"/>
              </a:rPr>
              <a:t>→  </a:t>
            </a:r>
            <a:r>
              <a:rPr sz="1700" b="0">
                <a:solidFill>
                  <a:srgbClr val="8A94A6"/>
                </a:solidFill>
                <a:latin typeface="Arial"/>
              </a:rPr>
              <a:t>BEHAVIOR: do they ACT differently?   UNDERSTANDING: do they GRASP it?   AFFECT: do they FEEL differently?</a:t>
            </a:r>
          </a:p>
          <a:p>
            <a:pPr algn="l">
              <a:lnSpc>
                <a:spcPct val="128000"/>
              </a:lnSpc>
            </a:pPr>
            <a:r>
              <a:rPr sz="1700" b="1">
                <a:solidFill>
                  <a:srgbClr val="00FF41"/>
                </a:solidFill>
                <a:latin typeface="Arial"/>
              </a:rPr>
              <a:t>→  </a:t>
            </a:r>
            <a:r>
              <a:rPr sz="1700" b="0">
                <a:solidFill>
                  <a:srgbClr val="8A94A6"/>
                </a:solidFill>
                <a:latin typeface="Arial"/>
              </a:rPr>
              <a:t>Green = it works.  Red = it does not.  Does the design move the value - for whom, and who is left out?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Value Verification · TECHIE 1121 · Cornell Tech · Tue Jul 28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27432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00FF41"/>
                </a:solidFill>
                <a:latin typeface="Courier New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487168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0FF41"/>
                </a:solidFill>
                <a:latin typeface="Courier New"/>
              </a:rPr>
              <a:t>WHAT RELATED RESEARCH FOUND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2971800"/>
            <a:ext cx="106070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3800" b="1">
                <a:solidFill>
                  <a:srgbClr val="F5F7FA"/>
                </a:solidFill>
                <a:latin typeface="Arial"/>
              </a:rPr>
              <a:t>Each member READS one real paper  ·  FigJam: 04 Outlook  ·  the named slides follow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4224528"/>
            <a:ext cx="1042416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700" b="1">
                <a:solidFill>
                  <a:srgbClr val="00FF41"/>
                </a:solidFill>
                <a:latin typeface="Arial"/>
              </a:rPr>
              <a:t>→  </a:t>
            </a:r>
            <a:r>
              <a:rPr sz="1700" b="0">
                <a:solidFill>
                  <a:srgbClr val="8A94A6"/>
                </a:solidFill>
                <a:latin typeface="Arial"/>
              </a:rPr>
              <a:t>Each member presents their OWN paper - found via AI academic search (Claude / ChatGPT / Elicit / Semantic Scholar / Scholar Labs), then READ.</a:t>
            </a:r>
          </a:p>
          <a:p>
            <a:pPr algn="l">
              <a:lnSpc>
                <a:spcPct val="128000"/>
              </a:lnSpc>
            </a:pPr>
            <a:r>
              <a:rPr sz="1700" b="1">
                <a:solidFill>
                  <a:srgbClr val="00FF41"/>
                </a:solidFill>
                <a:latin typeface="Arial"/>
              </a:rPr>
              <a:t>→  </a:t>
            </a:r>
            <a:r>
              <a:rPr sz="1700" b="0">
                <a:solidFill>
                  <a:srgbClr val="8A94A6"/>
                </a:solidFill>
                <a:latin typeface="Arial"/>
              </a:rPr>
              <a:t>Source (author, year)  -  what WORKED  -  what FAILED (avoid this).</a:t>
            </a:r>
          </a:p>
          <a:p>
            <a:pPr algn="l">
              <a:lnSpc>
                <a:spcPct val="128000"/>
              </a:lnSpc>
            </a:pPr>
            <a:r>
              <a:rPr sz="1700" b="1">
                <a:solidFill>
                  <a:srgbClr val="00FF41"/>
                </a:solidFill>
                <a:latin typeface="Arial"/>
              </a:rPr>
              <a:t>→  </a:t>
            </a:r>
            <a:r>
              <a:rPr sz="1700" b="0">
                <a:solidFill>
                  <a:srgbClr val="8A94A6"/>
                </a:solidFill>
                <a:latin typeface="Arial"/>
              </a:rPr>
              <a:t>Real papers only, actually read - never invent a citation, never rely on an AI summary alone.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Value Verification · TECHIE 1121 · Cornell Tech · Tue Jul 28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04.1  ·  YOUR PAPER (your individual contribution)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70432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F5F7FA"/>
                </a:solidFill>
                <a:latin typeface="Arial"/>
              </a:rPr>
              <a:t>Emily Tai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286000"/>
            <a:ext cx="1088136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900" b="1">
                <a:solidFill>
                  <a:srgbClr val="00FF41"/>
                </a:solidFill>
                <a:latin typeface="Arial"/>
              </a:rPr>
              <a:t>→  </a:t>
            </a:r>
            <a:r>
              <a:rPr sz="1900" b="0">
                <a:solidFill>
                  <a:srgbClr val="F5F7FA"/>
                </a:solidFill>
                <a:latin typeface="Arial"/>
              </a:rPr>
              <a:t>The paper you found + READ - [ author, year, title ]  (AI search to FIND it; then read the actual paper)</a:t>
            </a:r>
          </a:p>
          <a:p>
            <a:pPr algn="l">
              <a:lnSpc>
                <a:spcPct val="134000"/>
              </a:lnSpc>
            </a:pPr>
            <a:r>
              <a:rPr sz="1900" b="1">
                <a:solidFill>
                  <a:srgbClr val="00FF41"/>
                </a:solidFill>
                <a:latin typeface="Arial"/>
              </a:rPr>
              <a:t>→  </a:t>
            </a:r>
            <a:r>
              <a:rPr sz="1900" b="0">
                <a:solidFill>
                  <a:srgbClr val="F5F7FA"/>
                </a:solidFill>
                <a:latin typeface="Arial"/>
              </a:rPr>
              <a:t>The design intervention they tried to move THIS value - [ what they did ]</a:t>
            </a:r>
          </a:p>
          <a:p>
            <a:pPr algn="l">
              <a:lnSpc>
                <a:spcPct val="134000"/>
              </a:lnSpc>
            </a:pPr>
            <a:r>
              <a:rPr sz="1900" b="1">
                <a:solidFill>
                  <a:srgbClr val="00FF41"/>
                </a:solidFill>
                <a:latin typeface="Arial"/>
              </a:rPr>
              <a:t>→  </a:t>
            </a:r>
            <a:r>
              <a:rPr sz="1900" b="0">
                <a:solidFill>
                  <a:srgbClr val="F5F7FA"/>
                </a:solidFill>
                <a:latin typeface="Arial"/>
              </a:rPr>
              <a:t>What WORKED - [ ___ ]     |     What FAILED / to avoid - [ ___ ]</a:t>
            </a:r>
          </a:p>
          <a:p>
            <a:pPr algn="l">
              <a:lnSpc>
                <a:spcPct val="134000"/>
              </a:lnSpc>
            </a:pPr>
            <a:r>
              <a:rPr sz="1900" b="1">
                <a:solidFill>
                  <a:srgbClr val="00FF41"/>
                </a:solidFill>
                <a:latin typeface="Arial"/>
              </a:rPr>
              <a:t>→  </a:t>
            </a:r>
            <a:r>
              <a:rPr sz="1900" b="0">
                <a:solidFill>
                  <a:srgbClr val="F5F7FA"/>
                </a:solidFill>
                <a:latin typeface="Arial"/>
              </a:rPr>
              <a:t>Does it support or challenge our design direction? - [ ___ 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440680"/>
            <a:ext cx="10881360" cy="658368"/>
          </a:xfrm>
          <a:prstGeom prst="roundRect">
            <a:avLst/>
          </a:prstGeom>
          <a:solidFill>
            <a:srgbClr val="151B26"/>
          </a:solidFill>
          <a:ln w="19050">
            <a:solidFill>
              <a:srgbClr val="00FF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440680"/>
            <a:ext cx="103327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0FF41"/>
                </a:solidFill>
                <a:latin typeface="Arial"/>
              </a:rPr>
              <a:t>▸  </a:t>
            </a:r>
            <a:r>
              <a:rPr sz="1500" b="1">
                <a:solidFill>
                  <a:srgbClr val="F5F7FA"/>
                </a:solidFill>
                <a:latin typeface="Arial"/>
              </a:rPr>
              <a:t>This slide is yours - the paper you actually read. Add more behind it if you need to - keep your name on them.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Value Verification · TECHIE 1121 · Cornell Tech · Tue Jul 28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04.2  ·  YOUR PAPER (your individual contribution)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70432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F5F7FA"/>
                </a:solidFill>
                <a:latin typeface="Arial"/>
              </a:rPr>
              <a:t>Kylie Cheung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286000"/>
            <a:ext cx="1088136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900" b="1">
                <a:solidFill>
                  <a:srgbClr val="00FF41"/>
                </a:solidFill>
                <a:latin typeface="Arial"/>
              </a:rPr>
              <a:t>→  </a:t>
            </a:r>
            <a:r>
              <a:rPr sz="1900" b="0">
                <a:solidFill>
                  <a:srgbClr val="F5F7FA"/>
                </a:solidFill>
                <a:latin typeface="Arial"/>
              </a:rPr>
              <a:t>The paper you found + READ - [ author, year, title ]  (AI search to FIND it; then read the actual paper)</a:t>
            </a:r>
          </a:p>
          <a:p>
            <a:pPr algn="l">
              <a:lnSpc>
                <a:spcPct val="134000"/>
              </a:lnSpc>
            </a:pPr>
            <a:r>
              <a:rPr sz="1900" b="1">
                <a:solidFill>
                  <a:srgbClr val="00FF41"/>
                </a:solidFill>
                <a:latin typeface="Arial"/>
              </a:rPr>
              <a:t>→  </a:t>
            </a:r>
            <a:r>
              <a:rPr sz="1900" b="0">
                <a:solidFill>
                  <a:srgbClr val="F5F7FA"/>
                </a:solidFill>
                <a:latin typeface="Arial"/>
              </a:rPr>
              <a:t>The design intervention they tried to move THIS value - [ what they did ]</a:t>
            </a:r>
          </a:p>
          <a:p>
            <a:pPr algn="l">
              <a:lnSpc>
                <a:spcPct val="134000"/>
              </a:lnSpc>
            </a:pPr>
            <a:r>
              <a:rPr sz="1900" b="1">
                <a:solidFill>
                  <a:srgbClr val="00FF41"/>
                </a:solidFill>
                <a:latin typeface="Arial"/>
              </a:rPr>
              <a:t>→  </a:t>
            </a:r>
            <a:r>
              <a:rPr sz="1900" b="0">
                <a:solidFill>
                  <a:srgbClr val="F5F7FA"/>
                </a:solidFill>
                <a:latin typeface="Arial"/>
              </a:rPr>
              <a:t>What WORKED - [ ___ ]     |     What FAILED / to avoid - [ ___ ]</a:t>
            </a:r>
          </a:p>
          <a:p>
            <a:pPr algn="l">
              <a:lnSpc>
                <a:spcPct val="134000"/>
              </a:lnSpc>
            </a:pPr>
            <a:r>
              <a:rPr sz="1900" b="1">
                <a:solidFill>
                  <a:srgbClr val="00FF41"/>
                </a:solidFill>
                <a:latin typeface="Arial"/>
              </a:rPr>
              <a:t>→  </a:t>
            </a:r>
            <a:r>
              <a:rPr sz="1900" b="0">
                <a:solidFill>
                  <a:srgbClr val="F5F7FA"/>
                </a:solidFill>
                <a:latin typeface="Arial"/>
              </a:rPr>
              <a:t>Does it support or challenge our design direction? - [ ___ 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440680"/>
            <a:ext cx="10881360" cy="658368"/>
          </a:xfrm>
          <a:prstGeom prst="roundRect">
            <a:avLst/>
          </a:prstGeom>
          <a:solidFill>
            <a:srgbClr val="151B26"/>
          </a:solidFill>
          <a:ln w="19050">
            <a:solidFill>
              <a:srgbClr val="00FF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440680"/>
            <a:ext cx="103327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0FF41"/>
                </a:solidFill>
                <a:latin typeface="Arial"/>
              </a:rPr>
              <a:t>▸  </a:t>
            </a:r>
            <a:r>
              <a:rPr sz="1500" b="1">
                <a:solidFill>
                  <a:srgbClr val="F5F7FA"/>
                </a:solidFill>
                <a:latin typeface="Arial"/>
              </a:rPr>
              <a:t>This slide is yours - the paper you actually read. Add more behind it if you need to - keep your name on them.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Value Verification · TECHIE 1121 · Cornell Tech · Tue Jul 28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04.3  ·  YOUR PAPER (your individual contribution)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70432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F5F7FA"/>
                </a:solidFill>
                <a:latin typeface="Arial"/>
              </a:rPr>
              <a:t>Aria Sharma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286000"/>
            <a:ext cx="1088136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900" b="1">
                <a:solidFill>
                  <a:srgbClr val="00FF41"/>
                </a:solidFill>
                <a:latin typeface="Arial"/>
              </a:rPr>
              <a:t>→  </a:t>
            </a:r>
            <a:r>
              <a:rPr sz="1900" b="0">
                <a:solidFill>
                  <a:srgbClr val="F5F7FA"/>
                </a:solidFill>
                <a:latin typeface="Arial"/>
              </a:rPr>
              <a:t>The paper you found + READ - [ author, year, title ]  (AI search to FIND it; then read the actual paper)</a:t>
            </a:r>
          </a:p>
          <a:p>
            <a:pPr algn="l">
              <a:lnSpc>
                <a:spcPct val="134000"/>
              </a:lnSpc>
            </a:pPr>
            <a:r>
              <a:rPr sz="1900" b="1">
                <a:solidFill>
                  <a:srgbClr val="00FF41"/>
                </a:solidFill>
                <a:latin typeface="Arial"/>
              </a:rPr>
              <a:t>→  </a:t>
            </a:r>
            <a:r>
              <a:rPr sz="1900" b="0">
                <a:solidFill>
                  <a:srgbClr val="F5F7FA"/>
                </a:solidFill>
                <a:latin typeface="Arial"/>
              </a:rPr>
              <a:t>The design intervention they tried to move THIS value - [ what they did ]</a:t>
            </a:r>
          </a:p>
          <a:p>
            <a:pPr algn="l">
              <a:lnSpc>
                <a:spcPct val="134000"/>
              </a:lnSpc>
            </a:pPr>
            <a:r>
              <a:rPr sz="1900" b="1">
                <a:solidFill>
                  <a:srgbClr val="00FF41"/>
                </a:solidFill>
                <a:latin typeface="Arial"/>
              </a:rPr>
              <a:t>→  </a:t>
            </a:r>
            <a:r>
              <a:rPr sz="1900" b="0">
                <a:solidFill>
                  <a:srgbClr val="F5F7FA"/>
                </a:solidFill>
                <a:latin typeface="Arial"/>
              </a:rPr>
              <a:t>What WORKED - [ ___ ]     |     What FAILED / to avoid - [ ___ ]</a:t>
            </a:r>
          </a:p>
          <a:p>
            <a:pPr algn="l">
              <a:lnSpc>
                <a:spcPct val="134000"/>
              </a:lnSpc>
            </a:pPr>
            <a:r>
              <a:rPr sz="1900" b="1">
                <a:solidFill>
                  <a:srgbClr val="00FF41"/>
                </a:solidFill>
                <a:latin typeface="Arial"/>
              </a:rPr>
              <a:t>→  </a:t>
            </a:r>
            <a:r>
              <a:rPr sz="1900" b="0">
                <a:solidFill>
                  <a:srgbClr val="F5F7FA"/>
                </a:solidFill>
                <a:latin typeface="Arial"/>
              </a:rPr>
              <a:t>Does it support or challenge our design direction? - [ ___ 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440680"/>
            <a:ext cx="10881360" cy="658368"/>
          </a:xfrm>
          <a:prstGeom prst="roundRect">
            <a:avLst/>
          </a:prstGeom>
          <a:solidFill>
            <a:srgbClr val="151B26"/>
          </a:solidFill>
          <a:ln w="19050">
            <a:solidFill>
              <a:srgbClr val="00FF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440680"/>
            <a:ext cx="103327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0FF41"/>
                </a:solidFill>
                <a:latin typeface="Arial"/>
              </a:rPr>
              <a:t>▸  </a:t>
            </a:r>
            <a:r>
              <a:rPr sz="1500" b="1">
                <a:solidFill>
                  <a:srgbClr val="F5F7FA"/>
                </a:solidFill>
                <a:latin typeface="Arial"/>
              </a:rPr>
              <a:t>This slide is yours - the paper you actually read. Add more behind it if you need to - keep your name on them.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Value Verification · TECHIE 1121 · Cornell Tech · Tue Jul 28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27432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00FF41"/>
                </a:solidFill>
                <a:latin typeface="Courier New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487168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0FF41"/>
                </a:solidFill>
                <a:latin typeface="Courier New"/>
              </a:rPr>
              <a:t>SO WHAT - OUR NEXT DESIGN DIRECTION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2971800"/>
            <a:ext cx="106070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3800" b="1">
                <a:solidFill>
                  <a:srgbClr val="F5F7FA"/>
                </a:solidFill>
                <a:latin typeface="Arial"/>
              </a:rPr>
              <a:t>Verification opens the next design  ·  FigJam: 05  ·  carry into Wednesday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4224528"/>
            <a:ext cx="1042416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700" b="1">
                <a:solidFill>
                  <a:srgbClr val="00FF41"/>
                </a:solidFill>
                <a:latin typeface="Arial"/>
              </a:rPr>
              <a:t>→  </a:t>
            </a:r>
            <a:r>
              <a:rPr sz="1700" b="0">
                <a:solidFill>
                  <a:srgbClr val="8A94A6"/>
                </a:solidFill>
                <a:latin typeface="Arial"/>
              </a:rPr>
              <a:t>If the design does NOT move the value, what WOULD?  Another design that could achieve it.</a:t>
            </a:r>
          </a:p>
          <a:p>
            <a:pPr algn="l">
              <a:lnSpc>
                <a:spcPct val="128000"/>
              </a:lnSpc>
            </a:pPr>
            <a:r>
              <a:rPr sz="1700" b="1">
                <a:solidFill>
                  <a:srgbClr val="00FF41"/>
                </a:solidFill>
                <a:latin typeface="Arial"/>
              </a:rPr>
              <a:t>→  </a:t>
            </a:r>
            <a:r>
              <a:rPr sz="1700" b="0">
                <a:solidFill>
                  <a:srgbClr val="8A94A6"/>
                </a:solidFill>
                <a:latin typeface="Arial"/>
              </a:rPr>
              <a:t>What should the next cycle discover?</a:t>
            </a:r>
          </a:p>
          <a:p>
            <a:pPr algn="l">
              <a:lnSpc>
                <a:spcPct val="128000"/>
              </a:lnSpc>
            </a:pPr>
            <a:r>
              <a:rPr sz="1700" b="1">
                <a:solidFill>
                  <a:srgbClr val="00FF41"/>
                </a:solidFill>
                <a:latin typeface="Arial"/>
              </a:rPr>
              <a:t>→  </a:t>
            </a:r>
            <a:r>
              <a:rPr sz="1700" b="0">
                <a:solidFill>
                  <a:srgbClr val="8A94A6"/>
                </a:solidFill>
                <a:latin typeface="Arial"/>
              </a:rPr>
              <a:t>2-3 directions the evidence points to - you carry these into Wednesday.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Value Verification · TECHIE 1121 · Cornell Tech · Tue Jul 28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SOURCES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5F7FA"/>
                </a:solidFill>
                <a:latin typeface="Arial"/>
              </a:rPr>
              <a:t>What we read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377440"/>
            <a:ext cx="1088136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700" b="1">
                <a:solidFill>
                  <a:srgbClr val="00FF41"/>
                </a:solidFill>
                <a:latin typeface="Arial"/>
              </a:rPr>
              <a:t>•  </a:t>
            </a:r>
            <a:r>
              <a:rPr sz="1700" b="0">
                <a:solidFill>
                  <a:srgbClr val="8A94A6"/>
                </a:solidFill>
                <a:latin typeface="Arial"/>
              </a:rPr>
              <a:t>Author, Year. Title. Where it appeared.  —  what it found</a:t>
            </a:r>
          </a:p>
          <a:p>
            <a:pPr algn="l">
              <a:lnSpc>
                <a:spcPct val="145000"/>
              </a:lnSpc>
            </a:pPr>
            <a:r>
              <a:rPr sz="1700" b="1">
                <a:solidFill>
                  <a:srgbClr val="00FF41"/>
                </a:solidFill>
                <a:latin typeface="Arial"/>
              </a:rPr>
              <a:t>•  </a:t>
            </a:r>
            <a:r>
              <a:rPr sz="1700" b="0">
                <a:solidFill>
                  <a:srgbClr val="8A94A6"/>
                </a:solidFill>
                <a:latin typeface="Arial"/>
              </a:rPr>
              <a:t>Author, Year. Title. Where it appeared.  —  what it found</a:t>
            </a:r>
          </a:p>
          <a:p>
            <a:pPr algn="l">
              <a:lnSpc>
                <a:spcPct val="145000"/>
              </a:lnSpc>
            </a:pPr>
            <a:r>
              <a:rPr sz="1700" b="1">
                <a:solidFill>
                  <a:srgbClr val="00FF41"/>
                </a:solidFill>
                <a:latin typeface="Arial"/>
              </a:rPr>
              <a:t>•  </a:t>
            </a:r>
            <a:r>
              <a:rPr sz="1700" b="0">
                <a:solidFill>
                  <a:srgbClr val="8A94A6"/>
                </a:solidFill>
                <a:latin typeface="Arial"/>
              </a:rPr>
              <a:t>Author, Year. Title. Where it appeared.  —  what it found</a:t>
            </a:r>
          </a:p>
          <a:p>
            <a:pPr algn="l">
              <a:lnSpc>
                <a:spcPct val="145000"/>
              </a:lnSpc>
            </a:pPr>
            <a:r>
              <a:rPr sz="1700" b="1">
                <a:solidFill>
                  <a:srgbClr val="00FF41"/>
                </a:solidFill>
                <a:latin typeface="Arial"/>
              </a:rPr>
              <a:t>•  </a:t>
            </a:r>
            <a:r>
              <a:rPr sz="1700" b="0">
                <a:solidFill>
                  <a:srgbClr val="8A94A6"/>
                </a:solidFill>
                <a:latin typeface="Arial"/>
              </a:rPr>
              <a:t>Author, Year. Title. Where it appeared.  —  what it found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57150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A6474"/>
                </a:solidFill>
                <a:latin typeface="Courier New"/>
              </a:rPr>
              <a:t>Real papers only — never invent a citation.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Value Verification · TECHIE 1121 · Cornell Tech · Tue Jul 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