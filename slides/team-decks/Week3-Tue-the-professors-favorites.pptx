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Team name = the value you carry into the final. Confirm the value + members before presenting.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header — the team's own slides go after this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header — the team's own slides go after this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header — the team's own slides go after this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Sebastien Gournay's individually graded section. Their reflection lives in their own lane on the team FigJam canvas.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Justin Ou's individually graded section. Their reflection lives in their own lane on the team FigJam canvas.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header — the team's own slides go after this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header — the team's own slides go after this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FF41"/>
                </a:solidFill>
                <a:latin typeface="Courier New"/>
              </a:rPr>
              <a:t>VALUE VERIFICATION · TEAM 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2103120"/>
            <a:ext cx="1060704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4600" b="1">
                <a:solidFill>
                  <a:srgbClr val="8A94A6"/>
                </a:solidFill>
                <a:latin typeface="Arial"/>
              </a:rPr>
              <a:t>[ name your team after your value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794760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8A94A6"/>
                </a:solidFill>
                <a:latin typeface="Arial"/>
              </a:rPr>
              <a:t>Sebastien Gournay · Justin 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434840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A6474"/>
                </a:solidFill>
                <a:latin typeface="Courier New"/>
              </a:rPr>
              <a:t>GitHub team: The Professor's Favorites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Value Verification · TECHIE 1121 · Cornell Tech · Tue Jul 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HOW TO USE THIS DECK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5F7FA"/>
                </a:solidFill>
                <a:latin typeface="Arial"/>
              </a:rPr>
              <a:t>Keep the headers. Put your slides behind them.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377440"/>
            <a:ext cx="1088136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•  </a:t>
            </a:r>
            <a:r>
              <a:rPr sz="1900" b="0">
                <a:solidFill>
                  <a:srgbClr val="F5F7FA"/>
                </a:solidFill>
                <a:latin typeface="Arial"/>
              </a:rPr>
              <a:t>Five section headers follow — they are the spine of your talk.</a:t>
            </a:r>
          </a:p>
          <a:p>
            <a:pPr algn="l">
              <a:lnSpc>
                <a:spcPct val="130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•  </a:t>
            </a:r>
            <a:r>
              <a:rPr sz="1900" b="0">
                <a:solidFill>
                  <a:srgbClr val="F5F7FA"/>
                </a:solidFill>
                <a:latin typeface="Arial"/>
              </a:rPr>
              <a:t>Sections 01, 02, 04, 05 are the TEAM's. Section 03 has one named slide per person — that one is graded individually.</a:t>
            </a:r>
          </a:p>
          <a:p>
            <a:pPr algn="l">
              <a:lnSpc>
                <a:spcPct val="130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•  </a:t>
            </a:r>
            <a:r>
              <a:rPr sz="1900" b="0">
                <a:solidFill>
                  <a:srgbClr val="F5F7FA"/>
                </a:solidFill>
                <a:latin typeface="Arial"/>
              </a:rPr>
              <a:t>Add your own slides AFTER each header. Don't delete the headers.</a:t>
            </a:r>
          </a:p>
          <a:p>
            <a:pPr algn="l">
              <a:lnSpc>
                <a:spcPct val="130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•  </a:t>
            </a:r>
            <a:r>
              <a:rPr sz="1900" b="0">
                <a:solidFill>
                  <a:srgbClr val="F5F7FA"/>
                </a:solidFill>
                <a:latin typeface="Arial"/>
              </a:rPr>
              <a:t>Evidence beats assertion: screenshots, numbers, quotes from what you actually observed.</a:t>
            </a:r>
          </a:p>
          <a:p>
            <a:pPr algn="l">
              <a:lnSpc>
                <a:spcPct val="130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•  </a:t>
            </a:r>
            <a:r>
              <a:rPr sz="1900" b="0">
                <a:solidFill>
                  <a:srgbClr val="F5F7FA"/>
                </a:solidFill>
                <a:latin typeface="Arial"/>
              </a:rPr>
              <a:t>Real citations only — if you can't find the paper, leave the claim out.</a:t>
            </a:r>
          </a:p>
          <a:p>
            <a:pPr algn="l">
              <a:lnSpc>
                <a:spcPct val="130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•  </a:t>
            </a:r>
            <a:r>
              <a:rPr sz="1900" b="0">
                <a:solidFill>
                  <a:srgbClr val="F5F7FA"/>
                </a:solidFill>
                <a:latin typeface="Arial"/>
              </a:rPr>
              <a:t>Your reflection is NOT a document — it goes in your own lane on the team FigJam canvas.</a:t>
            </a:r>
          </a:p>
          <a:p>
            <a:pPr algn="l">
              <a:lnSpc>
                <a:spcPct val="130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•  </a:t>
            </a:r>
            <a:r>
              <a:rPr sz="1900" b="0">
                <a:solidFill>
                  <a:srgbClr val="F5F7FA"/>
                </a:solidFill>
                <a:latin typeface="Arial"/>
              </a:rPr>
              <a:t>Delete this slide before you present.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Value Verification · TECHIE 1121 · Cornell Tech · Tue Jul 28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2743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0FF41"/>
                </a:solidFill>
                <a:latin typeface="Courier New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487168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FF41"/>
                </a:solidFill>
                <a:latin typeface="Courier New"/>
              </a:rPr>
              <a:t>THE VALUE &amp; THE READING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2971800"/>
            <a:ext cx="10607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3800" b="1">
                <a:solidFill>
                  <a:srgbClr val="F5F7FA"/>
                </a:solidFill>
                <a:latin typeface="Arial"/>
              </a:rPr>
              <a:t>What we claimed — and which reading we built for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224528"/>
            <a:ext cx="1042416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8A94A6"/>
                </a:solidFill>
                <a:latin typeface="Arial"/>
              </a:rPr>
              <a:t>Our app, in one line — and the value it claims.</a:t>
            </a:r>
          </a:p>
          <a:p>
            <a:pPr algn="l">
              <a:lnSpc>
                <a:spcPct val="128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8A94A6"/>
                </a:solidFill>
                <a:latin typeface="Arial"/>
              </a:rPr>
              <a:t>Which reading of the value did we actually design for? (e.g. privacy as control vs. security vs. contextual integrity)</a:t>
            </a:r>
          </a:p>
          <a:p>
            <a:pPr algn="l">
              <a:lnSpc>
                <a:spcPct val="128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8A94A6"/>
                </a:solidFill>
                <a:latin typeface="Arial"/>
              </a:rPr>
              <a:t>Operationalized: if it's present, users will DO ___ / UNDERSTAND ___ / FEEL ___.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Value Verification · TECHIE 1121 · Cornell Tech · Tue Jul 28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2743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0FF41"/>
                </a:solidFill>
                <a:latin typeface="Courier New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487168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FF41"/>
                </a:solidFill>
                <a:latin typeface="Courier New"/>
              </a:rPr>
              <a:t>PART 1 — WAYS TO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2971800"/>
            <a:ext cx="10607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3800" b="1">
                <a:solidFill>
                  <a:srgbClr val="F5F7FA"/>
                </a:solidFill>
                <a:latin typeface="Arial"/>
              </a:rPr>
              <a:t>How can this value be verified at all?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224528"/>
            <a:ext cx="1042416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8A94A6"/>
                </a:solidFill>
                <a:latin typeface="Arial"/>
              </a:rPr>
              <a:t>How have others measured this value? (Google Scholar + its AI search)</a:t>
            </a:r>
          </a:p>
          <a:p>
            <a:pPr algn="l">
              <a:lnSpc>
                <a:spcPct val="128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8A94A6"/>
                </a:solidFill>
                <a:latin typeface="Arial"/>
              </a:rPr>
              <a:t>Which method did we choose — and why does our reading demand it?</a:t>
            </a:r>
          </a:p>
          <a:p>
            <a:pPr algn="l">
              <a:lnSpc>
                <a:spcPct val="128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8A94A6"/>
                </a:solidFill>
                <a:latin typeface="Arial"/>
              </a:rPr>
              <a:t>The instrument we borrowed: UEQ · an HRI/SDT scale · the slop detector · a task design.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Value Verification · TECHIE 1121 · Cornell Tech · Tue Jul 28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2743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0FF41"/>
                </a:solidFill>
                <a:latin typeface="Courier New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487168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FF41"/>
                </a:solidFill>
                <a:latin typeface="Courier New"/>
              </a:rPr>
              <a:t>PART 2 — WHAT WE FOUND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2971800"/>
            <a:ext cx="10607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3800" b="1">
                <a:solidFill>
                  <a:srgbClr val="F5F7FA"/>
                </a:solidFill>
                <a:latin typeface="Arial"/>
              </a:rPr>
              <a:t>Insights from our own verification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224528"/>
            <a:ext cx="1042416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8A94A6"/>
                </a:solidFill>
                <a:latin typeface="Arial"/>
              </a:rPr>
              <a:t>Each team member presents their OWN slide — the named slides that follow.</a:t>
            </a:r>
          </a:p>
          <a:p>
            <a:pPr algn="l">
              <a:lnSpc>
                <a:spcPct val="128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8A94A6"/>
                </a:solidFill>
                <a:latin typeface="Arial"/>
              </a:rPr>
              <a:t>What WORKS and what does NOT — with evidence. An evidenced 'it doesn't' beats a hopeful 'it does'.</a:t>
            </a:r>
          </a:p>
          <a:p>
            <a:pPr algn="l">
              <a:lnSpc>
                <a:spcPct val="128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8A94A6"/>
                </a:solidFill>
                <a:latin typeface="Arial"/>
              </a:rPr>
              <a:t>Across the lenses: behavior · understanding · affect — and which lenses did NOT fit this value.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Value Verification · TECHIE 1121 · Cornell Tech · Tue Jul 28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03.1  ·  YOUR SECTION (graded individually)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70432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F5F7FA"/>
                </a:solidFill>
                <a:latin typeface="Arial"/>
              </a:rPr>
              <a:t>Sebastien Gournay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→  </a:t>
            </a:r>
            <a:r>
              <a:rPr sz="1900" b="0">
                <a:solidFill>
                  <a:srgbClr val="F5F7FA"/>
                </a:solidFill>
                <a:latin typeface="Arial"/>
              </a:rPr>
              <a:t>The lens + method I ran, and why our reading demanded it</a:t>
            </a:r>
          </a:p>
          <a:p>
            <a:pPr algn="l">
              <a:lnSpc>
                <a:spcPct val="134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→  </a:t>
            </a:r>
            <a:r>
              <a:rPr sz="1900" b="0">
                <a:solidFill>
                  <a:srgbClr val="F5F7FA"/>
                </a:solidFill>
                <a:latin typeface="Arial"/>
              </a:rPr>
              <a:t>My evidence - what I actually observed or measured</a:t>
            </a:r>
          </a:p>
          <a:p>
            <a:pPr algn="l">
              <a:lnSpc>
                <a:spcPct val="134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→  </a:t>
            </a:r>
            <a:r>
              <a:rPr sz="1900" b="0">
                <a:solidFill>
                  <a:srgbClr val="F5F7FA"/>
                </a:solidFill>
                <a:latin typeface="Arial"/>
              </a:rPr>
              <a:t>What this says WORKS - and what does NOT</a:t>
            </a:r>
          </a:p>
          <a:p>
            <a:pPr algn="l">
              <a:lnSpc>
                <a:spcPct val="134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→  </a:t>
            </a:r>
            <a:r>
              <a:rPr sz="1900" b="0">
                <a:solidFill>
                  <a:srgbClr val="F5F7FA"/>
                </a:solidFill>
                <a:latin typeface="Arial"/>
              </a:rPr>
              <a:t>The paper I found (real citation) and what it changes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440680"/>
            <a:ext cx="10881360" cy="658368"/>
          </a:xfrm>
          <a:prstGeom prst="roundRect">
            <a:avLst/>
          </a:prstGeom>
          <a:solidFill>
            <a:srgbClr val="151B26"/>
          </a:solidFill>
          <a:ln w="19050">
            <a:solidFill>
              <a:srgbClr val="00FF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440680"/>
            <a:ext cx="103327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FF41"/>
                </a:solidFill>
                <a:latin typeface="Arial"/>
              </a:rPr>
              <a:t>▸  </a:t>
            </a:r>
            <a:r>
              <a:rPr sz="1500" b="1">
                <a:solidFill>
                  <a:srgbClr val="F5F7FA"/>
                </a:solidFill>
                <a:latin typeface="Arial"/>
              </a:rPr>
              <a:t>This slide is yours. Add more slides behind it if you need them - keep your name on them.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Value Verification · TECHIE 1121 · Cornell Tech · Tue Jul 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03.2  ·  YOUR SECTION (graded individually)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70432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F5F7FA"/>
                </a:solidFill>
                <a:latin typeface="Arial"/>
              </a:rPr>
              <a:t>Justin 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→  </a:t>
            </a:r>
            <a:r>
              <a:rPr sz="1900" b="0">
                <a:solidFill>
                  <a:srgbClr val="F5F7FA"/>
                </a:solidFill>
                <a:latin typeface="Arial"/>
              </a:rPr>
              <a:t>The lens + method I ran, and why our reading demanded it</a:t>
            </a:r>
          </a:p>
          <a:p>
            <a:pPr algn="l">
              <a:lnSpc>
                <a:spcPct val="134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→  </a:t>
            </a:r>
            <a:r>
              <a:rPr sz="1900" b="0">
                <a:solidFill>
                  <a:srgbClr val="F5F7FA"/>
                </a:solidFill>
                <a:latin typeface="Arial"/>
              </a:rPr>
              <a:t>My evidence - what I actually observed or measured</a:t>
            </a:r>
          </a:p>
          <a:p>
            <a:pPr algn="l">
              <a:lnSpc>
                <a:spcPct val="134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→  </a:t>
            </a:r>
            <a:r>
              <a:rPr sz="1900" b="0">
                <a:solidFill>
                  <a:srgbClr val="F5F7FA"/>
                </a:solidFill>
                <a:latin typeface="Arial"/>
              </a:rPr>
              <a:t>What this says WORKS - and what does NOT</a:t>
            </a:r>
          </a:p>
          <a:p>
            <a:pPr algn="l">
              <a:lnSpc>
                <a:spcPct val="134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→  </a:t>
            </a:r>
            <a:r>
              <a:rPr sz="1900" b="0">
                <a:solidFill>
                  <a:srgbClr val="F5F7FA"/>
                </a:solidFill>
                <a:latin typeface="Arial"/>
              </a:rPr>
              <a:t>The paper I found (real citation) and what it changes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440680"/>
            <a:ext cx="10881360" cy="658368"/>
          </a:xfrm>
          <a:prstGeom prst="roundRect">
            <a:avLst/>
          </a:prstGeom>
          <a:solidFill>
            <a:srgbClr val="151B26"/>
          </a:solidFill>
          <a:ln w="19050">
            <a:solidFill>
              <a:srgbClr val="00FF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440680"/>
            <a:ext cx="103327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FF41"/>
                </a:solidFill>
                <a:latin typeface="Arial"/>
              </a:rPr>
              <a:t>▸  </a:t>
            </a:r>
            <a:r>
              <a:rPr sz="1500" b="1">
                <a:solidFill>
                  <a:srgbClr val="F5F7FA"/>
                </a:solidFill>
                <a:latin typeface="Arial"/>
              </a:rPr>
              <a:t>This slide is yours. Add more slides behind it if you need them - keep your name on them.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Value Verification · TECHIE 1121 · Cornell Tech · Tue Jul 28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2743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0FF41"/>
                </a:solidFill>
                <a:latin typeface="Courier New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487168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FF41"/>
                </a:solidFill>
                <a:latin typeface="Courier New"/>
              </a:rPr>
              <a:t>PART 3 — OUTLOOK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2971800"/>
            <a:ext cx="10607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3800" b="1">
                <a:solidFill>
                  <a:srgbClr val="F5F7FA"/>
                </a:solidFill>
                <a:latin typeface="Arial"/>
              </a:rPr>
              <a:t>What related research has already found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224528"/>
            <a:ext cx="1042416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8A94A6"/>
                </a:solidFill>
                <a:latin typeface="Arial"/>
              </a:rPr>
              <a:t>What have others tried in order to move this value?</a:t>
            </a:r>
          </a:p>
          <a:p>
            <a:pPr algn="l">
              <a:lnSpc>
                <a:spcPct val="128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8A94A6"/>
                </a:solidFill>
                <a:latin typeface="Arial"/>
              </a:rPr>
              <a:t>What worked — and what failed?</a:t>
            </a:r>
          </a:p>
          <a:p>
            <a:pPr algn="l">
              <a:lnSpc>
                <a:spcPct val="128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8A94A6"/>
                </a:solidFill>
                <a:latin typeface="Arial"/>
              </a:rPr>
              <a:t>2–3 REAL sources. Never invent a citation.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Value Verification · TECHIE 1121 · Cornell Tech · Tue Jul 28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2743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0FF41"/>
                </a:solidFill>
                <a:latin typeface="Courier New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487168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FF41"/>
                </a:solidFill>
                <a:latin typeface="Courier New"/>
              </a:rPr>
              <a:t>SO WHAT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2971800"/>
            <a:ext cx="10607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3800" b="1">
                <a:solidFill>
                  <a:srgbClr val="F5F7FA"/>
                </a:solidFill>
                <a:latin typeface="Arial"/>
              </a:rPr>
              <a:t>Our next design 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224528"/>
            <a:ext cx="1042416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8A94A6"/>
                </a:solidFill>
                <a:latin typeface="Arial"/>
              </a:rPr>
              <a:t>Verification is a beginning, not a verdict.</a:t>
            </a:r>
          </a:p>
          <a:p>
            <a:pPr algn="l">
              <a:lnSpc>
                <a:spcPct val="128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8A94A6"/>
                </a:solidFill>
                <a:latin typeface="Arial"/>
              </a:rPr>
              <a:t>What OTHER design could actually achieve this value?</a:t>
            </a:r>
          </a:p>
          <a:p>
            <a:pPr algn="l">
              <a:lnSpc>
                <a:spcPct val="128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8A94A6"/>
                </a:solidFill>
                <a:latin typeface="Arial"/>
              </a:rPr>
              <a:t>What should the next cycle discover? (You carry this into Wednesday.)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Value Verification · TECHIE 1121 · Cornell Tech · Tue Jul 28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SOURCES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5F7FA"/>
                </a:solidFill>
                <a:latin typeface="Arial"/>
              </a:rPr>
              <a:t>What we read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377440"/>
            <a:ext cx="1088136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•  </a:t>
            </a:r>
            <a:r>
              <a:rPr sz="1700" b="0">
                <a:solidFill>
                  <a:srgbClr val="8A94A6"/>
                </a:solidFill>
                <a:latin typeface="Arial"/>
              </a:rPr>
              <a:t>Author, Year. Title. Where it appeared.  —  what it found</a:t>
            </a:r>
          </a:p>
          <a:p>
            <a:pPr algn="l">
              <a:lnSpc>
                <a:spcPct val="145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•  </a:t>
            </a:r>
            <a:r>
              <a:rPr sz="1700" b="0">
                <a:solidFill>
                  <a:srgbClr val="8A94A6"/>
                </a:solidFill>
                <a:latin typeface="Arial"/>
              </a:rPr>
              <a:t>Author, Year. Title. Where it appeared.  —  what it found</a:t>
            </a:r>
          </a:p>
          <a:p>
            <a:pPr algn="l">
              <a:lnSpc>
                <a:spcPct val="145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•  </a:t>
            </a:r>
            <a:r>
              <a:rPr sz="1700" b="0">
                <a:solidFill>
                  <a:srgbClr val="8A94A6"/>
                </a:solidFill>
                <a:latin typeface="Arial"/>
              </a:rPr>
              <a:t>Author, Year. Title. Where it appeared.  —  what it found</a:t>
            </a:r>
          </a:p>
          <a:p>
            <a:pPr algn="l">
              <a:lnSpc>
                <a:spcPct val="145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•  </a:t>
            </a:r>
            <a:r>
              <a:rPr sz="1700" b="0">
                <a:solidFill>
                  <a:srgbClr val="8A94A6"/>
                </a:solidFill>
                <a:latin typeface="Arial"/>
              </a:rPr>
              <a:t>Author, Year. Title. Where it appeared.  —  what it found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57150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A6474"/>
                </a:solidFill>
                <a:latin typeface="Courier New"/>
              </a:rPr>
              <a:t>Real papers only — never invent a citation.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Value Verification · TECHIE 1121 · Cornell Tech · Tue Jul 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