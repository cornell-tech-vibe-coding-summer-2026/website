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Team name = the value you carry into the final. Confirm the value + members before presenting.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Section header — the team's own slides go after this one.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Section header — the team's own slides go after this one.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Section header — the team's own slides go after this one.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John Maida's individual contribution: the design intervention they researched. Reflection lives in their own FigJam lane.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Ajin Yohannan's individual contribution: the design intervention they researched. Reflection lives in their own FigJam lane.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Section header — the team's own slides go after this one.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E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00FF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1554480"/>
            <a:ext cx="105156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00FF41"/>
                </a:solidFill>
                <a:latin typeface="Courier New"/>
              </a:rPr>
              <a:t>VALUE-CENTERED USER RESEARCH DECK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04672" y="2103120"/>
            <a:ext cx="10607040" cy="1737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4600" b="1">
                <a:solidFill>
                  <a:srgbClr val="F5F7FA"/>
                </a:solidFill>
                <a:latin typeface="Arial"/>
              </a:rPr>
              <a:t>The Safety Team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41248" y="3794760"/>
            <a:ext cx="1042416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0">
                <a:solidFill>
                  <a:srgbClr val="8A94A6"/>
                </a:solidFill>
                <a:latin typeface="Arial"/>
              </a:rPr>
              <a:t>John Maida · Ajin Yohannan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41248" y="4206240"/>
            <a:ext cx="106070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00FF41"/>
                </a:solidFill>
                <a:latin typeface="Courier New"/>
              </a:rPr>
              <a:t>Project 2:  </a:t>
            </a:r>
            <a:r>
              <a:rPr sz="1500" b="0">
                <a:solidFill>
                  <a:srgbClr val="8A94A6"/>
                </a:solidFill>
                <a:latin typeface="Arial"/>
              </a:rPr>
              <a:t>Vault Notes - a locking journal for high-school students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41248" y="4709160"/>
            <a:ext cx="1042416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5A6474"/>
                </a:solidFill>
                <a:latin typeface="Courier New"/>
              </a:rPr>
              <a:t>GitHub team: Jamin's 2nd Team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6355080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5A6474"/>
                </a:solidFill>
                <a:latin typeface="Courier New"/>
              </a:rPr>
              <a:t>Value Verification · TECHIE 1121 · Cornell Tech · Tue Jul 28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E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502920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00FF41"/>
                </a:solidFill>
                <a:latin typeface="Courier New"/>
              </a:rPr>
              <a:t>HOW TO USE THIS DECK</a:t>
            </a:r>
          </a:p>
        </p:txBody>
      </p:sp>
      <p:sp>
        <p:nvSpPr>
          <p:cNvPr id="3" name="Rectangle 2"/>
          <p:cNvSpPr/>
          <p:nvPr/>
        </p:nvSpPr>
        <p:spPr>
          <a:xfrm>
            <a:off x="640080" y="932688"/>
            <a:ext cx="822960" cy="73152"/>
          </a:xfrm>
          <a:prstGeom prst="rect">
            <a:avLst/>
          </a:prstGeom>
          <a:solidFill>
            <a:srgbClr val="00FF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188720"/>
            <a:ext cx="109728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200" b="1">
                <a:solidFill>
                  <a:srgbClr val="F5F7FA"/>
                </a:solidFill>
                <a:latin typeface="Arial"/>
              </a:rPr>
              <a:t>Keep the headers. Put your slides behind them.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2377440"/>
            <a:ext cx="10881360" cy="34747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900" b="1">
                <a:solidFill>
                  <a:srgbClr val="00FF41"/>
                </a:solidFill>
                <a:latin typeface="Arial"/>
              </a:rPr>
              <a:t>•  </a:t>
            </a:r>
            <a:r>
              <a:rPr sz="1900" b="0">
                <a:solidFill>
                  <a:srgbClr val="F5F7FA"/>
                </a:solidFill>
                <a:latin typeface="Arial"/>
              </a:rPr>
              <a:t>Four section headers follow — they are the spine of your talk.</a:t>
            </a:r>
          </a:p>
          <a:p>
            <a:pPr algn="l">
              <a:lnSpc>
                <a:spcPct val="130000"/>
              </a:lnSpc>
            </a:pPr>
            <a:r>
              <a:rPr sz="1900" b="1">
                <a:solidFill>
                  <a:srgbClr val="00FF41"/>
                </a:solidFill>
                <a:latin typeface="Arial"/>
              </a:rPr>
              <a:t>•  </a:t>
            </a:r>
            <a:r>
              <a:rPr sz="1900" b="0">
                <a:solidFill>
                  <a:srgbClr val="F5F7FA"/>
                </a:solidFill>
                <a:latin typeface="Arial"/>
              </a:rPr>
              <a:t>Sections 01, 02, 04 are the TEAM's. Section 03 has one named slide per person — your individual contribution.</a:t>
            </a:r>
          </a:p>
          <a:p>
            <a:pPr algn="l">
              <a:lnSpc>
                <a:spcPct val="130000"/>
              </a:lnSpc>
            </a:pPr>
            <a:r>
              <a:rPr sz="1900" b="1">
                <a:solidFill>
                  <a:srgbClr val="00FF41"/>
                </a:solidFill>
                <a:latin typeface="Arial"/>
              </a:rPr>
              <a:t>•  </a:t>
            </a:r>
            <a:r>
              <a:rPr sz="1900" b="0">
                <a:solidFill>
                  <a:srgbClr val="F5F7FA"/>
                </a:solidFill>
                <a:latin typeface="Arial"/>
              </a:rPr>
              <a:t>Add your own slides AFTER each header. Don't delete the headers.</a:t>
            </a:r>
          </a:p>
          <a:p>
            <a:pPr algn="l">
              <a:lnSpc>
                <a:spcPct val="130000"/>
              </a:lnSpc>
            </a:pPr>
            <a:r>
              <a:rPr sz="1900" b="1">
                <a:solidFill>
                  <a:srgbClr val="00FF41"/>
                </a:solidFill>
                <a:latin typeface="Arial"/>
              </a:rPr>
              <a:t>•  </a:t>
            </a:r>
            <a:r>
              <a:rPr sz="1900" b="0">
                <a:solidFill>
                  <a:srgbClr val="F5F7FA"/>
                </a:solidFill>
                <a:latin typeface="Arial"/>
              </a:rPr>
              <a:t>No time to run full tests today - so RESEARCH the method, and what interventions have actually moved this value.</a:t>
            </a:r>
          </a:p>
          <a:p>
            <a:pPr algn="l">
              <a:lnSpc>
                <a:spcPct val="130000"/>
              </a:lnSpc>
            </a:pPr>
            <a:r>
              <a:rPr sz="1900" b="1">
                <a:solidFill>
                  <a:srgbClr val="00FF41"/>
                </a:solidFill>
                <a:latin typeface="Arial"/>
              </a:rPr>
              <a:t>•  </a:t>
            </a:r>
            <a:r>
              <a:rPr sz="1900" b="0">
                <a:solidFill>
                  <a:srgbClr val="F5F7FA"/>
                </a:solidFill>
                <a:latin typeface="Arial"/>
              </a:rPr>
              <a:t>Real citations only — if you can't find the paper, leave the claim out.</a:t>
            </a:r>
          </a:p>
          <a:p>
            <a:pPr algn="l">
              <a:lnSpc>
                <a:spcPct val="130000"/>
              </a:lnSpc>
            </a:pPr>
            <a:r>
              <a:rPr sz="1900" b="1">
                <a:solidFill>
                  <a:srgbClr val="00FF41"/>
                </a:solidFill>
                <a:latin typeface="Arial"/>
              </a:rPr>
              <a:t>•  </a:t>
            </a:r>
            <a:r>
              <a:rPr sz="1900" b="0">
                <a:solidFill>
                  <a:srgbClr val="F5F7FA"/>
                </a:solidFill>
                <a:latin typeface="Arial"/>
              </a:rPr>
              <a:t>Your reflection is NOT a document — it goes in your own lane on the team FigJam canvas.</a:t>
            </a:r>
          </a:p>
          <a:p>
            <a:pPr algn="l">
              <a:lnSpc>
                <a:spcPct val="130000"/>
              </a:lnSpc>
            </a:pPr>
            <a:r>
              <a:rPr sz="1900" b="1">
                <a:solidFill>
                  <a:srgbClr val="00FF41"/>
                </a:solidFill>
                <a:latin typeface="Arial"/>
              </a:rPr>
              <a:t>•  </a:t>
            </a:r>
            <a:r>
              <a:rPr sz="1900" b="0">
                <a:solidFill>
                  <a:srgbClr val="F5F7FA"/>
                </a:solidFill>
                <a:latin typeface="Arial"/>
              </a:rPr>
              <a:t>Delete this slide before you present.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355080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5A6474"/>
                </a:solidFill>
                <a:latin typeface="Courier New"/>
              </a:rPr>
              <a:t>Value Verification · TECHIE 1121 · Cornell Tech · Tue Jul 28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E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00FF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1417320"/>
            <a:ext cx="274320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400" b="1">
                <a:solidFill>
                  <a:srgbClr val="00FF41"/>
                </a:solidFill>
                <a:latin typeface="Courier New"/>
              </a:rPr>
              <a:t>01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41248" y="2487168"/>
            <a:ext cx="1042416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00FF41"/>
                </a:solidFill>
                <a:latin typeface="Courier New"/>
              </a:rPr>
              <a:t>THE VALUE &amp; HOW WE DEFINE IT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04672" y="2971800"/>
            <a:ext cx="1060704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3000"/>
              </a:lnSpc>
            </a:pPr>
            <a:r>
              <a:rPr sz="3800" b="1">
                <a:solidFill>
                  <a:srgbClr val="F5F7FA"/>
                </a:solidFill>
                <a:latin typeface="Arial"/>
              </a:rPr>
              <a:t>Discovery - operationalize the value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41248" y="4224528"/>
            <a:ext cx="10424160" cy="1737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700" b="1">
                <a:solidFill>
                  <a:srgbClr val="00FF41"/>
                </a:solidFill>
                <a:latin typeface="Arial"/>
              </a:rPr>
              <a:t>→  </a:t>
            </a:r>
            <a:r>
              <a:rPr sz="1700" b="0">
                <a:solidFill>
                  <a:srgbClr val="8A94A6"/>
                </a:solidFill>
                <a:latin typeface="Arial"/>
              </a:rPr>
              <a:t>[ our app, in one line ]  -  and the value it claims.</a:t>
            </a:r>
          </a:p>
          <a:p>
            <a:pPr algn="l">
              <a:lnSpc>
                <a:spcPct val="128000"/>
              </a:lnSpc>
            </a:pPr>
            <a:r>
              <a:rPr sz="1700" b="1">
                <a:solidFill>
                  <a:srgbClr val="00FF41"/>
                </a:solidFill>
                <a:latin typeface="Arial"/>
              </a:rPr>
              <a:t>→  </a:t>
            </a:r>
            <a:r>
              <a:rPr sz="1700" b="0">
                <a:solidFill>
                  <a:srgbClr val="8A94A6"/>
                </a:solidFill>
                <a:latin typeface="Arial"/>
              </a:rPr>
              <a:t>How do we operationalize / define the value?  (privacy as control vs. security vs. contextual integrity)</a:t>
            </a:r>
          </a:p>
          <a:p>
            <a:pPr algn="l">
              <a:lnSpc>
                <a:spcPct val="128000"/>
              </a:lnSpc>
            </a:pPr>
            <a:r>
              <a:rPr sz="1700" b="1">
                <a:solidFill>
                  <a:srgbClr val="00FF41"/>
                </a:solidFill>
                <a:latin typeface="Arial"/>
              </a:rPr>
              <a:t>→  </a:t>
            </a:r>
            <a:r>
              <a:rPr sz="1700" b="0">
                <a:solidFill>
                  <a:srgbClr val="8A94A6"/>
                </a:solidFill>
                <a:latin typeface="Arial"/>
              </a:rPr>
              <a:t>If it is present, users will DO [ ___ ] / UNDERSTAND [ ___ ] / FEEL [ ___ ].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6355080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5A6474"/>
                </a:solidFill>
                <a:latin typeface="Courier New"/>
              </a:rPr>
              <a:t>Value Verification · TECHIE 1121 · Cornell Tech · Tue Jul 28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E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00FF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1417320"/>
            <a:ext cx="274320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400" b="1">
                <a:solidFill>
                  <a:srgbClr val="00FF41"/>
                </a:solidFill>
                <a:latin typeface="Courier New"/>
              </a:rPr>
              <a:t>02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41248" y="2487168"/>
            <a:ext cx="1042416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00FF41"/>
                </a:solidFill>
                <a:latin typeface="Courier New"/>
              </a:rPr>
              <a:t>HOW WOULD WE VERIFY IT?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04672" y="2971800"/>
            <a:ext cx="1060704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3000"/>
              </a:lnSpc>
            </a:pPr>
            <a:r>
              <a:rPr sz="3800" b="1">
                <a:solidFill>
                  <a:srgbClr val="F5F7FA"/>
                </a:solidFill>
                <a:latin typeface="Arial"/>
              </a:rPr>
              <a:t>Pick a method per lens - we won't run them all today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41248" y="4224528"/>
            <a:ext cx="10424160" cy="1737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700" b="1">
                <a:solidFill>
                  <a:srgbClr val="00FF41"/>
                </a:solidFill>
                <a:latin typeface="Arial"/>
              </a:rPr>
              <a:t>→  </a:t>
            </a:r>
            <a:r>
              <a:rPr sz="1700" b="0">
                <a:solidFill>
                  <a:srgbClr val="8A94A6"/>
                </a:solidFill>
                <a:latin typeface="Arial"/>
              </a:rPr>
              <a:t>BEHAVIOR - do users ACT differently?  -&gt;  hard to test in class, so we RESEARCH it: [ method + what studies show ].</a:t>
            </a:r>
          </a:p>
          <a:p>
            <a:pPr algn="l">
              <a:lnSpc>
                <a:spcPct val="128000"/>
              </a:lnSpc>
            </a:pPr>
            <a:r>
              <a:rPr sz="1700" b="1">
                <a:solidFill>
                  <a:srgbClr val="00FF41"/>
                </a:solidFill>
                <a:latin typeface="Arial"/>
              </a:rPr>
              <a:t>→  </a:t>
            </a:r>
            <a:r>
              <a:rPr sz="1700" b="0">
                <a:solidFill>
                  <a:srgbClr val="8A94A6"/>
                </a:solidFill>
                <a:latin typeface="Arial"/>
              </a:rPr>
              <a:t>UNDERSTANDING - do they GRASP the value?  -&gt;  a quick check with fellow students is possible: [ method ].</a:t>
            </a:r>
          </a:p>
          <a:p>
            <a:pPr algn="l">
              <a:lnSpc>
                <a:spcPct val="128000"/>
              </a:lnSpc>
            </a:pPr>
            <a:r>
              <a:rPr sz="1700" b="1">
                <a:solidFill>
                  <a:srgbClr val="00FF41"/>
                </a:solidFill>
                <a:latin typeface="Arial"/>
              </a:rPr>
              <a:t>→  </a:t>
            </a:r>
            <a:r>
              <a:rPr sz="1700" b="0">
                <a:solidFill>
                  <a:srgbClr val="8A94A6"/>
                </a:solidFill>
                <a:latin typeface="Arial"/>
              </a:rPr>
              <a:t>AFFECT - do they FEEL differently?  -&gt;  a quick check with fellow students is possible: [ method ].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6355080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5A6474"/>
                </a:solidFill>
                <a:latin typeface="Courier New"/>
              </a:rPr>
              <a:t>Value Verification · TECHIE 1121 · Cornell Tech · Tue Jul 28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E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00FF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1417320"/>
            <a:ext cx="274320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400" b="1">
                <a:solidFill>
                  <a:srgbClr val="00FF41"/>
                </a:solidFill>
                <a:latin typeface="Courier New"/>
              </a:rPr>
              <a:t>03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41248" y="2487168"/>
            <a:ext cx="1042416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00FF41"/>
                </a:solidFill>
                <a:latin typeface="Courier New"/>
              </a:rPr>
              <a:t>DESIGN INTERVENTIONS THAT MOVED THIS VALUE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04672" y="2971800"/>
            <a:ext cx="1060704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3000"/>
              </a:lnSpc>
            </a:pPr>
            <a:r>
              <a:rPr sz="3800" b="1">
                <a:solidFill>
                  <a:srgbClr val="F5F7FA"/>
                </a:solidFill>
                <a:latin typeface="Arial"/>
              </a:rPr>
              <a:t>Research - what has actually worked? (each member owns a slide)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41248" y="4224528"/>
            <a:ext cx="10424160" cy="1737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700" b="1">
                <a:solidFill>
                  <a:srgbClr val="00FF41"/>
                </a:solidFill>
                <a:latin typeface="Arial"/>
              </a:rPr>
              <a:t>→  </a:t>
            </a:r>
            <a:r>
              <a:rPr sz="1700" b="0">
                <a:solidFill>
                  <a:srgbClr val="8A94A6"/>
                </a:solidFill>
                <a:latin typeface="Arial"/>
              </a:rPr>
              <a:t>Each member presents their OWN researched intervention - the named slides that follow.</a:t>
            </a:r>
          </a:p>
          <a:p>
            <a:pPr algn="l">
              <a:lnSpc>
                <a:spcPct val="128000"/>
              </a:lnSpc>
            </a:pPr>
            <a:r>
              <a:rPr sz="1700" b="1">
                <a:solidFill>
                  <a:srgbClr val="00FF41"/>
                </a:solidFill>
                <a:latin typeface="Arial"/>
              </a:rPr>
              <a:t>→  </a:t>
            </a:r>
            <a:r>
              <a:rPr sz="1700" b="0">
                <a:solidFill>
                  <a:srgbClr val="8A94A6"/>
                </a:solidFill>
                <a:latin typeface="Arial"/>
              </a:rPr>
              <a:t>A real design intervention tried for this value, and its result: worked / mixed / failed.</a:t>
            </a:r>
          </a:p>
          <a:p>
            <a:pPr algn="l">
              <a:lnSpc>
                <a:spcPct val="128000"/>
              </a:lnSpc>
            </a:pPr>
            <a:r>
              <a:rPr sz="1700" b="1">
                <a:solidFill>
                  <a:srgbClr val="00FF41"/>
                </a:solidFill>
                <a:latin typeface="Arial"/>
              </a:rPr>
              <a:t>→  </a:t>
            </a:r>
            <a:r>
              <a:rPr sz="1700" b="0">
                <a:solidFill>
                  <a:srgbClr val="8A94A6"/>
                </a:solidFill>
                <a:latin typeface="Arial"/>
              </a:rPr>
              <a:t>Real sources only - never invent a citation.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6355080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5A6474"/>
                </a:solidFill>
                <a:latin typeface="Courier New"/>
              </a:rPr>
              <a:t>Value Verification · TECHIE 1121 · Cornell Tech · Tue Jul 28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E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502920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00FF41"/>
                </a:solidFill>
                <a:latin typeface="Courier New"/>
              </a:rPr>
              <a:t>03.1  ·  YOUR SLIDE (your individual contribution)</a:t>
            </a:r>
          </a:p>
        </p:txBody>
      </p:sp>
      <p:sp>
        <p:nvSpPr>
          <p:cNvPr id="3" name="Rectangle 2"/>
          <p:cNvSpPr/>
          <p:nvPr/>
        </p:nvSpPr>
        <p:spPr>
          <a:xfrm>
            <a:off x="640080" y="932688"/>
            <a:ext cx="822960" cy="73152"/>
          </a:xfrm>
          <a:prstGeom prst="rect">
            <a:avLst/>
          </a:prstGeom>
          <a:solidFill>
            <a:srgbClr val="00FF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170432"/>
            <a:ext cx="109728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600" b="1">
                <a:solidFill>
                  <a:srgbClr val="F5F7FA"/>
                </a:solidFill>
                <a:latin typeface="Arial"/>
              </a:rPr>
              <a:t>John Maida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2286000"/>
            <a:ext cx="10881360" cy="2834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4000"/>
              </a:lnSpc>
            </a:pPr>
            <a:r>
              <a:rPr sz="1900" b="1">
                <a:solidFill>
                  <a:srgbClr val="00FF41"/>
                </a:solidFill>
                <a:latin typeface="Arial"/>
              </a:rPr>
              <a:t>→  </a:t>
            </a:r>
            <a:r>
              <a:rPr sz="1900" b="0">
                <a:solidFill>
                  <a:srgbClr val="F5F7FA"/>
                </a:solidFill>
                <a:latin typeface="Arial"/>
              </a:rPr>
              <a:t>A design intervention someone tried to move THIS value - [ what they did ]</a:t>
            </a:r>
          </a:p>
          <a:p>
            <a:pPr algn="l">
              <a:lnSpc>
                <a:spcPct val="134000"/>
              </a:lnSpc>
            </a:pPr>
            <a:r>
              <a:rPr sz="1900" b="1">
                <a:solidFill>
                  <a:srgbClr val="00FF41"/>
                </a:solidFill>
                <a:latin typeface="Arial"/>
              </a:rPr>
              <a:t>→  </a:t>
            </a:r>
            <a:r>
              <a:rPr sz="1900" b="0">
                <a:solidFill>
                  <a:srgbClr val="F5F7FA"/>
                </a:solidFill>
                <a:latin typeface="Arial"/>
              </a:rPr>
              <a:t>The result - [ worked / mixed / failed ] - and the real source [ author, year ]</a:t>
            </a:r>
          </a:p>
          <a:p>
            <a:pPr algn="l">
              <a:lnSpc>
                <a:spcPct val="134000"/>
              </a:lnSpc>
            </a:pPr>
            <a:r>
              <a:rPr sz="1900" b="1">
                <a:solidFill>
                  <a:srgbClr val="00FF41"/>
                </a:solidFill>
                <a:latin typeface="Arial"/>
              </a:rPr>
              <a:t>→  </a:t>
            </a:r>
            <a:r>
              <a:rPr sz="1900" b="0">
                <a:solidFill>
                  <a:srgbClr val="F5F7FA"/>
                </a:solidFill>
                <a:latin typeface="Arial"/>
              </a:rPr>
              <a:t>How you'd test it - [ method ]  (behavior = research it; understanding/affect = quick student check)</a:t>
            </a:r>
          </a:p>
          <a:p>
            <a:pPr algn="l">
              <a:lnSpc>
                <a:spcPct val="134000"/>
              </a:lnSpc>
            </a:pPr>
            <a:r>
              <a:rPr sz="1900" b="1">
                <a:solidFill>
                  <a:srgbClr val="00FF41"/>
                </a:solidFill>
                <a:latin typeface="Arial"/>
              </a:rPr>
              <a:t>→  </a:t>
            </a:r>
            <a:r>
              <a:rPr sz="1900" b="0">
                <a:solidFill>
                  <a:srgbClr val="F5F7FA"/>
                </a:solidFill>
                <a:latin typeface="Arial"/>
              </a:rPr>
              <a:t>Does it support or challenge our design direction? - [ ___ ]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5440680"/>
            <a:ext cx="10881360" cy="658368"/>
          </a:xfrm>
          <a:prstGeom prst="roundRect">
            <a:avLst/>
          </a:prstGeom>
          <a:solidFill>
            <a:srgbClr val="151B26"/>
          </a:solidFill>
          <a:ln w="19050">
            <a:solidFill>
              <a:srgbClr val="00FF4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5440680"/>
            <a:ext cx="10332720" cy="6583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1">
                <a:solidFill>
                  <a:srgbClr val="00FF41"/>
                </a:solidFill>
                <a:latin typeface="Arial"/>
              </a:rPr>
              <a:t>▸  </a:t>
            </a:r>
            <a:r>
              <a:rPr sz="1500" b="1">
                <a:solidFill>
                  <a:srgbClr val="F5F7FA"/>
                </a:solidFill>
                <a:latin typeface="Arial"/>
              </a:rPr>
              <a:t>This slide is yours. Add more slides behind it if you need them - keep your name on them.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6355080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5A6474"/>
                </a:solidFill>
                <a:latin typeface="Courier New"/>
              </a:rPr>
              <a:t>Value Verification · TECHIE 1121 · Cornell Tech · Tue Jul 28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E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502920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00FF41"/>
                </a:solidFill>
                <a:latin typeface="Courier New"/>
              </a:rPr>
              <a:t>03.2  ·  YOUR SLIDE (your individual contribution)</a:t>
            </a:r>
          </a:p>
        </p:txBody>
      </p:sp>
      <p:sp>
        <p:nvSpPr>
          <p:cNvPr id="3" name="Rectangle 2"/>
          <p:cNvSpPr/>
          <p:nvPr/>
        </p:nvSpPr>
        <p:spPr>
          <a:xfrm>
            <a:off x="640080" y="932688"/>
            <a:ext cx="822960" cy="73152"/>
          </a:xfrm>
          <a:prstGeom prst="rect">
            <a:avLst/>
          </a:prstGeom>
          <a:solidFill>
            <a:srgbClr val="00FF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170432"/>
            <a:ext cx="109728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600" b="1">
                <a:solidFill>
                  <a:srgbClr val="F5F7FA"/>
                </a:solidFill>
                <a:latin typeface="Arial"/>
              </a:rPr>
              <a:t>Ajin Yohannan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2286000"/>
            <a:ext cx="10881360" cy="2834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4000"/>
              </a:lnSpc>
            </a:pPr>
            <a:r>
              <a:rPr sz="1900" b="1">
                <a:solidFill>
                  <a:srgbClr val="00FF41"/>
                </a:solidFill>
                <a:latin typeface="Arial"/>
              </a:rPr>
              <a:t>→  </a:t>
            </a:r>
            <a:r>
              <a:rPr sz="1900" b="0">
                <a:solidFill>
                  <a:srgbClr val="F5F7FA"/>
                </a:solidFill>
                <a:latin typeface="Arial"/>
              </a:rPr>
              <a:t>A design intervention someone tried to move THIS value - [ what they did ]</a:t>
            </a:r>
          </a:p>
          <a:p>
            <a:pPr algn="l">
              <a:lnSpc>
                <a:spcPct val="134000"/>
              </a:lnSpc>
            </a:pPr>
            <a:r>
              <a:rPr sz="1900" b="1">
                <a:solidFill>
                  <a:srgbClr val="00FF41"/>
                </a:solidFill>
                <a:latin typeface="Arial"/>
              </a:rPr>
              <a:t>→  </a:t>
            </a:r>
            <a:r>
              <a:rPr sz="1900" b="0">
                <a:solidFill>
                  <a:srgbClr val="F5F7FA"/>
                </a:solidFill>
                <a:latin typeface="Arial"/>
              </a:rPr>
              <a:t>The result - [ worked / mixed / failed ] - and the real source [ author, year ]</a:t>
            </a:r>
          </a:p>
          <a:p>
            <a:pPr algn="l">
              <a:lnSpc>
                <a:spcPct val="134000"/>
              </a:lnSpc>
            </a:pPr>
            <a:r>
              <a:rPr sz="1900" b="1">
                <a:solidFill>
                  <a:srgbClr val="00FF41"/>
                </a:solidFill>
                <a:latin typeface="Arial"/>
              </a:rPr>
              <a:t>→  </a:t>
            </a:r>
            <a:r>
              <a:rPr sz="1900" b="0">
                <a:solidFill>
                  <a:srgbClr val="F5F7FA"/>
                </a:solidFill>
                <a:latin typeface="Arial"/>
              </a:rPr>
              <a:t>How you'd test it - [ method ]  (behavior = research it; understanding/affect = quick student check)</a:t>
            </a:r>
          </a:p>
          <a:p>
            <a:pPr algn="l">
              <a:lnSpc>
                <a:spcPct val="134000"/>
              </a:lnSpc>
            </a:pPr>
            <a:r>
              <a:rPr sz="1900" b="1">
                <a:solidFill>
                  <a:srgbClr val="00FF41"/>
                </a:solidFill>
                <a:latin typeface="Arial"/>
              </a:rPr>
              <a:t>→  </a:t>
            </a:r>
            <a:r>
              <a:rPr sz="1900" b="0">
                <a:solidFill>
                  <a:srgbClr val="F5F7FA"/>
                </a:solidFill>
                <a:latin typeface="Arial"/>
              </a:rPr>
              <a:t>Does it support or challenge our design direction? - [ ___ ]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5440680"/>
            <a:ext cx="10881360" cy="658368"/>
          </a:xfrm>
          <a:prstGeom prst="roundRect">
            <a:avLst/>
          </a:prstGeom>
          <a:solidFill>
            <a:srgbClr val="151B26"/>
          </a:solidFill>
          <a:ln w="19050">
            <a:solidFill>
              <a:srgbClr val="00FF4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5440680"/>
            <a:ext cx="10332720" cy="6583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1">
                <a:solidFill>
                  <a:srgbClr val="00FF41"/>
                </a:solidFill>
                <a:latin typeface="Arial"/>
              </a:rPr>
              <a:t>▸  </a:t>
            </a:r>
            <a:r>
              <a:rPr sz="1500" b="1">
                <a:solidFill>
                  <a:srgbClr val="F5F7FA"/>
                </a:solidFill>
                <a:latin typeface="Arial"/>
              </a:rPr>
              <a:t>This slide is yours. Add more slides behind it if you need them - keep your name on them.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6355080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5A6474"/>
                </a:solidFill>
                <a:latin typeface="Courier New"/>
              </a:rPr>
              <a:t>Value Verification · TECHIE 1121 · Cornell Tech · Tue Jul 28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E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00FF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1417320"/>
            <a:ext cx="274320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400" b="1">
                <a:solidFill>
                  <a:srgbClr val="00FF41"/>
                </a:solidFill>
                <a:latin typeface="Courier New"/>
              </a:rPr>
              <a:t>04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41248" y="2487168"/>
            <a:ext cx="1042416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00FF41"/>
                </a:solidFill>
                <a:latin typeface="Courier New"/>
              </a:rPr>
              <a:t>OUR DESIGN DIRECTIONS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04672" y="2971800"/>
            <a:ext cx="1060704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3000"/>
              </a:lnSpc>
            </a:pPr>
            <a:r>
              <a:rPr sz="3800" b="1">
                <a:solidFill>
                  <a:srgbClr val="F5F7FA"/>
                </a:solidFill>
                <a:latin typeface="Arial"/>
              </a:rPr>
              <a:t>Generative - where the evidence points (carry into Wednesday)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41248" y="4224528"/>
            <a:ext cx="10424160" cy="1737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700" b="1">
                <a:solidFill>
                  <a:srgbClr val="00FF41"/>
                </a:solidFill>
                <a:latin typeface="Arial"/>
              </a:rPr>
              <a:t>→  </a:t>
            </a:r>
            <a:r>
              <a:rPr sz="1700" b="0">
                <a:solidFill>
                  <a:srgbClr val="8A94A6"/>
                </a:solidFill>
                <a:latin typeface="Arial"/>
              </a:rPr>
              <a:t>2-3 design directions our research points to.</a:t>
            </a:r>
          </a:p>
          <a:p>
            <a:pPr algn="l">
              <a:lnSpc>
                <a:spcPct val="128000"/>
              </a:lnSpc>
            </a:pPr>
            <a:r>
              <a:rPr sz="1700" b="1">
                <a:solidFill>
                  <a:srgbClr val="00FF41"/>
                </a:solidFill>
                <a:latin typeface="Arial"/>
              </a:rPr>
              <a:t>→  </a:t>
            </a:r>
            <a:r>
              <a:rPr sz="1700" b="0">
                <a:solidFill>
                  <a:srgbClr val="8A94A6"/>
                </a:solidFill>
                <a:latin typeface="Arial"/>
              </a:rPr>
              <a:t>Which one has the strongest evidence behind it?</a:t>
            </a:r>
          </a:p>
          <a:p>
            <a:pPr algn="l">
              <a:lnSpc>
                <a:spcPct val="128000"/>
              </a:lnSpc>
            </a:pPr>
            <a:r>
              <a:rPr sz="1700" b="1">
                <a:solidFill>
                  <a:srgbClr val="00FF41"/>
                </a:solidFill>
                <a:latin typeface="Arial"/>
              </a:rPr>
              <a:t>→  </a:t>
            </a:r>
            <a:r>
              <a:rPr sz="1700" b="0">
                <a:solidFill>
                  <a:srgbClr val="8A94A6"/>
                </a:solidFill>
                <a:latin typeface="Arial"/>
              </a:rPr>
              <a:t>What would we still need to verify - and how?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6355080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5A6474"/>
                </a:solidFill>
                <a:latin typeface="Courier New"/>
              </a:rPr>
              <a:t>Value Verification · TECHIE 1121 · Cornell Tech · Tue Jul 28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E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502920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00FF41"/>
                </a:solidFill>
                <a:latin typeface="Courier New"/>
              </a:rPr>
              <a:t>SOURCES</a:t>
            </a:r>
          </a:p>
        </p:txBody>
      </p:sp>
      <p:sp>
        <p:nvSpPr>
          <p:cNvPr id="3" name="Rectangle 2"/>
          <p:cNvSpPr/>
          <p:nvPr/>
        </p:nvSpPr>
        <p:spPr>
          <a:xfrm>
            <a:off x="640080" y="932688"/>
            <a:ext cx="822960" cy="73152"/>
          </a:xfrm>
          <a:prstGeom prst="rect">
            <a:avLst/>
          </a:prstGeom>
          <a:solidFill>
            <a:srgbClr val="00FF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188720"/>
            <a:ext cx="109728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200" b="1">
                <a:solidFill>
                  <a:srgbClr val="F5F7FA"/>
                </a:solidFill>
                <a:latin typeface="Arial"/>
              </a:rPr>
              <a:t>What we read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2377440"/>
            <a:ext cx="10881360" cy="3108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700" b="1">
                <a:solidFill>
                  <a:srgbClr val="00FF41"/>
                </a:solidFill>
                <a:latin typeface="Arial"/>
              </a:rPr>
              <a:t>•  </a:t>
            </a:r>
            <a:r>
              <a:rPr sz="1700" b="0">
                <a:solidFill>
                  <a:srgbClr val="8A94A6"/>
                </a:solidFill>
                <a:latin typeface="Arial"/>
              </a:rPr>
              <a:t>Author, Year. Title. Where it appeared.  —  what it found</a:t>
            </a:r>
          </a:p>
          <a:p>
            <a:pPr algn="l">
              <a:lnSpc>
                <a:spcPct val="145000"/>
              </a:lnSpc>
            </a:pPr>
            <a:r>
              <a:rPr sz="1700" b="1">
                <a:solidFill>
                  <a:srgbClr val="00FF41"/>
                </a:solidFill>
                <a:latin typeface="Arial"/>
              </a:rPr>
              <a:t>•  </a:t>
            </a:r>
            <a:r>
              <a:rPr sz="1700" b="0">
                <a:solidFill>
                  <a:srgbClr val="8A94A6"/>
                </a:solidFill>
                <a:latin typeface="Arial"/>
              </a:rPr>
              <a:t>Author, Year. Title. Where it appeared.  —  what it found</a:t>
            </a:r>
          </a:p>
          <a:p>
            <a:pPr algn="l">
              <a:lnSpc>
                <a:spcPct val="145000"/>
              </a:lnSpc>
            </a:pPr>
            <a:r>
              <a:rPr sz="1700" b="1">
                <a:solidFill>
                  <a:srgbClr val="00FF41"/>
                </a:solidFill>
                <a:latin typeface="Arial"/>
              </a:rPr>
              <a:t>•  </a:t>
            </a:r>
            <a:r>
              <a:rPr sz="1700" b="0">
                <a:solidFill>
                  <a:srgbClr val="8A94A6"/>
                </a:solidFill>
                <a:latin typeface="Arial"/>
              </a:rPr>
              <a:t>Author, Year. Title. Where it appeared.  —  what it found</a:t>
            </a:r>
          </a:p>
          <a:p>
            <a:pPr algn="l">
              <a:lnSpc>
                <a:spcPct val="145000"/>
              </a:lnSpc>
            </a:pPr>
            <a:r>
              <a:rPr sz="1700" b="1">
                <a:solidFill>
                  <a:srgbClr val="00FF41"/>
                </a:solidFill>
                <a:latin typeface="Arial"/>
              </a:rPr>
              <a:t>•  </a:t>
            </a:r>
            <a:r>
              <a:rPr sz="1700" b="0">
                <a:solidFill>
                  <a:srgbClr val="8A94A6"/>
                </a:solidFill>
                <a:latin typeface="Arial"/>
              </a:rPr>
              <a:t>Author, Year. Title. Where it appeared.  —  what it found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5715000"/>
            <a:ext cx="108813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5A6474"/>
                </a:solidFill>
                <a:latin typeface="Courier New"/>
              </a:rPr>
              <a:t>Real papers only — never invent a citation.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6355080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5A6474"/>
                </a:solidFill>
                <a:latin typeface="Courier New"/>
              </a:rPr>
              <a:t>Value Verification · TECHIE 1121 · Cornell Tech · Tue Jul 28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