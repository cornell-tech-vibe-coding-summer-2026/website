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Title slide. Confirm the value and the member list before presenting.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Section header — the team's own slides go after this one.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Section header — the team's own slides go after this one.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Section header — the team's own slides go after this one.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Section header — the team's own slides go after this one.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Section header — the team's own slides go after this one.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E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00FF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1600200"/>
            <a:ext cx="105156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00FF41"/>
                </a:solidFill>
                <a:latin typeface="Courier New"/>
              </a:rPr>
              <a:t>VALUE VERIFICATION · TEAM RESEARCH DECK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04672" y="2148840"/>
            <a:ext cx="10607040" cy="1737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4600" b="1">
                <a:solidFill>
                  <a:srgbClr val="F5F7FA"/>
                </a:solidFill>
                <a:latin typeface="Arial"/>
              </a:rPr>
              <a:t>Jamin's 2nd Team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41248" y="3794760"/>
            <a:ext cx="1042416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0">
                <a:solidFill>
                  <a:srgbClr val="8A94A6"/>
                </a:solidFill>
                <a:latin typeface="Arial"/>
              </a:rPr>
              <a:t>John Maida · Ajin Yohannan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41248" y="4526280"/>
            <a:ext cx="1042416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0">
                <a:solidFill>
                  <a:srgbClr val="F5F7FA"/>
                </a:solidFill>
                <a:latin typeface="Arial"/>
              </a:rPr>
              <a:t>The value we're carrying:  </a:t>
            </a:r>
            <a:r>
              <a:rPr sz="1800" b="1">
                <a:solidFill>
                  <a:srgbClr val="00FF41"/>
                </a:solidFill>
                <a:latin typeface="Arial"/>
              </a:rPr>
              <a:t>safety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6355080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5A6474"/>
                </a:solidFill>
                <a:latin typeface="Courier New"/>
              </a:rPr>
              <a:t>Value Verification · TECHIE 1121 · Cornell Tech · Tue Jul 28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E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502920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00FF41"/>
                </a:solidFill>
                <a:latin typeface="Courier New"/>
              </a:rPr>
              <a:t>HOW TO USE THIS DECK</a:t>
            </a:r>
          </a:p>
        </p:txBody>
      </p:sp>
      <p:sp>
        <p:nvSpPr>
          <p:cNvPr id="3" name="Rectangle 2"/>
          <p:cNvSpPr/>
          <p:nvPr/>
        </p:nvSpPr>
        <p:spPr>
          <a:xfrm>
            <a:off x="640080" y="932688"/>
            <a:ext cx="822960" cy="73152"/>
          </a:xfrm>
          <a:prstGeom prst="rect">
            <a:avLst/>
          </a:prstGeom>
          <a:solidFill>
            <a:srgbClr val="00FF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1188720"/>
            <a:ext cx="1097280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200" b="1">
                <a:solidFill>
                  <a:srgbClr val="F5F7FA"/>
                </a:solidFill>
                <a:latin typeface="Arial"/>
              </a:rPr>
              <a:t>Keep the headers. Put your slides behind them.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2377440"/>
            <a:ext cx="10881360" cy="34747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900" b="1">
                <a:solidFill>
                  <a:srgbClr val="00FF41"/>
                </a:solidFill>
                <a:latin typeface="Arial"/>
              </a:rPr>
              <a:t>•  </a:t>
            </a:r>
            <a:r>
              <a:rPr sz="1900" b="0">
                <a:solidFill>
                  <a:srgbClr val="F5F7FA"/>
                </a:solidFill>
                <a:latin typeface="Arial"/>
              </a:rPr>
              <a:t>Five section headers follow — they are the spine of your talk.</a:t>
            </a:r>
          </a:p>
          <a:p>
            <a:pPr algn="l">
              <a:lnSpc>
                <a:spcPct val="130000"/>
              </a:lnSpc>
            </a:pPr>
            <a:r>
              <a:rPr sz="1900" b="1">
                <a:solidFill>
                  <a:srgbClr val="00FF41"/>
                </a:solidFill>
                <a:latin typeface="Arial"/>
              </a:rPr>
              <a:t>•  </a:t>
            </a:r>
            <a:r>
              <a:rPr sz="1900" b="0">
                <a:solidFill>
                  <a:srgbClr val="F5F7FA"/>
                </a:solidFill>
                <a:latin typeface="Arial"/>
              </a:rPr>
              <a:t>Add your own slides AFTER each header. Don't delete the headers.</a:t>
            </a:r>
          </a:p>
          <a:p>
            <a:pPr algn="l">
              <a:lnSpc>
                <a:spcPct val="130000"/>
              </a:lnSpc>
            </a:pPr>
            <a:r>
              <a:rPr sz="1900" b="1">
                <a:solidFill>
                  <a:srgbClr val="00FF41"/>
                </a:solidFill>
                <a:latin typeface="Arial"/>
              </a:rPr>
              <a:t>•  </a:t>
            </a:r>
            <a:r>
              <a:rPr sz="1900" b="0">
                <a:solidFill>
                  <a:srgbClr val="F5F7FA"/>
                </a:solidFill>
                <a:latin typeface="Arial"/>
              </a:rPr>
              <a:t>Evidence beats assertion: screenshots, numbers, quotes from what you actually observed.</a:t>
            </a:r>
          </a:p>
          <a:p>
            <a:pPr algn="l">
              <a:lnSpc>
                <a:spcPct val="130000"/>
              </a:lnSpc>
            </a:pPr>
            <a:r>
              <a:rPr sz="1900" b="1">
                <a:solidFill>
                  <a:srgbClr val="00FF41"/>
                </a:solidFill>
                <a:latin typeface="Arial"/>
              </a:rPr>
              <a:t>•  </a:t>
            </a:r>
            <a:r>
              <a:rPr sz="1900" b="0">
                <a:solidFill>
                  <a:srgbClr val="F5F7FA"/>
                </a:solidFill>
                <a:latin typeface="Arial"/>
              </a:rPr>
              <a:t>Real citations only — if you can't find the paper, leave the claim out.</a:t>
            </a:r>
          </a:p>
          <a:p>
            <a:pPr algn="l">
              <a:lnSpc>
                <a:spcPct val="130000"/>
              </a:lnSpc>
            </a:pPr>
            <a:r>
              <a:rPr sz="1900" b="1">
                <a:solidFill>
                  <a:srgbClr val="00FF41"/>
                </a:solidFill>
                <a:latin typeface="Arial"/>
              </a:rPr>
              <a:t>•  </a:t>
            </a:r>
            <a:r>
              <a:rPr sz="1900" b="0">
                <a:solidFill>
                  <a:srgbClr val="F5F7FA"/>
                </a:solidFill>
                <a:latin typeface="Arial"/>
              </a:rPr>
              <a:t>Delete this slide before you present.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355080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5A6474"/>
                </a:solidFill>
                <a:latin typeface="Courier New"/>
              </a:rPr>
              <a:t>Value Verification · TECHIE 1121 · Cornell Tech · Tue Jul 28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E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00FF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1417320"/>
            <a:ext cx="274320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400" b="1">
                <a:solidFill>
                  <a:srgbClr val="00FF41"/>
                </a:solidFill>
                <a:latin typeface="Courier New"/>
              </a:rPr>
              <a:t>01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41248" y="2487168"/>
            <a:ext cx="1042416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00FF41"/>
                </a:solidFill>
                <a:latin typeface="Courier New"/>
              </a:rPr>
              <a:t>THE VALUE &amp; THE READING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04672" y="2971800"/>
            <a:ext cx="1060704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3000"/>
              </a:lnSpc>
            </a:pPr>
            <a:r>
              <a:rPr sz="3800" b="1">
                <a:solidFill>
                  <a:srgbClr val="F5F7FA"/>
                </a:solidFill>
                <a:latin typeface="Arial"/>
              </a:rPr>
              <a:t>What we claimed — and which reading we built for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41248" y="4224528"/>
            <a:ext cx="10424160" cy="1737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700" b="1">
                <a:solidFill>
                  <a:srgbClr val="00FF41"/>
                </a:solidFill>
                <a:latin typeface="Arial"/>
              </a:rPr>
              <a:t>→  </a:t>
            </a:r>
            <a:r>
              <a:rPr sz="1700" b="0">
                <a:solidFill>
                  <a:srgbClr val="8A94A6"/>
                </a:solidFill>
                <a:latin typeface="Arial"/>
              </a:rPr>
              <a:t>Our app, in one line — and the value it claims.</a:t>
            </a:r>
          </a:p>
          <a:p>
            <a:pPr algn="l">
              <a:lnSpc>
                <a:spcPct val="128000"/>
              </a:lnSpc>
            </a:pPr>
            <a:r>
              <a:rPr sz="1700" b="1">
                <a:solidFill>
                  <a:srgbClr val="00FF41"/>
                </a:solidFill>
                <a:latin typeface="Arial"/>
              </a:rPr>
              <a:t>→  </a:t>
            </a:r>
            <a:r>
              <a:rPr sz="1700" b="0">
                <a:solidFill>
                  <a:srgbClr val="8A94A6"/>
                </a:solidFill>
                <a:latin typeface="Arial"/>
              </a:rPr>
              <a:t>Which reading of the value did we actually design for? (e.g. privacy as control vs. security vs. contextual integrity)</a:t>
            </a:r>
          </a:p>
          <a:p>
            <a:pPr algn="l">
              <a:lnSpc>
                <a:spcPct val="128000"/>
              </a:lnSpc>
            </a:pPr>
            <a:r>
              <a:rPr sz="1700" b="1">
                <a:solidFill>
                  <a:srgbClr val="00FF41"/>
                </a:solidFill>
                <a:latin typeface="Arial"/>
              </a:rPr>
              <a:t>→  </a:t>
            </a:r>
            <a:r>
              <a:rPr sz="1700" b="0">
                <a:solidFill>
                  <a:srgbClr val="8A94A6"/>
                </a:solidFill>
                <a:latin typeface="Arial"/>
              </a:rPr>
              <a:t>Operationalized: if it's present, users will DO ___ / UNDERSTAND ___ / FEEL ___.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6355080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5A6474"/>
                </a:solidFill>
                <a:latin typeface="Courier New"/>
              </a:rPr>
              <a:t>Value Verification · TECHIE 1121 · Cornell Tech · Tue Jul 28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E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00FF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1417320"/>
            <a:ext cx="274320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400" b="1">
                <a:solidFill>
                  <a:srgbClr val="00FF41"/>
                </a:solidFill>
                <a:latin typeface="Courier New"/>
              </a:rPr>
              <a:t>02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41248" y="2487168"/>
            <a:ext cx="1042416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00FF41"/>
                </a:solidFill>
                <a:latin typeface="Courier New"/>
              </a:rPr>
              <a:t>PART 1 — WAYS TO VERIFY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04672" y="2971800"/>
            <a:ext cx="1060704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3000"/>
              </a:lnSpc>
            </a:pPr>
            <a:r>
              <a:rPr sz="3800" b="1">
                <a:solidFill>
                  <a:srgbClr val="F5F7FA"/>
                </a:solidFill>
                <a:latin typeface="Arial"/>
              </a:rPr>
              <a:t>How can this value be verified at all?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41248" y="4224528"/>
            <a:ext cx="10424160" cy="1737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700" b="1">
                <a:solidFill>
                  <a:srgbClr val="00FF41"/>
                </a:solidFill>
                <a:latin typeface="Arial"/>
              </a:rPr>
              <a:t>→  </a:t>
            </a:r>
            <a:r>
              <a:rPr sz="1700" b="0">
                <a:solidFill>
                  <a:srgbClr val="8A94A6"/>
                </a:solidFill>
                <a:latin typeface="Arial"/>
              </a:rPr>
              <a:t>How have others measured this value? (Google Scholar + its AI search)</a:t>
            </a:r>
          </a:p>
          <a:p>
            <a:pPr algn="l">
              <a:lnSpc>
                <a:spcPct val="128000"/>
              </a:lnSpc>
            </a:pPr>
            <a:r>
              <a:rPr sz="1700" b="1">
                <a:solidFill>
                  <a:srgbClr val="00FF41"/>
                </a:solidFill>
                <a:latin typeface="Arial"/>
              </a:rPr>
              <a:t>→  </a:t>
            </a:r>
            <a:r>
              <a:rPr sz="1700" b="0">
                <a:solidFill>
                  <a:srgbClr val="8A94A6"/>
                </a:solidFill>
                <a:latin typeface="Arial"/>
              </a:rPr>
              <a:t>Which method did we choose — and why does our reading demand it?</a:t>
            </a:r>
          </a:p>
          <a:p>
            <a:pPr algn="l">
              <a:lnSpc>
                <a:spcPct val="128000"/>
              </a:lnSpc>
            </a:pPr>
            <a:r>
              <a:rPr sz="1700" b="1">
                <a:solidFill>
                  <a:srgbClr val="00FF41"/>
                </a:solidFill>
                <a:latin typeface="Arial"/>
              </a:rPr>
              <a:t>→  </a:t>
            </a:r>
            <a:r>
              <a:rPr sz="1700" b="0">
                <a:solidFill>
                  <a:srgbClr val="8A94A6"/>
                </a:solidFill>
                <a:latin typeface="Arial"/>
              </a:rPr>
              <a:t>The instrument we borrowed: UEQ · an HRI/SDT scale · the slop detector · a task design.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6355080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5A6474"/>
                </a:solidFill>
                <a:latin typeface="Courier New"/>
              </a:rPr>
              <a:t>Value Verification · TECHIE 1121 · Cornell Tech · Tue Jul 28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E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00FF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1417320"/>
            <a:ext cx="274320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400" b="1">
                <a:solidFill>
                  <a:srgbClr val="00FF41"/>
                </a:solidFill>
                <a:latin typeface="Courier New"/>
              </a:rPr>
              <a:t>03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41248" y="2487168"/>
            <a:ext cx="1042416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00FF41"/>
                </a:solidFill>
                <a:latin typeface="Courier New"/>
              </a:rPr>
              <a:t>PART 2 — WHAT WE FOUND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04672" y="2971800"/>
            <a:ext cx="1060704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3000"/>
              </a:lnSpc>
            </a:pPr>
            <a:r>
              <a:rPr sz="3800" b="1">
                <a:solidFill>
                  <a:srgbClr val="F5F7FA"/>
                </a:solidFill>
                <a:latin typeface="Arial"/>
              </a:rPr>
              <a:t>Insights from our own verification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41248" y="4224528"/>
            <a:ext cx="10424160" cy="1737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700" b="1">
                <a:solidFill>
                  <a:srgbClr val="00FF41"/>
                </a:solidFill>
                <a:latin typeface="Arial"/>
              </a:rPr>
              <a:t>→  </a:t>
            </a:r>
            <a:r>
              <a:rPr sz="1700" b="0">
                <a:solidFill>
                  <a:srgbClr val="8A94A6"/>
                </a:solidFill>
                <a:latin typeface="Arial"/>
              </a:rPr>
              <a:t>What WORKS in the current prototype — with evidence.</a:t>
            </a:r>
          </a:p>
          <a:p>
            <a:pPr algn="l">
              <a:lnSpc>
                <a:spcPct val="128000"/>
              </a:lnSpc>
            </a:pPr>
            <a:r>
              <a:rPr sz="1700" b="1">
                <a:solidFill>
                  <a:srgbClr val="00FF41"/>
                </a:solidFill>
                <a:latin typeface="Arial"/>
              </a:rPr>
              <a:t>→  </a:t>
            </a:r>
            <a:r>
              <a:rPr sz="1700" b="0">
                <a:solidFill>
                  <a:srgbClr val="8A94A6"/>
                </a:solidFill>
                <a:latin typeface="Arial"/>
              </a:rPr>
              <a:t>What does NOT work — with evidence. An evidenced 'it doesn't' beats a hopeful 'it does'.</a:t>
            </a:r>
          </a:p>
          <a:p>
            <a:pPr algn="l">
              <a:lnSpc>
                <a:spcPct val="128000"/>
              </a:lnSpc>
            </a:pPr>
            <a:r>
              <a:rPr sz="1700" b="1">
                <a:solidFill>
                  <a:srgbClr val="00FF41"/>
                </a:solidFill>
                <a:latin typeface="Arial"/>
              </a:rPr>
              <a:t>→  </a:t>
            </a:r>
            <a:r>
              <a:rPr sz="1700" b="0">
                <a:solidFill>
                  <a:srgbClr val="8A94A6"/>
                </a:solidFill>
                <a:latin typeface="Arial"/>
              </a:rPr>
              <a:t>Across the lenses: behavior · understanding · affect — and which lenses did NOT fit this value.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6355080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5A6474"/>
                </a:solidFill>
                <a:latin typeface="Courier New"/>
              </a:rPr>
              <a:t>Value Verification · TECHIE 1121 · Cornell Tech · Tue Jul 28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E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00FF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1417320"/>
            <a:ext cx="274320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400" b="1">
                <a:solidFill>
                  <a:srgbClr val="00FF41"/>
                </a:solidFill>
                <a:latin typeface="Courier New"/>
              </a:rPr>
              <a:t>04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41248" y="2487168"/>
            <a:ext cx="1042416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00FF41"/>
                </a:solidFill>
                <a:latin typeface="Courier New"/>
              </a:rPr>
              <a:t>PART 3 — OUTLOOK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04672" y="2971800"/>
            <a:ext cx="1060704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3000"/>
              </a:lnSpc>
            </a:pPr>
            <a:r>
              <a:rPr sz="3800" b="1">
                <a:solidFill>
                  <a:srgbClr val="F5F7FA"/>
                </a:solidFill>
                <a:latin typeface="Arial"/>
              </a:rPr>
              <a:t>What related research has already found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41248" y="4224528"/>
            <a:ext cx="10424160" cy="1737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700" b="1">
                <a:solidFill>
                  <a:srgbClr val="00FF41"/>
                </a:solidFill>
                <a:latin typeface="Arial"/>
              </a:rPr>
              <a:t>→  </a:t>
            </a:r>
            <a:r>
              <a:rPr sz="1700" b="0">
                <a:solidFill>
                  <a:srgbClr val="8A94A6"/>
                </a:solidFill>
                <a:latin typeface="Arial"/>
              </a:rPr>
              <a:t>What have others tried in order to move this value?</a:t>
            </a:r>
          </a:p>
          <a:p>
            <a:pPr algn="l">
              <a:lnSpc>
                <a:spcPct val="128000"/>
              </a:lnSpc>
            </a:pPr>
            <a:r>
              <a:rPr sz="1700" b="1">
                <a:solidFill>
                  <a:srgbClr val="00FF41"/>
                </a:solidFill>
                <a:latin typeface="Arial"/>
              </a:rPr>
              <a:t>→  </a:t>
            </a:r>
            <a:r>
              <a:rPr sz="1700" b="0">
                <a:solidFill>
                  <a:srgbClr val="8A94A6"/>
                </a:solidFill>
                <a:latin typeface="Arial"/>
              </a:rPr>
              <a:t>What worked — and what failed?</a:t>
            </a:r>
          </a:p>
          <a:p>
            <a:pPr algn="l">
              <a:lnSpc>
                <a:spcPct val="128000"/>
              </a:lnSpc>
            </a:pPr>
            <a:r>
              <a:rPr sz="1700" b="1">
                <a:solidFill>
                  <a:srgbClr val="00FF41"/>
                </a:solidFill>
                <a:latin typeface="Arial"/>
              </a:rPr>
              <a:t>→  </a:t>
            </a:r>
            <a:r>
              <a:rPr sz="1700" b="0">
                <a:solidFill>
                  <a:srgbClr val="8A94A6"/>
                </a:solidFill>
                <a:latin typeface="Arial"/>
              </a:rPr>
              <a:t>2–3 REAL sources. Never invent a citation.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6355080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5A6474"/>
                </a:solidFill>
                <a:latin typeface="Courier New"/>
              </a:rPr>
              <a:t>Value Verification · TECHIE 1121 · Cornell Tech · Tue Jul 28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E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00FF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1417320"/>
            <a:ext cx="274320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400" b="1">
                <a:solidFill>
                  <a:srgbClr val="00FF41"/>
                </a:solidFill>
                <a:latin typeface="Courier New"/>
              </a:rPr>
              <a:t>05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41248" y="2487168"/>
            <a:ext cx="1042416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00FF41"/>
                </a:solidFill>
                <a:latin typeface="Courier New"/>
              </a:rPr>
              <a:t>SO WHAT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04672" y="2971800"/>
            <a:ext cx="1060704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3000"/>
              </a:lnSpc>
            </a:pPr>
            <a:r>
              <a:rPr sz="3800" b="1">
                <a:solidFill>
                  <a:srgbClr val="F5F7FA"/>
                </a:solidFill>
                <a:latin typeface="Arial"/>
              </a:rPr>
              <a:t>Our next design brief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41248" y="4224528"/>
            <a:ext cx="10424160" cy="1737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700" b="1">
                <a:solidFill>
                  <a:srgbClr val="00FF41"/>
                </a:solidFill>
                <a:latin typeface="Arial"/>
              </a:rPr>
              <a:t>→  </a:t>
            </a:r>
            <a:r>
              <a:rPr sz="1700" b="0">
                <a:solidFill>
                  <a:srgbClr val="8A94A6"/>
                </a:solidFill>
                <a:latin typeface="Arial"/>
              </a:rPr>
              <a:t>Verification is a beginning, not a verdict.</a:t>
            </a:r>
          </a:p>
          <a:p>
            <a:pPr algn="l">
              <a:lnSpc>
                <a:spcPct val="128000"/>
              </a:lnSpc>
            </a:pPr>
            <a:r>
              <a:rPr sz="1700" b="1">
                <a:solidFill>
                  <a:srgbClr val="00FF41"/>
                </a:solidFill>
                <a:latin typeface="Arial"/>
              </a:rPr>
              <a:t>→  </a:t>
            </a:r>
            <a:r>
              <a:rPr sz="1700" b="0">
                <a:solidFill>
                  <a:srgbClr val="8A94A6"/>
                </a:solidFill>
                <a:latin typeface="Arial"/>
              </a:rPr>
              <a:t>What OTHER design could actually achieve this value?</a:t>
            </a:r>
          </a:p>
          <a:p>
            <a:pPr algn="l">
              <a:lnSpc>
                <a:spcPct val="128000"/>
              </a:lnSpc>
            </a:pPr>
            <a:r>
              <a:rPr sz="1700" b="1">
                <a:solidFill>
                  <a:srgbClr val="00FF41"/>
                </a:solidFill>
                <a:latin typeface="Arial"/>
              </a:rPr>
              <a:t>→  </a:t>
            </a:r>
            <a:r>
              <a:rPr sz="1700" b="0">
                <a:solidFill>
                  <a:srgbClr val="8A94A6"/>
                </a:solidFill>
                <a:latin typeface="Arial"/>
              </a:rPr>
              <a:t>What should the next cycle discover? (You carry this into Wednesday.)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6355080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5A6474"/>
                </a:solidFill>
                <a:latin typeface="Courier New"/>
              </a:rPr>
              <a:t>Value Verification · TECHIE 1121 · Cornell Tech · Tue Jul 28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E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502920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00FF41"/>
                </a:solidFill>
                <a:latin typeface="Courier New"/>
              </a:rPr>
              <a:t>SOURCES</a:t>
            </a:r>
          </a:p>
        </p:txBody>
      </p:sp>
      <p:sp>
        <p:nvSpPr>
          <p:cNvPr id="3" name="Rectangle 2"/>
          <p:cNvSpPr/>
          <p:nvPr/>
        </p:nvSpPr>
        <p:spPr>
          <a:xfrm>
            <a:off x="640080" y="932688"/>
            <a:ext cx="822960" cy="73152"/>
          </a:xfrm>
          <a:prstGeom prst="rect">
            <a:avLst/>
          </a:prstGeom>
          <a:solidFill>
            <a:srgbClr val="00FF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1188720"/>
            <a:ext cx="1097280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200" b="1">
                <a:solidFill>
                  <a:srgbClr val="F5F7FA"/>
                </a:solidFill>
                <a:latin typeface="Arial"/>
              </a:rPr>
              <a:t>What we read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2377440"/>
            <a:ext cx="10881360" cy="3108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700" b="1">
                <a:solidFill>
                  <a:srgbClr val="00FF41"/>
                </a:solidFill>
                <a:latin typeface="Arial"/>
              </a:rPr>
              <a:t>•  </a:t>
            </a:r>
            <a:r>
              <a:rPr sz="1700" b="0">
                <a:solidFill>
                  <a:srgbClr val="8A94A6"/>
                </a:solidFill>
                <a:latin typeface="Arial"/>
              </a:rPr>
              <a:t>Author, Year. Title. Where it appeared.  —  what it found</a:t>
            </a:r>
          </a:p>
          <a:p>
            <a:pPr algn="l">
              <a:lnSpc>
                <a:spcPct val="145000"/>
              </a:lnSpc>
            </a:pPr>
            <a:r>
              <a:rPr sz="1700" b="1">
                <a:solidFill>
                  <a:srgbClr val="00FF41"/>
                </a:solidFill>
                <a:latin typeface="Arial"/>
              </a:rPr>
              <a:t>•  </a:t>
            </a:r>
            <a:r>
              <a:rPr sz="1700" b="0">
                <a:solidFill>
                  <a:srgbClr val="8A94A6"/>
                </a:solidFill>
                <a:latin typeface="Arial"/>
              </a:rPr>
              <a:t>Author, Year. Title. Where it appeared.  —  what it found</a:t>
            </a:r>
          </a:p>
          <a:p>
            <a:pPr algn="l">
              <a:lnSpc>
                <a:spcPct val="145000"/>
              </a:lnSpc>
            </a:pPr>
            <a:r>
              <a:rPr sz="1700" b="1">
                <a:solidFill>
                  <a:srgbClr val="00FF41"/>
                </a:solidFill>
                <a:latin typeface="Arial"/>
              </a:rPr>
              <a:t>•  </a:t>
            </a:r>
            <a:r>
              <a:rPr sz="1700" b="0">
                <a:solidFill>
                  <a:srgbClr val="8A94A6"/>
                </a:solidFill>
                <a:latin typeface="Arial"/>
              </a:rPr>
              <a:t>Author, Year. Title. Where it appeared.  —  what it found</a:t>
            </a:r>
          </a:p>
          <a:p>
            <a:pPr algn="l">
              <a:lnSpc>
                <a:spcPct val="145000"/>
              </a:lnSpc>
            </a:pPr>
            <a:r>
              <a:rPr sz="1700" b="1">
                <a:solidFill>
                  <a:srgbClr val="00FF41"/>
                </a:solidFill>
                <a:latin typeface="Arial"/>
              </a:rPr>
              <a:t>•  </a:t>
            </a:r>
            <a:r>
              <a:rPr sz="1700" b="0">
                <a:solidFill>
                  <a:srgbClr val="8A94A6"/>
                </a:solidFill>
                <a:latin typeface="Arial"/>
              </a:rPr>
              <a:t>Author, Year. Title. Where it appeared.  —  what it found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" y="5715000"/>
            <a:ext cx="108813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5A6474"/>
                </a:solidFill>
                <a:latin typeface="Courier New"/>
              </a:rPr>
              <a:t>Real papers only — never invent a citation.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6355080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5A6474"/>
                </a:solidFill>
                <a:latin typeface="Courier New"/>
              </a:rPr>
              <a:t>Value Verification · TECHIE 1121 · Cornell Tech · Tue Jul 28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