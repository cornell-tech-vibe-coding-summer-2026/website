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Team name = the value you carry into the final. Confirm the value + members before presenting.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John Maida's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Ajin Yohannan's individually graded section. Their reflection lives in their own lane on the team FigJam canvas.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Section header — the team's own slides go after this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55448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VALUE-CENTERED USER RESEARCH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04672" y="2103120"/>
            <a:ext cx="1060704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600" b="1">
                <a:solidFill>
                  <a:srgbClr val="F5F7FA"/>
                </a:solidFill>
                <a:latin typeface="Arial"/>
              </a:rPr>
              <a:t>The Safety Team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41248" y="37947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8A94A6"/>
                </a:solidFill>
                <a:latin typeface="Arial"/>
              </a:rPr>
              <a:t>John Maida · Ajin Yohannan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06240"/>
            <a:ext cx="106070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Project 2:  </a:t>
            </a:r>
            <a:r>
              <a:rPr sz="1500" b="0">
                <a:solidFill>
                  <a:srgbClr val="8A94A6"/>
                </a:solidFill>
                <a:latin typeface="Arial"/>
              </a:rPr>
              <a:t>Vault Notes - a locking journal for high-school students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1248" y="4709160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GitHub team: Jamin's 2nd Team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HOW TO USE THIS DECK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Keep the headers. Put your slides behind them.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474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Five section headers follow — they are the spine of your talk.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Sections 01, 02, 04, 05 are the TEAM's. Section 03 has one named slide per person — that one is graded individually.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Add your own slides AFTER each header. Don't delete the headers.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Evidence beats assertion: screenshots, numbers, quotes from what you actually observed.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Real citations only — if you can't find the paper, leave the claim out.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Your reflection is NOT a document — it goes in your own lane on the team FigJam canvas.</a:t>
            </a:r>
          </a:p>
          <a:p>
            <a:pPr algn="l">
              <a:lnSpc>
                <a:spcPct val="130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•  </a:t>
            </a:r>
            <a:r>
              <a:rPr sz="1900" b="0">
                <a:solidFill>
                  <a:srgbClr val="F5F7FA"/>
                </a:solidFill>
                <a:latin typeface="Arial"/>
              </a:rPr>
              <a:t>Delete this slide before you present.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THE VALUE &amp; HOW WE DEFINE 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we claimed — and how we operationalize 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Our app, in one line — and the value it claims.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do we operationalize / define the value? (e.g. privacy as control vs. security vs. contextual integrity)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If it's present, users will DO ___ / UNDERSTAND ___ / FEEL ___.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1 — WAYS TO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How can this value be verified at all?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How have others measured this value? (Google Scholar + its AI search)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Which method did we choose — and why does our reading demand it?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The instrument we borrowed: UEQ · an HRI/SDT scale · the slop detector · a task design.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2 — WHAT WE FOUND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Insights from our own verification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Each team member presents their OWN slide — the named slides that follow.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WORKS and what does NOT — with evidence. An evidenced 'it doesn't' beats a hopeful 'it does'.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Across the lenses: behavior · understanding · affect — and which lenses did NOT fit this value.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03.1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John Maida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03.2  ·  YOUR SECTION (graded individually)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70432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600" b="1">
                <a:solidFill>
                  <a:srgbClr val="F5F7FA"/>
                </a:solidFill>
                <a:latin typeface="Arial"/>
              </a:rPr>
              <a:t>Ajin Yohannan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286000"/>
            <a:ext cx="10881360" cy="2834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lens + method I ran, and why our reading demanded it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My evidence - what I actually observed or measured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What this says WORKS - and what does NOT</a:t>
            </a:r>
          </a:p>
          <a:p>
            <a:pPr algn="l">
              <a:lnSpc>
                <a:spcPct val="134000"/>
              </a:lnSpc>
            </a:pPr>
            <a:r>
              <a:rPr sz="1900" b="1">
                <a:solidFill>
                  <a:srgbClr val="00FF41"/>
                </a:solidFill>
                <a:latin typeface="Arial"/>
              </a:rPr>
              <a:t>→  </a:t>
            </a:r>
            <a:r>
              <a:rPr sz="1900" b="0">
                <a:solidFill>
                  <a:srgbClr val="F5F7FA"/>
                </a:solidFill>
                <a:latin typeface="Arial"/>
              </a:rPr>
              <a:t>The paper I found (real citation) and what it changes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0080" y="5440680"/>
            <a:ext cx="10881360" cy="658368"/>
          </a:xfrm>
          <a:prstGeom prst="roundRect">
            <a:avLst/>
          </a:prstGeom>
          <a:solidFill>
            <a:srgbClr val="151B26"/>
          </a:solidFill>
          <a:ln w="19050">
            <a:solidFill>
              <a:srgbClr val="00FF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5440680"/>
            <a:ext cx="10332720" cy="6583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1">
                <a:solidFill>
                  <a:srgbClr val="00FF41"/>
                </a:solidFill>
                <a:latin typeface="Arial"/>
              </a:rPr>
              <a:t>▸  </a:t>
            </a:r>
            <a:r>
              <a:rPr sz="1500" b="1">
                <a:solidFill>
                  <a:srgbClr val="F5F7FA"/>
                </a:solidFill>
                <a:latin typeface="Arial"/>
              </a:rPr>
              <a:t>This slide is yours. Add more slides behind it if you need them - keep your name on them.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PART 3 — OUTLOOK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What related research has already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have others tried in order to move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worked — and what failed?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2–3 REAL sources.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417320"/>
            <a:ext cx="2743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6400" b="1">
                <a:solidFill>
                  <a:srgbClr val="00FF41"/>
                </a:solidFill>
                <a:latin typeface="Courier New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41248" y="2487168"/>
            <a:ext cx="10424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1">
                <a:solidFill>
                  <a:srgbClr val="00FF41"/>
                </a:solidFill>
                <a:latin typeface="Courier New"/>
              </a:rPr>
              <a:t>SO WHAT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04672" y="297180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3000"/>
              </a:lnSpc>
            </a:pPr>
            <a:r>
              <a:rPr sz="3800" b="1">
                <a:solidFill>
                  <a:srgbClr val="F5F7FA"/>
                </a:solidFill>
                <a:latin typeface="Arial"/>
              </a:rPr>
              <a:t>Our next design brief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1248" y="4224528"/>
            <a:ext cx="1042416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Verification opens the next design - it doesn't just grade this one.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OTHER design could actually achieve this value?</a:t>
            </a:r>
          </a:p>
          <a:p>
            <a:pPr algn="l">
              <a:lnSpc>
                <a:spcPct val="128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→  </a:t>
            </a:r>
            <a:r>
              <a:rPr sz="1700" b="0">
                <a:solidFill>
                  <a:srgbClr val="8A94A6"/>
                </a:solidFill>
                <a:latin typeface="Arial"/>
              </a:rPr>
              <a:t>What should the next cycle discover? (You carry this into Wednesday.)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B0E1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50292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00FF41"/>
                </a:solidFill>
                <a:latin typeface="Courier New"/>
              </a:rPr>
              <a:t>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932688"/>
            <a:ext cx="822960" cy="73152"/>
          </a:xfrm>
          <a:prstGeom prst="rect">
            <a:avLst/>
          </a:prstGeom>
          <a:solidFill>
            <a:srgbClr val="00FF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188720"/>
            <a:ext cx="10972800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200" b="1">
                <a:solidFill>
                  <a:srgbClr val="F5F7FA"/>
                </a:solidFill>
                <a:latin typeface="Arial"/>
              </a:rPr>
              <a:t>What we read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2377440"/>
            <a:ext cx="10881360" cy="3108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  <a:p>
            <a:pPr algn="l">
              <a:lnSpc>
                <a:spcPct val="145000"/>
              </a:lnSpc>
            </a:pPr>
            <a:r>
              <a:rPr sz="1700" b="1">
                <a:solidFill>
                  <a:srgbClr val="00FF41"/>
                </a:solidFill>
                <a:latin typeface="Arial"/>
              </a:rPr>
              <a:t>•  </a:t>
            </a:r>
            <a:r>
              <a:rPr sz="1700" b="0">
                <a:solidFill>
                  <a:srgbClr val="8A94A6"/>
                </a:solidFill>
                <a:latin typeface="Arial"/>
              </a:rPr>
              <a:t>Author, Year. Title. Where it appeared.  —  what it found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5715000"/>
            <a:ext cx="1088136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5A6474"/>
                </a:solidFill>
                <a:latin typeface="Courier New"/>
              </a:rPr>
              <a:t>Real papers only — never invent a citation.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635508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5A6474"/>
                </a:solidFill>
                <a:latin typeface="Courier New"/>
              </a:rPr>
              <a:t>Value Verification · TECHIE 1121 · Cornell Tech · Tue Jul 28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