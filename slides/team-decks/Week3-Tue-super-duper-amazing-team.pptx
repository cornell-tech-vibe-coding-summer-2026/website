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Team name = the value you carry into the final. Confirm the value + members before presenting.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Isa Offengenden's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Om Ravula's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Jason Chen's individual contribution: the design intervention they researched. Reflection lives in their own FigJam lane.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Section header — the team's own slides go after this one.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554480"/>
            <a:ext cx="105156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VALUE-CENTERED USER RESEARCH DECK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03120"/>
            <a:ext cx="1060704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2000"/>
              </a:lnSpc>
            </a:pPr>
            <a:r>
              <a:rPr sz="4600" b="1">
                <a:solidFill>
                  <a:srgbClr val="F5F7FA"/>
                </a:solidFill>
                <a:latin typeface="Arial"/>
              </a:rPr>
              <a:t>The Security Team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41248" y="37947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>
                <a:solidFill>
                  <a:srgbClr val="8A94A6"/>
                </a:solidFill>
                <a:latin typeface="Arial"/>
              </a:rPr>
              <a:t>Isa Offengenden · Om Ravula · Jason Chen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06240"/>
            <a:ext cx="106070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Project 2:  </a:t>
            </a:r>
            <a:r>
              <a:rPr sz="1500" b="0">
                <a:solidFill>
                  <a:srgbClr val="8A94A6"/>
                </a:solidFill>
                <a:latin typeface="Arial"/>
              </a:rPr>
              <a:t>a safety app for minors on social media - flags suspicious accounts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41248" y="4709160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GitHub team: Super Duper Amazing Team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HOW TO USE THIS DECK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Keep the headers. Put your slides behind them.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474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Four section headers follow — they are the spine of your talk.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Sections 01, 02, 04 are the TEAM's. Section 03 has one named slide per person — your individual contribution.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Add your own slides AFTER each header. Don't delete the headers.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No time to run full tests today - so RESEARCH the method, and what interventions have actually moved this value.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Real citations only — if you can't find the paper, leave the claim out.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Your reflection is NOT a document — it goes in your own lane on the team FigJam canvas.</a:t>
            </a:r>
          </a:p>
          <a:p>
            <a:pPr algn="l">
              <a:lnSpc>
                <a:spcPct val="130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•  </a:t>
            </a:r>
            <a:r>
              <a:rPr sz="1900" b="0">
                <a:solidFill>
                  <a:srgbClr val="F5F7FA"/>
                </a:solidFill>
                <a:latin typeface="Arial"/>
              </a:rPr>
              <a:t>Delete this slide before you present.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THE VALUE &amp; HOW WE DEFINE 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Discovery - operationalize the value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[ our app, in one line ]  -  and the value it claims.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How do we operationalize / define the value?  (privacy as control vs. security vs. contextual integrity)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If it is present, users will DO [ ___ ] / UNDERSTAND [ ___ ] / FEEL [ ___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HOW WOULD WE VERIFY IT?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Pick a method per lens - we won't run them all today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BEHAVIOR - do users ACT differently?  -&gt;  hard to test in class, so we RESEARCH it: [ method + what studies show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UNDERSTANDING - do they GRASP the value?  -&gt;  a quick check with fellow students is possible: [ method ].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AFFECT - do they FEEL differently?  -&gt;  a quick check with fellow students is possible: [ method ].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DESIGN INTERVENTIONS THAT MOVED THIS VALUE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Research - what has actually worked? (each member owns a slide)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Each member presents their OWN researched intervention - the named slides that follow.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A real design intervention tried for this value, and its result: worked / mixed / failed.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Real sources only -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03.1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Isa Offengenden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03.2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Om Ravula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03.3  ·  YOUR SLIDE (your individual contribution)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70432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600" b="1">
                <a:solidFill>
                  <a:srgbClr val="F5F7FA"/>
                </a:solidFill>
                <a:latin typeface="Arial"/>
              </a:rPr>
              <a:t>Jason Chen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286000"/>
            <a:ext cx="10881360" cy="2834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A design intervention someone tried to move THIS value - [ what they did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The result - [ worked / mixed / failed ] - and the real source [ author, year ]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How you'd test it - [ method ]  (behavior = research it; understanding/affect = quick student check)</a:t>
            </a:r>
          </a:p>
          <a:p>
            <a:pPr algn="l">
              <a:lnSpc>
                <a:spcPct val="134000"/>
              </a:lnSpc>
            </a:pPr>
            <a:r>
              <a:rPr sz="1900" b="1">
                <a:solidFill>
                  <a:srgbClr val="00FF41"/>
                </a:solidFill>
                <a:latin typeface="Arial"/>
              </a:rPr>
              <a:t>→  </a:t>
            </a:r>
            <a:r>
              <a:rPr sz="1900" b="0">
                <a:solidFill>
                  <a:srgbClr val="F5F7FA"/>
                </a:solidFill>
                <a:latin typeface="Arial"/>
              </a:rPr>
              <a:t>Does it support or challenge our design direction? - [ ___ ]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440680"/>
            <a:ext cx="10881360" cy="658368"/>
          </a:xfrm>
          <a:prstGeom prst="roundRect">
            <a:avLst/>
          </a:prstGeom>
          <a:solidFill>
            <a:srgbClr val="151B26"/>
          </a:solidFill>
          <a:ln w="19050">
            <a:solidFill>
              <a:srgbClr val="00FF4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5440680"/>
            <a:ext cx="10332720" cy="65836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1">
                <a:solidFill>
                  <a:srgbClr val="00FF41"/>
                </a:solidFill>
                <a:latin typeface="Arial"/>
              </a:rPr>
              <a:t>▸  </a:t>
            </a:r>
            <a:r>
              <a:rPr sz="1500" b="1">
                <a:solidFill>
                  <a:srgbClr val="F5F7FA"/>
                </a:solidFill>
                <a:latin typeface="Arial"/>
              </a:rPr>
              <a:t>This slide is yours. Add more slides behind it if you need them - keep your name on them.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1417320"/>
            <a:ext cx="274320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>
                <a:solidFill>
                  <a:srgbClr val="00FF41"/>
                </a:solidFill>
                <a:latin typeface="Courier New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1248" y="2487168"/>
            <a:ext cx="104241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00FF41"/>
                </a:solidFill>
                <a:latin typeface="Courier New"/>
              </a:rPr>
              <a:t>OUR DESIGN DIRECTIONS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71800"/>
            <a:ext cx="10607040" cy="10972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3000"/>
              </a:lnSpc>
            </a:pPr>
            <a:r>
              <a:rPr sz="3800" b="1">
                <a:solidFill>
                  <a:srgbClr val="F5F7FA"/>
                </a:solidFill>
                <a:latin typeface="Arial"/>
              </a:rPr>
              <a:t>Generative - where the evidence points (carry into Wednesday)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1248" y="4224528"/>
            <a:ext cx="10424160" cy="1737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2-3 design directions our research points to.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Which one has the strongest evidence behind it?</a:t>
            </a:r>
          </a:p>
          <a:p>
            <a:pPr algn="l">
              <a:lnSpc>
                <a:spcPct val="128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→  </a:t>
            </a:r>
            <a:r>
              <a:rPr sz="1700" b="0">
                <a:solidFill>
                  <a:srgbClr val="8A94A6"/>
                </a:solidFill>
                <a:latin typeface="Arial"/>
              </a:rPr>
              <a:t>What would we still need to verify - and how?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0E1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02920"/>
            <a:ext cx="100584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1">
                <a:solidFill>
                  <a:srgbClr val="00FF41"/>
                </a:solidFill>
                <a:latin typeface="Courier New"/>
              </a:rPr>
              <a:t>SOURCES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80" y="932688"/>
            <a:ext cx="822960" cy="73152"/>
          </a:xfrm>
          <a:prstGeom prst="rect">
            <a:avLst/>
          </a:prstGeom>
          <a:solidFill>
            <a:srgbClr val="00FF4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40080" y="1188720"/>
            <a:ext cx="10972800" cy="9144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200" b="1">
                <a:solidFill>
                  <a:srgbClr val="F5F7FA"/>
                </a:solidFill>
                <a:latin typeface="Arial"/>
              </a:rPr>
              <a:t>What we read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2377440"/>
            <a:ext cx="10881360" cy="3108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  <a:p>
            <a:pPr algn="l">
              <a:lnSpc>
                <a:spcPct val="145000"/>
              </a:lnSpc>
            </a:pPr>
            <a:r>
              <a:rPr sz="1700" b="1">
                <a:solidFill>
                  <a:srgbClr val="00FF41"/>
                </a:solidFill>
                <a:latin typeface="Arial"/>
              </a:rPr>
              <a:t>•  </a:t>
            </a:r>
            <a:r>
              <a:rPr sz="1700" b="0">
                <a:solidFill>
                  <a:srgbClr val="8A94A6"/>
                </a:solidFill>
                <a:latin typeface="Arial"/>
              </a:rPr>
              <a:t>Author, Year. Title. Where it appeared.  —  what it 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58368" y="5715000"/>
            <a:ext cx="1088136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>
                <a:solidFill>
                  <a:srgbClr val="5A6474"/>
                </a:solidFill>
                <a:latin typeface="Courier New"/>
              </a:rPr>
              <a:t>Real papers only — never invent a citation.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6355080"/>
            <a:ext cx="109728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0">
                <a:solidFill>
                  <a:srgbClr val="5A6474"/>
                </a:solidFill>
                <a:latin typeface="Courier New"/>
              </a:rPr>
              <a:t>Value Verification · TECHIE 1121 · Cornell Tech · Tue Jul 28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